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2abcb54-6037-5d32-720b-9016365929f6}">
          <p14:sldIdLst>
            <p14:sldId id="256"/>
            <p14:sldId id="257"/>
            <p14:sldId id="258"/>
            <p14:sldId id="259"/>
          </p14:sldIdLst>
        </p14:section>
        <p14:section name="Solution" id="{8ada5831-7f32-bdf6-9ab3-30ac729e8a1d}">
          <p14:sldIdLst>
            <p14:sldId id="260"/>
            <p14:sldId id="261"/>
            <p14:sldId id="262"/>
            <p14:sldId id="263"/>
            <p14:sldId id="264"/>
          </p14:sldIdLst>
        </p14:section>
        <p14:section name="Dashboards" id="{a7d7bf5b-2d25-c540-1164-712e4dbd63ca}">
          <p14:sldIdLst>
            <p14:sldId id="265"/>
            <p14:sldId id="266"/>
            <p14:sldId id="267"/>
            <p14:sldId id="268"/>
            <p14:sldId id="269"/>
            <p14:sldId id="270"/>
          </p14:sldIdLst>
        </p14:section>
        <p14:section name="Quality and governance" id="{990e7331-50f4-caf6-253a-73f6f24eb35b}">
          <p14:sldIdLst>
            <p14:sldId id="271"/>
            <p14:sldId id="272"/>
          </p14:sldIdLst>
        </p14:section>
        <p14:section name="Conclusion" id="{65268d53-7416-3243-840f-19a3d1e3094c}">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33A"/>
                </a:solidFill>
                <a:latin typeface="+mn-lt"/>
              </a:defRPr>
            </a:pPr>
            <a:r>
              <a:rPr sz="1400" b="0" i="0" u="none" strike="noStrike">
                <a:solidFill>
                  <a:srgbClr val="14233A"/>
                </a:solidFill>
                <a:latin typeface="+mn-lt"/>
              </a:rPr>
              <a:t>Damage cost by year</a:t>
            </a:r>
          </a:p>
        </c:rich>
      </c:tx>
      <c:layout/>
      <c:overlay val="0"/>
    </c:title>
    <c:autoTitleDeleted val="0"/>
    <c:plotArea>
      <c:layout/>
      <c:barChart>
        <c:barDir val="col"/>
        <c:grouping val="clustered"/>
        <c:varyColors val="0"/>
        <c:ser>
          <c:idx val="0"/>
          <c:order val="0"/>
          <c:tx>
            <c:strRef>
              <c:f>Sheet1!$B$1</c:f>
              <c:strCache>
                <c:ptCount val="1"/>
                <c:pt idx="0">
                  <c:v>Damage cost</c:v>
                </c:pt>
              </c:strCache>
            </c:strRef>
          </c:tx>
          <c:spPr>
            <a:solidFill>
              <a:srgbClr val="E0612A"/>
            </a:solidFill>
            <a:effectLst/>
          </c:spPr>
          <c:invertIfNegative val="0"/>
          <c:dLbls>
            <c:numFmt formatCode="&quot;₱&quot;0&quot;B&quot;" sourceLinked="0"/>
            <c:txPr>
              <a:bodyPr/>
              <a:lstStyle/>
              <a:p>
                <a:pPr>
                  <a:defRPr b="0" i="0" strike="noStrike" sz="1100" u="none">
                    <a:solidFill>
                      <a:srgbClr val="3E4A5A"/>
                    </a:solidFill>
                    <a:latin typeface="+mn-lt"/>
                  </a:defRPr>
                </a:pPr>
              </a:p>
            </c:txPr>
            <c:showLegendKey val="0"/>
            <c:showVal val="1"/>
            <c:showCatName val="0"/>
            <c:showSerName val="0"/>
            <c:showPercent val="0"/>
            <c:showBubbleSize val="0"/>
            <c:showLeaderLines val="0"/>
          </c:dLbls>
          <c:cat>
            <c:multiLvlStrRef>
              <c:f>Sheet1!$A$2:$A$7</c:f>
              <c:multiLvlStrCache>
                <c:ptCount val="6"/>
                <c:lvl>
                  <c:pt idx="0">
                    <c:v>2020</c:v>
                  </c:pt>
                  <c:pt idx="1">
                    <c:v>2021</c:v>
                  </c:pt>
                  <c:pt idx="2">
                    <c:v>2022</c:v>
                  </c:pt>
                  <c:pt idx="3">
                    <c:v>2023</c:v>
                  </c:pt>
                  <c:pt idx="4">
                    <c:v>2024</c:v>
                  </c:pt>
                  <c:pt idx="5">
                    <c:v>2025</c:v>
                  </c:pt>
                </c:lvl>
              </c:multiLvlStrCache>
            </c:multiLvlStrRef>
          </c:cat>
          <c:val>
            <c:numRef>
              <c:f>Sheet1!$B$2:$B$7</c:f>
              <c:numCache>
                <c:formatCode>General</c:formatCode>
                <c:ptCount val="6"/>
                <c:pt idx="0">
                  <c:v>142.583391696</c:v>
                </c:pt>
                <c:pt idx="1">
                  <c:v>55.611113476</c:v>
                </c:pt>
                <c:pt idx="2">
                  <c:v>92.641161594</c:v>
                </c:pt>
                <c:pt idx="3">
                  <c:v>32.240142957</c:v>
                </c:pt>
                <c:pt idx="4">
                  <c:v>121.230089765</c:v>
                </c:pt>
                <c:pt idx="5">
                  <c:v>113.989749444</c:v>
                </c:pt>
              </c:numCache>
            </c:numRef>
          </c:val>
        </c:ser>
        <c:dLbls>
          <c:numFmt formatCode="&quot;₱&quot;0&quot;B&quot;" sourceLinked="0"/>
          <c:txPr>
            <a:bodyPr/>
            <a:lstStyle/>
            <a:p>
              <a:pPr>
                <a:defRPr b="0" i="0" strike="noStrike" sz="1100" u="none">
                  <a:solidFill>
                    <a:srgbClr val="3E4A5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3E4A5A"/>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9525" cap="flat">
              <a:solidFill>
                <a:srgbClr val="E3E7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3E4A5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33A"/>
                </a:solidFill>
                <a:latin typeface="+mn-lt"/>
              </a:defRPr>
            </a:pPr>
            <a:r>
              <a:rPr sz="1400" b="0" i="0" u="none" strike="noStrike">
                <a:solidFill>
                  <a:srgbClr val="14233A"/>
                </a:solidFill>
                <a:latin typeface="+mn-lt"/>
              </a:rPr>
              <a:t>Top 8 events · population of the affected places</a:t>
            </a:r>
          </a:p>
        </c:rich>
      </c:tx>
      <c:layout/>
      <c:overlay val="0"/>
    </c:title>
    <c:autoTitleDeleted val="0"/>
    <c:plotArea>
      <c:layout/>
      <c:barChart>
        <c:barDir val="bar"/>
        <c:grouping val="clustered"/>
        <c:varyColors val="0"/>
        <c:ser>
          <c:idx val="0"/>
          <c:order val="0"/>
          <c:tx>
            <c:strRef>
              <c:f>Sheet1!$B$1</c:f>
              <c:strCache>
                <c:ptCount val="1"/>
                <c:pt idx="0">
                  <c:v>Deaths per 100,000</c:v>
                </c:pt>
              </c:strCache>
            </c:strRef>
          </c:tx>
          <c:spPr>
            <a:solidFill>
              <a:srgbClr val="E0612A"/>
            </a:solidFill>
            <a:effectLst/>
          </c:spPr>
          <c:invertIfNegative val="0"/>
          <c:dLbls>
            <c:numFmt formatCode="0.00" sourceLinked="0"/>
            <c:txPr>
              <a:bodyPr/>
              <a:lstStyle/>
              <a:p>
                <a:pPr>
                  <a:defRPr b="0" i="0" strike="noStrike" sz="1100" u="none">
                    <a:solidFill>
                      <a:srgbClr val="3E4A5A"/>
                    </a:solidFill>
                    <a:latin typeface="+mn-lt"/>
                  </a:defRPr>
                </a:pPr>
              </a:p>
            </c:txPr>
            <c:showLegendKey val="0"/>
            <c:showVal val="1"/>
            <c:showCatName val="0"/>
            <c:showSerName val="0"/>
            <c:showPercent val="0"/>
            <c:showBubbleSize val="0"/>
            <c:showLeaderLines val="0"/>
          </c:dLbls>
          <c:cat>
            <c:multiLvlStrRef>
              <c:f>Sheet1!$A$2:$A$9</c:f>
              <c:multiLvlStrCache>
                <c:ptCount val="8"/>
                <c:lvl>
                  <c:pt idx="0">
                    <c:v>Uwan 2025</c:v>
                  </c:pt>
                  <c:pt idx="1">
                    <c:v>Egay 2023</c:v>
                  </c:pt>
                  <c:pt idx="2">
                    <c:v>Paeng 2022</c:v>
                  </c:pt>
                  <c:pt idx="3">
                    <c:v>Rolly 2020</c:v>
                  </c:pt>
                  <c:pt idx="4">
                    <c:v>Kristine 2024</c:v>
                  </c:pt>
                  <c:pt idx="5">
                    <c:v>Tino 2025</c:v>
                  </c:pt>
                  <c:pt idx="6">
                    <c:v>Ulysses 2020</c:v>
                  </c:pt>
                  <c:pt idx="7">
                    <c:v>Odette 2021</c:v>
                  </c:pt>
                </c:lvl>
              </c:multiLvlStrCache>
            </c:multiLvlStrRef>
          </c:cat>
          <c:val>
            <c:numRef>
              <c:f>Sheet1!$B$2:$B$9</c:f>
              <c:numCache>
                <c:formatCode>General</c:formatCode>
                <c:ptCount val="8"/>
                <c:pt idx="0">
                  <c:v>1.65</c:v>
                </c:pt>
                <c:pt idx="1">
                  <c:v>1.78</c:v>
                </c:pt>
                <c:pt idx="2">
                  <c:v>1.81</c:v>
                </c:pt>
                <c:pt idx="3">
                  <c:v>2.21</c:v>
                </c:pt>
                <c:pt idx="4">
                  <c:v>2.55</c:v>
                </c:pt>
                <c:pt idx="5">
                  <c:v>3.22</c:v>
                </c:pt>
                <c:pt idx="6">
                  <c:v>3.44</c:v>
                </c:pt>
                <c:pt idx="7">
                  <c:v>3.88</c:v>
                </c:pt>
              </c:numCache>
            </c:numRef>
          </c:val>
        </c:ser>
        <c:dLbls>
          <c:numFmt formatCode="0.00" sourceLinked="0"/>
          <c:txPr>
            <a:bodyPr/>
            <a:lstStyle/>
            <a:p>
              <a:pPr>
                <a:defRPr b="0" i="0" strike="noStrike" sz="1100" u="none">
                  <a:solidFill>
                    <a:srgbClr val="3E4A5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3E4A5A"/>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9525" cap="flat">
              <a:solidFill>
                <a:srgbClr val="E3E7EC"/>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3E4A5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33A"/>
                </a:solidFill>
                <a:latin typeface="+mn-lt"/>
              </a:defRPr>
            </a:pPr>
            <a:r>
              <a:rPr sz="1400" b="0" i="0" u="none" strike="noStrike">
                <a:solidFill>
                  <a:srgbClr val="14233A"/>
                </a:solidFill>
                <a:latin typeface="+mn-lt"/>
              </a:rPr>
              <a:t>Typhoon Kristine 2024 · people displaced per day (thousands)</a:t>
            </a:r>
          </a:p>
        </c:rich>
      </c:tx>
      <c:layout/>
      <c:overlay val="0"/>
    </c:title>
    <c:autoTitleDeleted val="0"/>
    <c:plotArea>
      <c:layout/>
      <c:barChart>
        <c:barDir val="col"/>
        <c:grouping val="stacked"/>
        <c:varyColors val="0"/>
        <c:ser>
          <c:idx val="0"/>
          <c:order val="0"/>
          <c:tx>
            <c:strRef>
              <c:f>Sheet1!$B$1</c:f>
              <c:strCache>
                <c:ptCount val="1"/>
                <c:pt idx="0">
                  <c:v>In evacuation centers</c:v>
                </c:pt>
              </c:strCache>
            </c:strRef>
          </c:tx>
          <c:spPr>
            <a:solidFill>
              <a:srgbClr val="1F5FA8"/>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Sheet1!$A$2:$A$15</c:f>
              <c:multiLvlStrCache>
                <c:ptCount val="14"/>
                <c:lvl>
                  <c:pt idx="0">
                    <c:v>Oct 21</c:v>
                  </c:pt>
                  <c:pt idx="1">
                    <c:v>Oct 22</c:v>
                  </c:pt>
                  <c:pt idx="2">
                    <c:v>Oct 23</c:v>
                  </c:pt>
                  <c:pt idx="3">
                    <c:v>Oct 24</c:v>
                  </c:pt>
                  <c:pt idx="4">
                    <c:v>Oct 25</c:v>
                  </c:pt>
                  <c:pt idx="5">
                    <c:v>Oct 26</c:v>
                  </c:pt>
                  <c:pt idx="6">
                    <c:v>Oct 27</c:v>
                  </c:pt>
                  <c:pt idx="7">
                    <c:v>Oct 28</c:v>
                  </c:pt>
                  <c:pt idx="8">
                    <c:v>Oct 29</c:v>
                  </c:pt>
                  <c:pt idx="9">
                    <c:v>Oct 30</c:v>
                  </c:pt>
                  <c:pt idx="10">
                    <c:v>Oct 31</c:v>
                  </c:pt>
                  <c:pt idx="11">
                    <c:v>Nov 01</c:v>
                  </c:pt>
                  <c:pt idx="12">
                    <c:v>Nov 02</c:v>
                  </c:pt>
                  <c:pt idx="13">
                    <c:v>Nov 03</c:v>
                  </c:pt>
                </c:lvl>
              </c:multiLvlStrCache>
            </c:multiLvlStrRef>
          </c:cat>
          <c:val>
            <c:numRef>
              <c:f>Sheet1!$B$2:$B$15</c:f>
              <c:numCache>
                <c:formatCode>General</c:formatCode>
                <c:ptCount val="14"/>
                <c:pt idx="0">
                  <c:v>64.326</c:v>
                </c:pt>
                <c:pt idx="1">
                  <c:v>130.515</c:v>
                </c:pt>
                <c:pt idx="2">
                  <c:v>96.231</c:v>
                </c:pt>
                <c:pt idx="3">
                  <c:v>72.128</c:v>
                </c:pt>
                <c:pt idx="4">
                  <c:v>55.753</c:v>
                </c:pt>
                <c:pt idx="5">
                  <c:v>42.665</c:v>
                </c:pt>
                <c:pt idx="6">
                  <c:v>32.125</c:v>
                </c:pt>
                <c:pt idx="7">
                  <c:v>24.762</c:v>
                </c:pt>
                <c:pt idx="8">
                  <c:v>19.552</c:v>
                </c:pt>
                <c:pt idx="9">
                  <c:v>14.476</c:v>
                </c:pt>
                <c:pt idx="10">
                  <c:v>10.581</c:v>
                </c:pt>
                <c:pt idx="11">
                  <c:v>7.455</c:v>
                </c:pt>
                <c:pt idx="12">
                  <c:v>5.239</c:v>
                </c:pt>
                <c:pt idx="13">
                  <c:v>3.225</c:v>
                </c:pt>
              </c:numCache>
            </c:numRef>
          </c:val>
        </c:ser>
        <c:ser>
          <c:idx val="1"/>
          <c:order val="1"/>
          <c:tx>
            <c:strRef>
              <c:f>Sheet1!$C$1</c:f>
              <c:strCache>
                <c:ptCount val="1"/>
                <c:pt idx="0">
                  <c:v>With relatives or friends</c:v>
                </c:pt>
              </c:strCache>
            </c:strRef>
          </c:tx>
          <c:spPr>
            <a:solidFill>
              <a:srgbClr val="E0612A"/>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Sheet1!$A$2:$A$15</c:f>
              <c:multiLvlStrCache>
                <c:ptCount val="14"/>
                <c:lvl>
                  <c:pt idx="0">
                    <c:v>Oct 21</c:v>
                  </c:pt>
                  <c:pt idx="1">
                    <c:v>Oct 22</c:v>
                  </c:pt>
                  <c:pt idx="2">
                    <c:v>Oct 23</c:v>
                  </c:pt>
                  <c:pt idx="3">
                    <c:v>Oct 24</c:v>
                  </c:pt>
                  <c:pt idx="4">
                    <c:v>Oct 25</c:v>
                  </c:pt>
                  <c:pt idx="5">
                    <c:v>Oct 26</c:v>
                  </c:pt>
                  <c:pt idx="6">
                    <c:v>Oct 27</c:v>
                  </c:pt>
                  <c:pt idx="7">
                    <c:v>Oct 28</c:v>
                  </c:pt>
                  <c:pt idx="8">
                    <c:v>Oct 29</c:v>
                  </c:pt>
                  <c:pt idx="9">
                    <c:v>Oct 30</c:v>
                  </c:pt>
                  <c:pt idx="10">
                    <c:v>Oct 31</c:v>
                  </c:pt>
                  <c:pt idx="11">
                    <c:v>Nov 01</c:v>
                  </c:pt>
                  <c:pt idx="12">
                    <c:v>Nov 02</c:v>
                  </c:pt>
                  <c:pt idx="13">
                    <c:v>Nov 03</c:v>
                  </c:pt>
                </c:lvl>
              </c:multiLvlStrCache>
            </c:multiLvlStrRef>
          </c:cat>
          <c:val>
            <c:numRef>
              <c:f>Sheet1!$C$2:$C$15</c:f>
              <c:numCache>
                <c:formatCode>General</c:formatCode>
                <c:ptCount val="14"/>
                <c:pt idx="0">
                  <c:v>0</c:v>
                </c:pt>
                <c:pt idx="1">
                  <c:v>171.833</c:v>
                </c:pt>
                <c:pt idx="2">
                  <c:v>141.384</c:v>
                </c:pt>
                <c:pt idx="3">
                  <c:v>117.915</c:v>
                </c:pt>
                <c:pt idx="4">
                  <c:v>95.44</c:v>
                </c:pt>
                <c:pt idx="5">
                  <c:v>80.501</c:v>
                </c:pt>
                <c:pt idx="6">
                  <c:v>66.167</c:v>
                </c:pt>
                <c:pt idx="7">
                  <c:v>55.187</c:v>
                </c:pt>
                <c:pt idx="8">
                  <c:v>44.213</c:v>
                </c:pt>
                <c:pt idx="9">
                  <c:v>38.909</c:v>
                </c:pt>
                <c:pt idx="10">
                  <c:v>31.498</c:v>
                </c:pt>
                <c:pt idx="11">
                  <c:v>25.098</c:v>
                </c:pt>
                <c:pt idx="12">
                  <c:v>20.949</c:v>
                </c:pt>
                <c:pt idx="13">
                  <c:v>16.306</c:v>
                </c:pt>
              </c:numCache>
            </c:numRef>
          </c:val>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3E4A5A"/>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7EC"/>
              </a:solidFill>
              <a:prstDash val="solid"/>
              <a:round/>
            </a:ln>
          </c:spPr>
        </c:majorGridlines>
        <c:numFmt formatCode="0&quot;K&quot;" sourceLinked="0"/>
        <c:majorTickMark val="out"/>
        <c:minorTickMark val="none"/>
        <c:tickLblPos val="nextTo"/>
        <c:spPr>
          <a:ln w="12700" cap="flat">
            <a:noFill/>
            <a:prstDash val="solid"/>
            <a:round/>
          </a:ln>
        </c:spPr>
        <c:txPr>
          <a:bodyPr/>
          <a:lstStyle/>
          <a:p>
            <a:pPr>
              <a:defRPr sz="1100" b="0" i="0" u="none" strike="noStrike">
                <a:solidFill>
                  <a:srgbClr val="3E4A5A"/>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3E4A5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33A"/>
                </a:solidFill>
                <a:latin typeface="+mn-lt"/>
              </a:defRPr>
            </a:pPr>
            <a:r>
              <a:rPr sz="1400" b="0" i="0" u="none" strike="noStrike">
                <a:solidFill>
                  <a:srgbClr val="14233A"/>
                </a:solidFill>
                <a:latin typeface="+mn-lt"/>
              </a:rPr>
              <a:t>Typhoon Kristine 2024 · cities and municipalities affected</a:t>
            </a:r>
          </a:p>
        </c:rich>
      </c:tx>
      <c:layout/>
      <c:overlay val="0"/>
    </c:title>
    <c:autoTitleDeleted val="0"/>
    <c:plotArea>
      <c:layout/>
      <c:barChart>
        <c:barDir val="bar"/>
        <c:grouping val="stacked"/>
        <c:varyColors val="0"/>
        <c:ser>
          <c:idx val="0"/>
          <c:order val="0"/>
          <c:tx>
            <c:strRef>
              <c:f>Sheet1!$B$1</c:f>
              <c:strCache>
                <c:ptCount val="1"/>
                <c:pt idx="0">
                  <c:v>Restored within 72 h</c:v>
                </c:pt>
              </c:strCache>
            </c:strRef>
          </c:tx>
          <c:spPr>
            <a:solidFill>
              <a:srgbClr val="2A9D8F"/>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Sheet1!$A$2:$A$6</c:f>
              <c:multiLvlStrCache>
                <c:ptCount val="5"/>
                <c:lvl>
                  <c:pt idx="0">
                    <c:v>Roads</c:v>
                  </c:pt>
                  <c:pt idx="1">
                    <c:v>Communications</c:v>
                  </c:pt>
                  <c:pt idx="2">
                    <c:v>Power</c:v>
                  </c:pt>
                  <c:pt idx="3">
                    <c:v>Water</c:v>
                  </c:pt>
                  <c:pt idx="4">
                    <c:v>Bridges</c:v>
                  </c:pt>
                </c:lvl>
              </c:multiLvlStrCache>
            </c:multiLvlStrRef>
          </c:cat>
          <c:val>
            <c:numRef>
              <c:f>Sheet1!$B$2:$B$6</c:f>
              <c:numCache>
                <c:formatCode>General</c:formatCode>
                <c:ptCount val="5"/>
                <c:pt idx="0">
                  <c:v>24</c:v>
                </c:pt>
                <c:pt idx="1">
                  <c:v>35</c:v>
                </c:pt>
                <c:pt idx="2">
                  <c:v>34</c:v>
                </c:pt>
                <c:pt idx="3">
                  <c:v>16</c:v>
                </c:pt>
                <c:pt idx="4">
                  <c:v>5</c:v>
                </c:pt>
              </c:numCache>
            </c:numRef>
          </c:val>
        </c:ser>
        <c:ser>
          <c:idx val="1"/>
          <c:order val="1"/>
          <c:tx>
            <c:strRef>
              <c:f>Sheet1!$C$1</c:f>
              <c:strCache>
                <c:ptCount val="1"/>
                <c:pt idx="0">
                  <c:v>Restored later</c:v>
                </c:pt>
              </c:strCache>
            </c:strRef>
          </c:tx>
          <c:spPr>
            <a:solidFill>
              <a:srgbClr val="F2A541"/>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Sheet1!$A$2:$A$6</c:f>
              <c:multiLvlStrCache>
                <c:ptCount val="5"/>
                <c:lvl>
                  <c:pt idx="0">
                    <c:v>Roads</c:v>
                  </c:pt>
                  <c:pt idx="1">
                    <c:v>Communications</c:v>
                  </c:pt>
                  <c:pt idx="2">
                    <c:v>Power</c:v>
                  </c:pt>
                  <c:pt idx="3">
                    <c:v>Water</c:v>
                  </c:pt>
                  <c:pt idx="4">
                    <c:v>Bridges</c:v>
                  </c:pt>
                </c:lvl>
              </c:multiLvlStrCache>
            </c:multiLvlStrRef>
          </c:cat>
          <c:val>
            <c:numRef>
              <c:f>Sheet1!$C$2:$C$6</c:f>
              <c:numCache>
                <c:formatCode>General</c:formatCode>
                <c:ptCount val="5"/>
                <c:pt idx="0">
                  <c:v>10</c:v>
                </c:pt>
                <c:pt idx="1">
                  <c:v>10</c:v>
                </c:pt>
                <c:pt idx="2">
                  <c:v>22</c:v>
                </c:pt>
                <c:pt idx="3">
                  <c:v>18</c:v>
                </c:pt>
                <c:pt idx="4">
                  <c:v>17</c:v>
                </c:pt>
              </c:numCache>
            </c:numRef>
          </c:val>
        </c:ser>
        <c:ser>
          <c:idx val="2"/>
          <c:order val="2"/>
          <c:tx>
            <c:strRef>
              <c:f>Sheet1!$D$1</c:f>
              <c:strCache>
                <c:ptCount val="1"/>
                <c:pt idx="0">
                  <c:v>Still down</c:v>
                </c:pt>
              </c:strCache>
            </c:strRef>
          </c:tx>
          <c:spPr>
            <a:solidFill>
              <a:srgbClr val="B23A48"/>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Sheet1!$A$2:$A$6</c:f>
              <c:multiLvlStrCache>
                <c:ptCount val="5"/>
                <c:lvl>
                  <c:pt idx="0">
                    <c:v>Roads</c:v>
                  </c:pt>
                  <c:pt idx="1">
                    <c:v>Communications</c:v>
                  </c:pt>
                  <c:pt idx="2">
                    <c:v>Power</c:v>
                  </c:pt>
                  <c:pt idx="3">
                    <c:v>Water</c:v>
                  </c:pt>
                  <c:pt idx="4">
                    <c:v>Bridges</c:v>
                  </c:pt>
                </c:lvl>
              </c:multiLvlStrCache>
            </c:multiLvlStrRef>
          </c:cat>
          <c:val>
            <c:numRef>
              <c:f>Sheet1!$D$2:$D$6</c:f>
              <c:numCache>
                <c:formatCode>General</c:formatCode>
                <c:ptCount val="5"/>
                <c:pt idx="0">
                  <c:v>0</c:v>
                </c:pt>
                <c:pt idx="1">
                  <c:v>0</c:v>
                </c:pt>
                <c:pt idx="2">
                  <c:v>0</c:v>
                </c:pt>
                <c:pt idx="3">
                  <c:v>0</c:v>
                </c:pt>
                <c:pt idx="4">
                  <c:v>1</c:v>
                </c:pt>
              </c:numCache>
            </c:numRef>
          </c:val>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3E4A5A"/>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3E7EC"/>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3E4A5A"/>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3E4A5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33A"/>
                </a:solidFill>
                <a:latin typeface="+mn-lt"/>
              </a:defRPr>
            </a:pPr>
            <a:r>
              <a:rPr sz="1400" b="0" i="0" u="none" strike="noStrike">
                <a:solidFill>
                  <a:srgbClr val="14233A"/>
                </a:solidFill>
                <a:latin typeface="+mn-lt"/>
              </a:rPr>
              <a:t>Relief value by provider, all events</a:t>
            </a:r>
          </a:p>
        </c:rich>
      </c:tx>
      <c:layout/>
      <c:overlay val="0"/>
    </c:title>
    <c:autoTitleDeleted val="0"/>
    <c:plotArea>
      <c:layout/>
      <c:doughnutChart>
        <c:varyColors val="1"/>
        <c:ser>
          <c:idx val="0"/>
          <c:order val="0"/>
          <c:tx>
            <c:strRef>
              <c:f>Sheet1!$B$1</c:f>
              <c:strCache>
                <c:ptCount val="1"/>
                <c:pt idx="0">
                  <c:v>Relief value</c:v>
                </c:pt>
              </c:strCache>
            </c:strRef>
          </c:tx>
          <c:spPr>
            <a:solidFill>
              <a:schemeClr val="accent1"/>
            </a:solidFill>
            <a:ln w="9525" cap="flat">
              <a:solidFill>
                <a:srgbClr val="F9F9F9"/>
              </a:solidFill>
              <a:prstDash val="solid"/>
              <a:round/>
            </a:ln>
            <a:effectLst/>
          </c:spPr>
          <c:dPt>
            <c:idx val="0"/>
            <c:bubble3D val="0"/>
            <c:spPr>
              <a:solidFill>
                <a:srgbClr val="1F5FA8"/>
              </a:solidFill>
              <a:effectLst/>
            </c:spPr>
          </c:dPt>
          <c:dPt>
            <c:idx val="1"/>
            <c:bubble3D val="0"/>
            <c:spPr>
              <a:solidFill>
                <a:srgbClr val="2A9D8F"/>
              </a:solidFill>
              <a:effectLst/>
            </c:spPr>
          </c:dPt>
          <c:dPt>
            <c:idx val="2"/>
            <c:bubble3D val="0"/>
            <c:spPr>
              <a:solidFill>
                <a:srgbClr val="E0612A"/>
              </a:solidFill>
              <a:effectLst/>
            </c:spPr>
          </c:dPt>
          <c:dPt>
            <c:idx val="3"/>
            <c:bubble3D val="0"/>
            <c:spPr>
              <a:solidFill>
                <a:srgbClr val="F2A541"/>
              </a:solidFill>
              <a:effectLst/>
            </c:spPr>
          </c:dPt>
          <c:dLbls>
            <c:dLbl>
              <c:idx val="0"/>
              <c:numFmt formatCode="0%" sourceLinked="0"/>
              <c:spPr/>
              <c:txPr>
                <a:bodyPr/>
                <a:lstStyle/>
                <a:p>
                  <a:pPr>
                    <a:defRPr sz="1300" b="0"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300" b="0"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1300" b="0" i="0" u="none" strike="noStrike">
                      <a:solidFill>
                        <a:srgbClr val="FFFFFF"/>
                      </a:solidFill>
                      <a:latin typeface="+mn-lt"/>
                    </a:defRPr>
                  </a:pPr>
                </a:p>
              </c:txPr>
              <c:showLegendKey val="0"/>
              <c:showVal val="0"/>
              <c:showCatName val="0"/>
              <c:showSerName val="0"/>
              <c:showPercent val="1"/>
              <c:showBubbleSize val="0"/>
            </c:dLbl>
            <c:dLbl>
              <c:idx val="3"/>
              <c:numFmt formatCode="0%" sourceLinked="0"/>
              <c:spPr/>
              <c:txPr>
                <a:bodyPr/>
                <a:lstStyle/>
                <a:p>
                  <a:pPr>
                    <a:defRPr sz="1300" b="0"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International (UN)</c:v>
                </c:pt>
                <c:pt idx="1">
                  <c:v>NGOs</c:v>
                </c:pt>
                <c:pt idx="2">
                  <c:v>National gov't (DSWD)</c:v>
                </c:pt>
                <c:pt idx="3">
                  <c:v>Local government units</c:v>
                </c:pt>
              </c:strCache>
            </c:strRef>
          </c:cat>
          <c:val>
            <c:numRef>
              <c:f>Sheet1!$B$2:$B$5</c:f>
              <c:numCache>
                <c:ptCount val="4"/>
                <c:pt idx="0">
                  <c:v>1019.955354</c:v>
                </c:pt>
                <c:pt idx="1">
                  <c:v>985.75726</c:v>
                </c:pt>
                <c:pt idx="2">
                  <c:v>529.06523</c:v>
                </c:pt>
                <c:pt idx="3">
                  <c:v>520.204944</c:v>
                </c:pt>
              </c:numCache>
            </c:numRef>
          </c:val>
        </c:ser>
        <c:firstSliceAng val="0"/>
        <c:holeSize val="58"/>
      </c:doughnutChart>
      <c:spPr>
        <a:noFill/>
        <a:ln>
          <a:noFill/>
        </a:ln>
        <a:effectLst/>
      </c:spPr>
    </c:plotArea>
    <c:legend>
      <c:legendPos val="r"/>
      <c:overlay val="0"/>
      <c:txPr>
        <a:bodyPr/>
        <a:lstStyle/>
        <a:p>
          <a:pPr>
            <a:defRPr sz="1300">
              <a:solidFill>
                <a:srgbClr val="3E4A5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My project is DRIW, the Disaster Response Intelligence Warehouse: an enterprise data warehouse that brings together disaster data from five Philippine agencies so leaders can see damage, displacement, relief and response in one place. The image is Typhoon Haiyan, known locally as Yolanda, in 2013.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Around twenty tropical cyclones enter our area of responsibility every year. Every one of them produces reports from many agencies. My warehouse covers 31 real events from 2020 to 2025 and the complete official geography of the country, down to more than 42,000 barangays.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integration. NDRRMC, DSWD, NGOs, PAGASA and the LGUs each keep their own systems and formats. The same town is spelled differently, the same storm has a local and an international name, relief comes in packs, sacks or kilos. So a simple question like which province got the least relief per affected person takes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wrote down twelve business questions with the intended users. These six are the core: where it was worst, how many people were displaced, how fast response was, whether relief matched need, when roads and power came back, and whether the numbers can be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system. Files from the five agencies land unchanged in the raw layer, with lineage to the file and row. dbt cleans and conforms them in staging using 45 data-quality rules, loads a star schema in the dw layer, and builds eight OLAP marts. The dashboards and a PHP API read the marts.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Agency operational data is not public, so the figures are generated, scaled to population and storm strength. Everything about places and events is real. The synthetic data has one advantage: I planted almost ten thousand realistic data-entry errors and counted them, so I can prove the cleaning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ETL is a full reload orchestrated by one Python command. Rejected rows go to a quarantine with the reason and the source row. The reconciliation compares every planted defect with what the rules found: all nineteen defect types match exactly, and the fuzzy place-name matching makes no false 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business process is a fact table and each entity a dimension. Date, location, event, organization and source are shared by every fact, so we can compare damage, displacement and relief for the same place and event. Location is a type 2 slowly changing dimension.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one of the six stars in detail. The lifeline fact follows NDRRMC situation reports, which track roads, bridges, power, water and communications. It has two role-playing dates: when the lifeline went down and when it came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executive page answers the six-year picture. Total damage is 558 billion pesos across 31 events. The peak displaced tile is new: it counts people in evacuation centers plus families staying with relatives, because a dashboard that counts only centers misses more than half of the displaced.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death counts favour storms that crossed big cities. Dividing by population, as the UN Sendai Framework does, shows Odette killed the largest share of the people in its path. Population is an estimate in this build, so these rates compare events; loading the PSA census makes them official.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DSWD's DROMIC reports count displaced families in two places: inside evacuation centers and outside them. On Kristine's peak day 302 thousand people were displaced, but only 130 thousand were in centers. Families outside are harder to reach with relief, and they stay displaced longer.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NDRRMC tracks lifelines. For Kristine, power went down in 56 cities and municipalities, but bridges were the slowest: a median of 141 hours, and fewer than a quarter reopened within three days. That tells planners to pre-position spare bridge modules and water treatment in the areas hit most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logistics page now shows the cost of assistance by provider, the way DROMIC reports it. Across all events international partners and NGOs delivered about a third each, DSWD and the LGUs about a sixth each. I point out honestly that this split is synthetic; in practice DSWD carries the largest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warehouse does not need a content management system, but agencies do need a way in and out. The data exchange page gives LGUs Excel templates, checks an uploaded report row by row and loads it through the same quality rules, and exports the marts as Excel. Other systems can read the same data as JSON from the PHP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part of the model. Roles follow the users from the business case. Row-level security restricts regional officers to their own region, which I tested with real logins. The web server uses a read-only role that can only see aggregated marts.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build runs 117 dbt checks. The pytest suite builds a brand-new database from nothing, runs the pipeline, and tests governance and the API: 91 tests pass. Reading marts is about 78 times faster than aggregating the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sample findings. Bicol is the most affected region. Most displaced people are outside centers. Bridges are the slowest lifeline. And two provinces received the least relief per person, which is exactly where the next allocation should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limitation is that the operational numbers are synthetic and population is estimated. Nothing in the pipeline depends on that: real reports can be loaded through the data exchange today. Next I would add census population, hazard and poverty layers for true risk analysis, and move to the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take questions, and I can show the dashboards live on XAMPP. The photographs are public-domain or Creative Commons images from Wikimedia Commons, credited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423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5029200" cy="18288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4023360"/>
            <a:ext cx="4937760" cy="1188720"/>
          </a:xfrm>
          <a:prstGeom prst="rect">
            <a:avLst/>
          </a:prstGeom>
          <a:noFill/>
          <a:ln/>
        </p:spPr>
        <p:txBody>
          <a:bodyPr wrap="square" rtlCol="0"/>
          <a:lstStyle>
            <a:lvl1pPr algn="l" indent="0" marL="0">
              <a:buNone/>
              <a:defRPr lang="en-US" sz="1900" dirty="0">
                <a:solidFill>
                  <a:schemeClr val="bg2"/>
                </a:solidFill>
              </a:defRPr>
            </a:lvl1pPr>
          </a:lstStyle>
          <a:p>
            <a:pPr algn="l" indent="0" marL="0">
              <a:buNone/>
            </a:pPr>
            <a:endParaRPr lang="en-US" sz="1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DRIW · Disaster Response Intelligence Warehouse</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5A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5A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0-1.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12-1.jp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13-1.png"/><Relationship Id="rId3"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image" Target="../media/image-13-4.png"/><Relationship Id="rId6" Type="http://schemas.openxmlformats.org/officeDocument/2006/relationships/image" Target="../media/image-13-5.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3.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3.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yphoon Haiyan satellite image" descr="C:\Users\banba\AppData\Local\Temp\claude\C--Users-banba-OneDrive-Documents-GitHub-NEUSTIT271-EDW-Project--claude-worktrees-great-bardeen-ab59a6\74094a70-acc5-4807-885e-b40727f685f7\scratchpad\img\haiyan_eye.jpg">    </p:cNvPr>
          <p:cNvPicPr>
            <a:picLocks noChangeAspect="1"/>
          </p:cNvPicPr>
          <p:nvPr/>
        </p:nvPicPr>
        <p:blipFill>
          <a:blip r:embed="rId1"/>
          <a:srcRect l="0" r="0" t="0" b="0"/>
          <a:stretch/>
        </p:blipFill>
        <p:spPr>
          <a:xfrm>
            <a:off x="5897880" y="0"/>
            <a:ext cx="6293815" cy="6858000"/>
          </a:xfrm>
          <a:prstGeom prst="rect">
            <a:avLst/>
          </a:prstGeom>
        </p:spPr>
      </p:pic>
      <p:sp>
        <p:nvSpPr>
          <p:cNvPr id="3" name="Text 0"/>
          <p:cNvSpPr txBox="1"/>
          <p:nvPr/>
        </p:nvSpPr>
        <p:spPr>
          <a:xfrm>
            <a:off x="548640" y="1188720"/>
            <a:ext cx="5029200" cy="548640"/>
          </a:xfrm>
          <a:prstGeom prst="rect">
            <a:avLst/>
          </a:prstGeom>
          <a:noFill/>
          <a:ln/>
        </p:spPr>
        <p:txBody>
          <a:bodyPr wrap="square" lIns="0" tIns="0" rIns="0" bIns="0" rtlCol="0" anchor="ctr"/>
          <a:lstStyle/>
          <a:p>
            <a:pPr indent="0" marL="0">
              <a:buNone/>
            </a:pPr>
            <a:r>
              <a:rPr lang="en-US" sz="1200" b="1" spc="200" kern="0" dirty="0">
                <a:solidFill>
                  <a:schemeClr val="accent1"/>
                </a:solidFill>
              </a:rPr>
              <a:t>IT271 · ENTERPRISE DATA WAREHOUSING</a:t>
            </a:r>
            <a:endParaRPr lang="en-US" sz="1200" dirty="0"/>
          </a:p>
        </p:txBody>
      </p:sp>
      <p:sp>
        <p:nvSpPr>
          <p:cNvPr id="4" name="Text 0"/>
          <p:cNvSpPr/>
          <p:nvPr>
            <p:ph idx="100" type="title" hasCustomPrompt="1"/>
          </p:nvPr>
        </p:nvSpPr>
        <p:spPr>
          <a:xfrm>
            <a:off x="548640" y="2011680"/>
            <a:ext cx="5029200" cy="182880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Disaster Response Intelligence Warehouse</a:t>
            </a:r>
            <a:endParaRPr lang="en-US" sz="4000" dirty="0"/>
          </a:p>
        </p:txBody>
      </p:sp>
      <p:sp>
        <p:nvSpPr>
          <p:cNvPr id="5" name="Text 0"/>
          <p:cNvSpPr/>
          <p:nvPr>
            <p:ph idx="101" type="body" hasCustomPrompt="1"/>
          </p:nvPr>
        </p:nvSpPr>
        <p:spPr>
          <a:xfrm>
            <a:off x="548640" y="4023360"/>
            <a:ext cx="4937760" cy="1188720"/>
          </a:xfrm>
          <a:prstGeom prst="rect">
            <a:avLst/>
          </a:prstGeom>
          <a:noFill/>
          <a:ln/>
        </p:spPr>
        <p:txBody>
          <a:bodyPr wrap="square" lIns="0" tIns="0" rIns="0" bIns="0" rtlCol="0" anchor="t"/>
          <a:lstStyle/>
          <a:p>
            <a:pPr algn="l" indent="0" marL="0">
              <a:buNone/>
            </a:pPr>
            <a:r>
              <a:rPr lang="en-US" sz="1900" dirty="0">
                <a:solidFill>
                  <a:schemeClr val="bg2"/>
                </a:solidFill>
              </a:rPr>
              <a:t>One trusted view of Philippine typhoon and flood response, from five agencies' data</a:t>
            </a:r>
            <a:endParaRPr lang="en-US" sz="1900" dirty="0"/>
          </a:p>
        </p:txBody>
      </p:sp>
      <p:sp>
        <p:nvSpPr>
          <p:cNvPr id="6" name="Text 3"/>
          <p:cNvSpPr txBox="1"/>
          <p:nvPr/>
        </p:nvSpPr>
        <p:spPr>
          <a:xfrm>
            <a:off x="548640" y="5394960"/>
            <a:ext cx="5029200" cy="365760"/>
          </a:xfrm>
          <a:prstGeom prst="rect">
            <a:avLst/>
          </a:prstGeom>
          <a:noFill/>
          <a:ln/>
        </p:spPr>
        <p:txBody>
          <a:bodyPr wrap="square" lIns="0" tIns="0" rIns="0" bIns="0" rtlCol="0" anchor="ctr"/>
          <a:lstStyle/>
          <a:p>
            <a:pPr indent="0" marL="0">
              <a:buNone/>
            </a:pPr>
            <a:r>
              <a:rPr lang="en-US" sz="1800" b="1" dirty="0">
                <a:solidFill>
                  <a:schemeClr val="bg1"/>
                </a:solidFill>
              </a:rPr>
              <a:t>Ivan Christian Salinas</a:t>
            </a:r>
            <a:endParaRPr lang="en-US" sz="1800" dirty="0"/>
          </a:p>
        </p:txBody>
      </p:sp>
      <p:sp>
        <p:nvSpPr>
          <p:cNvPr id="7" name="caption"/>
          <p:cNvSpPr txBox="1"/>
          <p:nvPr/>
        </p:nvSpPr>
        <p:spPr>
          <a:xfrm>
            <a:off x="548640" y="6263640"/>
            <a:ext cx="5120640" cy="274320"/>
          </a:xfrm>
          <a:prstGeom prst="rect">
            <a:avLst/>
          </a:prstGeom>
          <a:noFill/>
          <a:ln/>
        </p:spPr>
        <p:txBody>
          <a:bodyPr wrap="square" lIns="0" tIns="0" rIns="0" bIns="0" rtlCol="0" anchor="ctr"/>
          <a:lstStyle/>
          <a:p>
            <a:pPr algn="l" indent="0" marL="0">
              <a:buNone/>
            </a:pPr>
            <a:r>
              <a:rPr lang="en-US" sz="1000" i="1" dirty="0">
                <a:solidFill>
                  <a:schemeClr val="bg2"/>
                </a:solidFill>
              </a:rPr>
              <a:t>Right: Typhoon Haiyan (Yolanda), 6 Nov 2013 · NASA/NOAA · public domain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The Philippines lives with typhoons</a:t>
            </a:r>
            <a:endParaRPr lang="en-US" sz="3400" dirty="0"/>
          </a:p>
        </p:txBody>
      </p:sp>
      <p:pic>
        <p:nvPicPr>
          <p:cNvPr id="3" name="Tacloban after Haiyan" descr="C:\Users\banba\AppData\Local\Temp\claude\C--Users-banba-OneDrive-Documents-GitHub-NEUSTIT271-EDW-Project--claude-worktrees-great-bardeen-ab59a6\74094a70-acc5-4807-885e-b40727f685f7\scratchpad\img\tacloban.jpg">    </p:cNvPr>
          <p:cNvPicPr>
            <a:picLocks noChangeAspect="1"/>
          </p:cNvPicPr>
          <p:nvPr/>
        </p:nvPicPr>
        <p:blipFill>
          <a:blip r:embed="rId1"/>
          <a:srcRect l="0" r="0" t="0" b="0"/>
          <a:stretch/>
        </p:blipFill>
        <p:spPr>
          <a:xfrm>
            <a:off x="6355080" y="1325880"/>
            <a:ext cx="5303520" cy="4526280"/>
          </a:xfrm>
          <a:prstGeom prst="rect">
            <a:avLst/>
          </a:prstGeom>
        </p:spPr>
      </p:pic>
      <p:sp>
        <p:nvSpPr>
          <p:cNvPr id="4" name="caption"/>
          <p:cNvSpPr txBox="1"/>
          <p:nvPr/>
        </p:nvSpPr>
        <p:spPr>
          <a:xfrm>
            <a:off x="6355080" y="5897880"/>
            <a:ext cx="5303520" cy="274320"/>
          </a:xfrm>
          <a:prstGeom prst="rect">
            <a:avLst/>
          </a:prstGeom>
          <a:noFill/>
          <a:ln/>
        </p:spPr>
        <p:txBody>
          <a:bodyPr wrap="square" lIns="0" tIns="0" rIns="0" bIns="0" rtlCol="0" anchor="ctr"/>
          <a:lstStyle/>
          <a:p>
            <a:pPr algn="l" indent="0" marL="0">
              <a:buNone/>
            </a:pPr>
            <a:r>
              <a:rPr lang="en-US" sz="1000" i="1" dirty="0">
                <a:solidFill>
                  <a:schemeClr val="accent5"/>
                </a:solidFill>
              </a:rPr>
              <a:t>Tacloban, Leyte, after Typhoon Haiyan (Yolanda), Nov 2013 · Trocaire from Ireland · CC BY 2.0 · Wikimedia Commons</a:t>
            </a:r>
            <a:endParaRPr lang="en-US" sz="1000" dirty="0"/>
          </a:p>
        </p:txBody>
      </p:sp>
      <p:sp>
        <p:nvSpPr>
          <p:cNvPr id="5" name="stat value"/>
          <p:cNvSpPr txBox="1"/>
          <p:nvPr/>
        </p:nvSpPr>
        <p:spPr>
          <a:xfrm>
            <a:off x="548640" y="1463040"/>
            <a:ext cx="5303520" cy="7772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≈20</a:t>
            </a:r>
            <a:endParaRPr lang="en-US" sz="4400" dirty="0"/>
          </a:p>
        </p:txBody>
      </p:sp>
      <p:sp>
        <p:nvSpPr>
          <p:cNvPr id="6" name="stat label"/>
          <p:cNvSpPr txBox="1"/>
          <p:nvPr/>
        </p:nvSpPr>
        <p:spPr>
          <a:xfrm>
            <a:off x="548640" y="2240280"/>
            <a:ext cx="5303520" cy="594360"/>
          </a:xfrm>
          <a:prstGeom prst="rect">
            <a:avLst/>
          </a:prstGeom>
          <a:noFill/>
          <a:ln/>
        </p:spPr>
        <p:txBody>
          <a:bodyPr wrap="square" lIns="0" tIns="0" rIns="0" bIns="0" rtlCol="0" anchor="t"/>
          <a:lstStyle/>
          <a:p>
            <a:pPr indent="0" marL="0">
              <a:buNone/>
            </a:pPr>
            <a:r>
              <a:rPr lang="en-US" sz="1400" dirty="0">
                <a:solidFill>
                  <a:schemeClr val="tx2"/>
                </a:solidFill>
              </a:rPr>
              <a:t>tropical cyclones enter the Philippine Area of Responsibility each year (PAGASA)</a:t>
            </a:r>
            <a:endParaRPr lang="en-US" sz="1400" dirty="0"/>
          </a:p>
        </p:txBody>
      </p:sp>
      <p:sp>
        <p:nvSpPr>
          <p:cNvPr id="7" name="stat value"/>
          <p:cNvSpPr txBox="1"/>
          <p:nvPr/>
        </p:nvSpPr>
        <p:spPr>
          <a:xfrm>
            <a:off x="548640" y="2926080"/>
            <a:ext cx="5303520" cy="7772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31</a:t>
            </a:r>
            <a:endParaRPr lang="en-US" sz="4400" dirty="0"/>
          </a:p>
        </p:txBody>
      </p:sp>
      <p:sp>
        <p:nvSpPr>
          <p:cNvPr id="8" name="stat label"/>
          <p:cNvSpPr txBox="1"/>
          <p:nvPr/>
        </p:nvSpPr>
        <p:spPr>
          <a:xfrm>
            <a:off x="548640" y="3703320"/>
            <a:ext cx="5303520" cy="594360"/>
          </a:xfrm>
          <a:prstGeom prst="rect">
            <a:avLst/>
          </a:prstGeom>
          <a:noFill/>
          <a:ln/>
        </p:spPr>
        <p:txBody>
          <a:bodyPr wrap="square" lIns="0" tIns="0" rIns="0" bIns="0" rtlCol="0" anchor="t"/>
          <a:lstStyle/>
          <a:p>
            <a:pPr indent="0" marL="0">
              <a:buNone/>
            </a:pPr>
            <a:r>
              <a:rPr lang="en-US" sz="1400" dirty="0">
                <a:solidFill>
                  <a:schemeClr val="tx2"/>
                </a:solidFill>
              </a:rPr>
              <a:t>real events modelled, 2020–2025: 29 tropical cyclones and 2 monsoon floods</a:t>
            </a:r>
            <a:endParaRPr lang="en-US" sz="1400" dirty="0"/>
          </a:p>
        </p:txBody>
      </p:sp>
      <p:sp>
        <p:nvSpPr>
          <p:cNvPr id="9" name="stat value"/>
          <p:cNvSpPr txBox="1"/>
          <p:nvPr/>
        </p:nvSpPr>
        <p:spPr>
          <a:xfrm>
            <a:off x="548640" y="4389120"/>
            <a:ext cx="5303520" cy="7772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42,046</a:t>
            </a:r>
            <a:endParaRPr lang="en-US" sz="4400" dirty="0"/>
          </a:p>
        </p:txBody>
      </p:sp>
      <p:sp>
        <p:nvSpPr>
          <p:cNvPr id="10" name="stat label"/>
          <p:cNvSpPr txBox="1"/>
          <p:nvPr/>
        </p:nvSpPr>
        <p:spPr>
          <a:xfrm>
            <a:off x="548640" y="5166360"/>
            <a:ext cx="5303520" cy="594360"/>
          </a:xfrm>
          <a:prstGeom prst="rect">
            <a:avLst/>
          </a:prstGeom>
          <a:noFill/>
          <a:ln/>
        </p:spPr>
        <p:txBody>
          <a:bodyPr wrap="square" lIns="0" tIns="0" rIns="0" bIns="0" rtlCol="0" anchor="t"/>
          <a:lstStyle/>
          <a:p>
            <a:pPr indent="0" marL="0">
              <a:buNone/>
            </a:pPr>
            <a:r>
              <a:rPr lang="en-US" sz="1400" dirty="0">
                <a:solidFill>
                  <a:schemeClr val="tx2"/>
                </a:solidFill>
              </a:rPr>
              <a:t>barangays in 1,634 cities and municipalities, from the official PSA geographic code (PSGC)</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5A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Five agencies, five systems, no common language</a:t>
            </a:r>
            <a:endParaRPr lang="en-US" sz="3400" dirty="0"/>
          </a:p>
        </p:txBody>
      </p:sp>
      <p:pic>
        <p:nvPicPr>
          <p:cNvPr id="3" name="Quezon City flood" descr="C:\Users\banba\AppData\Local\Temp\claude\C--Users-banba-OneDrive-Documents-GitHub-NEUSTIT271-EDW-Project--claude-worktrees-great-bardeen-ab59a6\74094a70-acc5-4807-885e-b40727f685f7\scratchpad\img\qc_flood.jpg">    </p:cNvPr>
          <p:cNvPicPr>
            <a:picLocks noChangeAspect="1"/>
          </p:cNvPicPr>
          <p:nvPr/>
        </p:nvPicPr>
        <p:blipFill>
          <a:blip r:embed="rId1"/>
          <a:srcRect l="0" r="0" t="0" b="0"/>
          <a:stretch/>
        </p:blipFill>
        <p:spPr>
          <a:xfrm>
            <a:off x="548640" y="1325880"/>
            <a:ext cx="4206240" cy="4526280"/>
          </a:xfrm>
          <a:prstGeom prst="rect">
            <a:avLst/>
          </a:prstGeom>
        </p:spPr>
      </p:pic>
      <p:sp>
        <p:nvSpPr>
          <p:cNvPr id="4" name="caption"/>
          <p:cNvSpPr txBox="1"/>
          <p:nvPr/>
        </p:nvSpPr>
        <p:spPr>
          <a:xfrm>
            <a:off x="548640" y="5897880"/>
            <a:ext cx="4206240" cy="274320"/>
          </a:xfrm>
          <a:prstGeom prst="rect">
            <a:avLst/>
          </a:prstGeom>
          <a:noFill/>
          <a:ln/>
        </p:spPr>
        <p:txBody>
          <a:bodyPr wrap="square" lIns="0" tIns="0" rIns="0" bIns="0" rtlCol="0" anchor="ctr"/>
          <a:lstStyle/>
          <a:p>
            <a:pPr algn="l" indent="0" marL="0">
              <a:buNone/>
            </a:pPr>
            <a:r>
              <a:rPr lang="en-US" sz="1000" i="1" dirty="0">
                <a:solidFill>
                  <a:schemeClr val="accent5"/>
                </a:solidFill>
              </a:rPr>
              <a:t>Flash flood, Quezon City, Sep 2023 · LMP 2001 · CC BY-SA 4.0 · Wikimedia Commons</a:t>
            </a:r>
            <a:endParaRPr lang="en-US" sz="1000" dirty="0"/>
          </a:p>
        </p:txBody>
      </p:sp>
      <p:sp>
        <p:nvSpPr>
          <p:cNvPr id="5" name="NDRRMC circle"/>
          <p:cNvSpPr/>
          <p:nvPr/>
        </p:nvSpPr>
        <p:spPr>
          <a:xfrm>
            <a:off x="5166360" y="1371600"/>
            <a:ext cx="548640" cy="548640"/>
          </a:xfrm>
          <a:prstGeom prst="ellipse">
            <a:avLst/>
          </a:prstGeom>
          <a:solidFill>
            <a:schemeClr val="accent1"/>
          </a:solidFill>
          <a:ln/>
        </p:spPr>
      </p:sp>
      <p:pic>
        <p:nvPicPr>
          <p:cNvPr id="6" name="NDRRMC glyph" descr="preencoded.png">    </p:cNvPr>
          <p:cNvPicPr>
            <a:picLocks noChangeAspect="1"/>
          </p:cNvPicPr>
          <p:nvPr/>
        </p:nvPicPr>
        <p:blipFill>
          <a:blip r:embed="rId2"/>
          <a:stretch>
            <a:fillRect/>
          </a:stretch>
        </p:blipFill>
        <p:spPr>
          <a:xfrm>
            <a:off x="5298034" y="1503274"/>
            <a:ext cx="285293" cy="285293"/>
          </a:xfrm>
          <a:prstGeom prst="rect">
            <a:avLst/>
          </a:prstGeom>
        </p:spPr>
      </p:pic>
      <p:sp>
        <p:nvSpPr>
          <p:cNvPr id="7" name="Text 3"/>
          <p:cNvSpPr txBox="1"/>
          <p:nvPr/>
        </p:nvSpPr>
        <p:spPr>
          <a:xfrm>
            <a:off x="5897880" y="1298448"/>
            <a:ext cx="5760720" cy="713232"/>
          </a:xfrm>
          <a:prstGeom prst="rect">
            <a:avLst/>
          </a:prstGeom>
          <a:noFill/>
          <a:ln/>
        </p:spPr>
        <p:txBody>
          <a:bodyPr wrap="square" lIns="0" tIns="0" rIns="0" bIns="0" rtlCol="0" anchor="ctr"/>
          <a:lstStyle/>
          <a:p>
            <a:pPr indent="0" marL="0">
              <a:buNone/>
            </a:pPr>
            <a:r>
              <a:rPr lang="en-US" sz="1500" b="1" dirty="0">
                <a:solidFill>
                  <a:schemeClr val="tx1"/>
                </a:solidFill>
              </a:rPr>
              <a:t>NDRRMC</a:t>
            </a:r>
            <a:endParaRPr lang="en-US" sz="1500" dirty="0"/>
          </a:p>
          <a:p>
            <a:pPr indent="0" marL="0">
              <a:buNone/>
            </a:pPr>
            <a:r>
              <a:rPr lang="en-US" sz="1500" dirty="0">
                <a:solidFill>
                  <a:schemeClr val="tx2"/>
                </a:solidFill>
              </a:rPr>
              <a:t>Damage, casualties and lifelines · CSV situation reports</a:t>
            </a:r>
            <a:endParaRPr lang="en-US" sz="1500" dirty="0"/>
          </a:p>
        </p:txBody>
      </p:sp>
      <p:sp>
        <p:nvSpPr>
          <p:cNvPr id="8" name="DSWD DROMIC circle"/>
          <p:cNvSpPr/>
          <p:nvPr/>
        </p:nvSpPr>
        <p:spPr>
          <a:xfrm>
            <a:off x="5166360" y="2157984"/>
            <a:ext cx="548640" cy="548640"/>
          </a:xfrm>
          <a:prstGeom prst="ellipse">
            <a:avLst/>
          </a:prstGeom>
          <a:solidFill>
            <a:schemeClr val="accent1"/>
          </a:solidFill>
          <a:ln/>
        </p:spPr>
      </p:sp>
      <p:pic>
        <p:nvPicPr>
          <p:cNvPr id="9" name="DSWD DROMIC glyph" descr="preencoded.png">    </p:cNvPr>
          <p:cNvPicPr>
            <a:picLocks noChangeAspect="1"/>
          </p:cNvPicPr>
          <p:nvPr/>
        </p:nvPicPr>
        <p:blipFill>
          <a:blip r:embed="rId3"/>
          <a:stretch>
            <a:fillRect/>
          </a:stretch>
        </p:blipFill>
        <p:spPr>
          <a:xfrm>
            <a:off x="5298034" y="2289658"/>
            <a:ext cx="285293" cy="285293"/>
          </a:xfrm>
          <a:prstGeom prst="rect">
            <a:avLst/>
          </a:prstGeom>
        </p:spPr>
      </p:pic>
      <p:sp>
        <p:nvSpPr>
          <p:cNvPr id="10" name="Text 5"/>
          <p:cNvSpPr txBox="1"/>
          <p:nvPr/>
        </p:nvSpPr>
        <p:spPr>
          <a:xfrm>
            <a:off x="5897880" y="2084832"/>
            <a:ext cx="5760720" cy="713232"/>
          </a:xfrm>
          <a:prstGeom prst="rect">
            <a:avLst/>
          </a:prstGeom>
          <a:noFill/>
          <a:ln/>
        </p:spPr>
        <p:txBody>
          <a:bodyPr wrap="square" lIns="0" tIns="0" rIns="0" bIns="0" rtlCol="0" anchor="ctr"/>
          <a:lstStyle/>
          <a:p>
            <a:pPr indent="0" marL="0">
              <a:buNone/>
            </a:pPr>
            <a:r>
              <a:rPr lang="en-US" sz="1500" b="1" dirty="0">
                <a:solidFill>
                  <a:schemeClr val="tx1"/>
                </a:solidFill>
              </a:rPr>
              <a:t>DSWD DROMIC</a:t>
            </a:r>
            <a:endParaRPr lang="en-US" sz="1500" dirty="0"/>
          </a:p>
          <a:p>
            <a:pPr indent="0" marL="0">
              <a:buNone/>
            </a:pPr>
            <a:r>
              <a:rPr lang="en-US" sz="1500" dirty="0">
                <a:solidFill>
                  <a:schemeClr val="tx2"/>
                </a:solidFill>
              </a:rPr>
              <a:t>People displaced inside and outside evacuation centers · Excel</a:t>
            </a:r>
            <a:endParaRPr lang="en-US" sz="1500" dirty="0"/>
          </a:p>
        </p:txBody>
      </p:sp>
      <p:sp>
        <p:nvSpPr>
          <p:cNvPr id="11" name="NGOs, UN agencies, LGUs circle"/>
          <p:cNvSpPr/>
          <p:nvPr/>
        </p:nvSpPr>
        <p:spPr>
          <a:xfrm>
            <a:off x="5166360" y="2944368"/>
            <a:ext cx="548640" cy="548640"/>
          </a:xfrm>
          <a:prstGeom prst="ellipse">
            <a:avLst/>
          </a:prstGeom>
          <a:solidFill>
            <a:schemeClr val="accent1"/>
          </a:solidFill>
          <a:ln/>
        </p:spPr>
      </p:sp>
      <p:pic>
        <p:nvPicPr>
          <p:cNvPr id="12" name="NGOs, UN agencies, LGUs glyph" descr="preencoded.png">    </p:cNvPr>
          <p:cNvPicPr>
            <a:picLocks noChangeAspect="1"/>
          </p:cNvPicPr>
          <p:nvPr/>
        </p:nvPicPr>
        <p:blipFill>
          <a:blip r:embed="rId4"/>
          <a:stretch>
            <a:fillRect/>
          </a:stretch>
        </p:blipFill>
        <p:spPr>
          <a:xfrm>
            <a:off x="5298034" y="3076042"/>
            <a:ext cx="285293" cy="285293"/>
          </a:xfrm>
          <a:prstGeom prst="rect">
            <a:avLst/>
          </a:prstGeom>
        </p:spPr>
      </p:pic>
      <p:sp>
        <p:nvSpPr>
          <p:cNvPr id="13" name="Text 7"/>
          <p:cNvSpPr txBox="1"/>
          <p:nvPr/>
        </p:nvSpPr>
        <p:spPr>
          <a:xfrm>
            <a:off x="5897880" y="2871216"/>
            <a:ext cx="5760720" cy="713232"/>
          </a:xfrm>
          <a:prstGeom prst="rect">
            <a:avLst/>
          </a:prstGeom>
          <a:noFill/>
          <a:ln/>
        </p:spPr>
        <p:txBody>
          <a:bodyPr wrap="square" lIns="0" tIns="0" rIns="0" bIns="0" rtlCol="0" anchor="ctr"/>
          <a:lstStyle/>
          <a:p>
            <a:pPr indent="0" marL="0">
              <a:buNone/>
            </a:pPr>
            <a:r>
              <a:rPr lang="en-US" sz="1500" b="1" dirty="0">
                <a:solidFill>
                  <a:schemeClr val="tx1"/>
                </a:solidFill>
              </a:rPr>
              <a:t>NGOs, UN agencies, LGUs</a:t>
            </a:r>
            <a:endParaRPr lang="en-US" sz="1500" dirty="0"/>
          </a:p>
          <a:p>
            <a:pPr indent="0" marL="0">
              <a:buNone/>
            </a:pPr>
            <a:r>
              <a:rPr lang="en-US" sz="1500" dirty="0">
                <a:solidFill>
                  <a:schemeClr val="tx2"/>
                </a:solidFill>
              </a:rPr>
              <a:t>Relief distributed · nested JSON</a:t>
            </a:r>
            <a:endParaRPr lang="en-US" sz="1500" dirty="0"/>
          </a:p>
        </p:txBody>
      </p:sp>
      <p:sp>
        <p:nvSpPr>
          <p:cNvPr id="14" name="PAGASA circle"/>
          <p:cNvSpPr/>
          <p:nvPr/>
        </p:nvSpPr>
        <p:spPr>
          <a:xfrm>
            <a:off x="5166360" y="3730752"/>
            <a:ext cx="548640" cy="548640"/>
          </a:xfrm>
          <a:prstGeom prst="ellipse">
            <a:avLst/>
          </a:prstGeom>
          <a:solidFill>
            <a:schemeClr val="accent1"/>
          </a:solidFill>
          <a:ln/>
        </p:spPr>
      </p:sp>
      <p:pic>
        <p:nvPicPr>
          <p:cNvPr id="15" name="PAGASA glyph" descr="preencoded.png">    </p:cNvPr>
          <p:cNvPicPr>
            <a:picLocks noChangeAspect="1"/>
          </p:cNvPicPr>
          <p:nvPr/>
        </p:nvPicPr>
        <p:blipFill>
          <a:blip r:embed="rId5"/>
          <a:stretch>
            <a:fillRect/>
          </a:stretch>
        </p:blipFill>
        <p:spPr>
          <a:xfrm>
            <a:off x="5298034" y="3862426"/>
            <a:ext cx="285293" cy="285293"/>
          </a:xfrm>
          <a:prstGeom prst="rect">
            <a:avLst/>
          </a:prstGeom>
        </p:spPr>
      </p:pic>
      <p:sp>
        <p:nvSpPr>
          <p:cNvPr id="16" name="Text 9"/>
          <p:cNvSpPr txBox="1"/>
          <p:nvPr/>
        </p:nvSpPr>
        <p:spPr>
          <a:xfrm>
            <a:off x="5897880" y="3657600"/>
            <a:ext cx="5760720" cy="713232"/>
          </a:xfrm>
          <a:prstGeom prst="rect">
            <a:avLst/>
          </a:prstGeom>
          <a:noFill/>
          <a:ln/>
        </p:spPr>
        <p:txBody>
          <a:bodyPr wrap="square" lIns="0" tIns="0" rIns="0" bIns="0" rtlCol="0" anchor="ctr"/>
          <a:lstStyle/>
          <a:p>
            <a:pPr indent="0" marL="0">
              <a:buNone/>
            </a:pPr>
            <a:r>
              <a:rPr lang="en-US" sz="1500" b="1" dirty="0">
                <a:solidFill>
                  <a:schemeClr val="tx1"/>
                </a:solidFill>
              </a:rPr>
              <a:t>PAGASA</a:t>
            </a:r>
            <a:endParaRPr lang="en-US" sz="1500" dirty="0"/>
          </a:p>
          <a:p>
            <a:pPr indent="0" marL="0">
              <a:buNone/>
            </a:pPr>
            <a:r>
              <a:rPr lang="en-US" sz="1500" dirty="0">
                <a:solidFill>
                  <a:schemeClr val="tx2"/>
                </a:solidFill>
              </a:rPr>
              <a:t>The hazard: names, dates, strength · bulletins</a:t>
            </a:r>
            <a:endParaRPr lang="en-US" sz="1500" dirty="0"/>
          </a:p>
        </p:txBody>
      </p:sp>
      <p:sp>
        <p:nvSpPr>
          <p:cNvPr id="17" name="LGU / MDRRMO circle"/>
          <p:cNvSpPr/>
          <p:nvPr/>
        </p:nvSpPr>
        <p:spPr>
          <a:xfrm>
            <a:off x="5166360" y="4517136"/>
            <a:ext cx="548640" cy="548640"/>
          </a:xfrm>
          <a:prstGeom prst="ellipse">
            <a:avLst/>
          </a:prstGeom>
          <a:solidFill>
            <a:schemeClr val="accent1"/>
          </a:solidFill>
          <a:ln/>
        </p:spPr>
      </p:sp>
      <p:pic>
        <p:nvPicPr>
          <p:cNvPr id="18" name="LGU / MDRRMO glyph" descr="preencoded.png">    </p:cNvPr>
          <p:cNvPicPr>
            <a:picLocks noChangeAspect="1"/>
          </p:cNvPicPr>
          <p:nvPr/>
        </p:nvPicPr>
        <p:blipFill>
          <a:blip r:embed="rId6"/>
          <a:stretch>
            <a:fillRect/>
          </a:stretch>
        </p:blipFill>
        <p:spPr>
          <a:xfrm>
            <a:off x="5298034" y="4648810"/>
            <a:ext cx="285293" cy="285293"/>
          </a:xfrm>
          <a:prstGeom prst="rect">
            <a:avLst/>
          </a:prstGeom>
        </p:spPr>
      </p:pic>
      <p:sp>
        <p:nvSpPr>
          <p:cNvPr id="19" name="Text 11"/>
          <p:cNvSpPr txBox="1"/>
          <p:nvPr/>
        </p:nvSpPr>
        <p:spPr>
          <a:xfrm>
            <a:off x="5897880" y="4443984"/>
            <a:ext cx="5760720" cy="713232"/>
          </a:xfrm>
          <a:prstGeom prst="rect">
            <a:avLst/>
          </a:prstGeom>
          <a:noFill/>
          <a:ln/>
        </p:spPr>
        <p:txBody>
          <a:bodyPr wrap="square" lIns="0" tIns="0" rIns="0" bIns="0" rtlCol="0" anchor="ctr"/>
          <a:lstStyle/>
          <a:p>
            <a:pPr indent="0" marL="0">
              <a:buNone/>
            </a:pPr>
            <a:r>
              <a:rPr lang="en-US" sz="1500" b="1" dirty="0">
                <a:solidFill>
                  <a:schemeClr val="tx1"/>
                </a:solidFill>
              </a:rPr>
              <a:t>LGU / MDRRMO</a:t>
            </a:r>
            <a:endParaRPr lang="en-US" sz="1500" dirty="0"/>
          </a:p>
          <a:p>
            <a:pPr indent="0" marL="0">
              <a:buNone/>
            </a:pPr>
            <a:r>
              <a:rPr lang="en-US" sz="1500" dirty="0">
                <a:solidFill>
                  <a:schemeClr val="tx2"/>
                </a:solidFill>
              </a:rPr>
              <a:t>Rescue and response requests · CSV logs</a:t>
            </a:r>
            <a:endParaRPr lang="en-US" sz="1500" dirty="0"/>
          </a:p>
        </p:txBody>
      </p:sp>
      <p:sp>
        <p:nvSpPr>
          <p:cNvPr id="20" name="Text 12"/>
          <p:cNvSpPr txBox="1"/>
          <p:nvPr/>
        </p:nvSpPr>
        <p:spPr>
          <a:xfrm>
            <a:off x="5166360" y="5394960"/>
            <a:ext cx="6492240" cy="548640"/>
          </a:xfrm>
          <a:prstGeom prst="rect">
            <a:avLst/>
          </a:prstGeom>
          <a:noFill/>
          <a:ln/>
        </p:spPr>
        <p:txBody>
          <a:bodyPr wrap="square" lIns="0" tIns="0" rIns="0" bIns="0" rtlCol="0" anchor="ctr"/>
          <a:lstStyle/>
          <a:p>
            <a:pPr indent="0" marL="0">
              <a:buNone/>
            </a:pPr>
            <a:r>
              <a:rPr lang="en-US" sz="1400" i="1" dirty="0">
                <a:solidFill>
                  <a:schemeClr val="accent1"/>
                </a:solidFill>
              </a:rPr>
              <a:t>Different place names, event names, units and date formats: answering one cross-agency question takes weeks of manual reconciliation.</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5A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What decision makers need to know</a:t>
            </a:r>
            <a:endParaRPr lang="en-US" sz="3400" dirty="0"/>
          </a:p>
        </p:txBody>
      </p:sp>
      <p:sp>
        <p:nvSpPr>
          <p:cNvPr id="3" name="card"/>
          <p:cNvSpPr/>
          <p:nvPr/>
        </p:nvSpPr>
        <p:spPr>
          <a:xfrm>
            <a:off x="548640" y="1417320"/>
            <a:ext cx="3520440" cy="2103120"/>
          </a:xfrm>
          <a:prstGeom prst="roundRect">
            <a:avLst>
              <a:gd name="adj" fmla="val 5217"/>
            </a:avLst>
          </a:prstGeom>
          <a:solidFill>
            <a:schemeClr val="bg2"/>
          </a:solidFill>
          <a:ln/>
        </p:spPr>
      </p:sp>
      <p:sp>
        <p:nvSpPr>
          <p:cNvPr id="4" name="Where was it worst? circle"/>
          <p:cNvSpPr/>
          <p:nvPr/>
        </p:nvSpPr>
        <p:spPr>
          <a:xfrm>
            <a:off x="822960" y="1691640"/>
            <a:ext cx="566928" cy="566928"/>
          </a:xfrm>
          <a:prstGeom prst="ellipse">
            <a:avLst/>
          </a:prstGeom>
          <a:solidFill>
            <a:schemeClr val="accent1"/>
          </a:solidFill>
          <a:ln/>
        </p:spPr>
      </p:sp>
      <p:pic>
        <p:nvPicPr>
          <p:cNvPr id="5" name="Where was it worst? glyph" descr="preencoded.png">    </p:cNvPr>
          <p:cNvPicPr>
            <a:picLocks noChangeAspect="1"/>
          </p:cNvPicPr>
          <p:nvPr/>
        </p:nvPicPr>
        <p:blipFill>
          <a:blip r:embed="rId1"/>
          <a:stretch>
            <a:fillRect/>
          </a:stretch>
        </p:blipFill>
        <p:spPr>
          <a:xfrm>
            <a:off x="959023" y="1827703"/>
            <a:ext cx="294803" cy="294803"/>
          </a:xfrm>
          <a:prstGeom prst="rect">
            <a:avLst/>
          </a:prstGeom>
        </p:spPr>
      </p:pic>
      <p:sp>
        <p:nvSpPr>
          <p:cNvPr id="6" name="Text 3"/>
          <p:cNvSpPr txBox="1"/>
          <p:nvPr/>
        </p:nvSpPr>
        <p:spPr>
          <a:xfrm>
            <a:off x="822960" y="2331720"/>
            <a:ext cx="3017520" cy="411480"/>
          </a:xfrm>
          <a:prstGeom prst="rect">
            <a:avLst/>
          </a:prstGeom>
          <a:noFill/>
          <a:ln/>
        </p:spPr>
        <p:txBody>
          <a:bodyPr wrap="square" lIns="0" tIns="0" rIns="0" bIns="0" rtlCol="0" anchor="ctr"/>
          <a:lstStyle/>
          <a:p>
            <a:pPr indent="0" marL="0">
              <a:buNone/>
            </a:pPr>
            <a:r>
              <a:rPr lang="en-US" sz="1800" b="1" dirty="0">
                <a:solidFill>
                  <a:schemeClr val="tx1"/>
                </a:solidFill>
              </a:rPr>
              <a:t>Where was it worst?</a:t>
            </a:r>
            <a:endParaRPr lang="en-US" sz="1800" dirty="0"/>
          </a:p>
        </p:txBody>
      </p:sp>
      <p:sp>
        <p:nvSpPr>
          <p:cNvPr id="7" name="Text 4"/>
          <p:cNvSpPr txBox="1"/>
          <p:nvPr/>
        </p:nvSpPr>
        <p:spPr>
          <a:xfrm>
            <a:off x="822960" y="2743200"/>
            <a:ext cx="3017520" cy="685800"/>
          </a:xfrm>
          <a:prstGeom prst="rect">
            <a:avLst/>
          </a:prstGeom>
          <a:noFill/>
          <a:ln/>
        </p:spPr>
        <p:txBody>
          <a:bodyPr wrap="square" lIns="0" tIns="0" rIns="0" bIns="0" rtlCol="0" anchor="t"/>
          <a:lstStyle/>
          <a:p>
            <a:pPr indent="0" marL="0">
              <a:buNone/>
            </a:pPr>
            <a:r>
              <a:rPr lang="en-US" sz="1400" dirty="0">
                <a:solidFill>
                  <a:schemeClr val="tx2"/>
                </a:solidFill>
              </a:rPr>
              <a:t>Damage, deaths and people affected by event, region and province, also per 100,000 people</a:t>
            </a:r>
            <a:endParaRPr lang="en-US" sz="1400" dirty="0"/>
          </a:p>
        </p:txBody>
      </p:sp>
      <p:sp>
        <p:nvSpPr>
          <p:cNvPr id="8" name="card"/>
          <p:cNvSpPr/>
          <p:nvPr/>
        </p:nvSpPr>
        <p:spPr>
          <a:xfrm>
            <a:off x="4297680" y="1417320"/>
            <a:ext cx="3520440" cy="2103120"/>
          </a:xfrm>
          <a:prstGeom prst="roundRect">
            <a:avLst>
              <a:gd name="adj" fmla="val 5217"/>
            </a:avLst>
          </a:prstGeom>
          <a:solidFill>
            <a:schemeClr val="bg2"/>
          </a:solidFill>
          <a:ln/>
        </p:spPr>
      </p:sp>
      <p:sp>
        <p:nvSpPr>
          <p:cNvPr id="9" name="How many were displaced? circle"/>
          <p:cNvSpPr/>
          <p:nvPr/>
        </p:nvSpPr>
        <p:spPr>
          <a:xfrm>
            <a:off x="4572000" y="1691640"/>
            <a:ext cx="566928" cy="566928"/>
          </a:xfrm>
          <a:prstGeom prst="ellipse">
            <a:avLst/>
          </a:prstGeom>
          <a:solidFill>
            <a:schemeClr val="accent1"/>
          </a:solidFill>
          <a:ln/>
        </p:spPr>
      </p:sp>
      <p:pic>
        <p:nvPicPr>
          <p:cNvPr id="10" name="How many were displaced? glyph" descr="preencoded.png">    </p:cNvPr>
          <p:cNvPicPr>
            <a:picLocks noChangeAspect="1"/>
          </p:cNvPicPr>
          <p:nvPr/>
        </p:nvPicPr>
        <p:blipFill>
          <a:blip r:embed="rId2"/>
          <a:stretch>
            <a:fillRect/>
          </a:stretch>
        </p:blipFill>
        <p:spPr>
          <a:xfrm>
            <a:off x="4708063" y="1827703"/>
            <a:ext cx="294803" cy="294803"/>
          </a:xfrm>
          <a:prstGeom prst="rect">
            <a:avLst/>
          </a:prstGeom>
        </p:spPr>
      </p:pic>
      <p:sp>
        <p:nvSpPr>
          <p:cNvPr id="11" name="Text 7"/>
          <p:cNvSpPr txBox="1"/>
          <p:nvPr/>
        </p:nvSpPr>
        <p:spPr>
          <a:xfrm>
            <a:off x="4572000" y="2331720"/>
            <a:ext cx="3017520" cy="411480"/>
          </a:xfrm>
          <a:prstGeom prst="rect">
            <a:avLst/>
          </a:prstGeom>
          <a:noFill/>
          <a:ln/>
        </p:spPr>
        <p:txBody>
          <a:bodyPr wrap="square" lIns="0" tIns="0" rIns="0" bIns="0" rtlCol="0" anchor="ctr"/>
          <a:lstStyle/>
          <a:p>
            <a:pPr indent="0" marL="0">
              <a:buNone/>
            </a:pPr>
            <a:r>
              <a:rPr lang="en-US" sz="1800" b="1" dirty="0">
                <a:solidFill>
                  <a:schemeClr val="tx1"/>
                </a:solidFill>
              </a:rPr>
              <a:t>How many were displaced?</a:t>
            </a:r>
            <a:endParaRPr lang="en-US" sz="1800" dirty="0"/>
          </a:p>
        </p:txBody>
      </p:sp>
      <p:sp>
        <p:nvSpPr>
          <p:cNvPr id="12" name="Text 8"/>
          <p:cNvSpPr txBox="1"/>
          <p:nvPr/>
        </p:nvSpPr>
        <p:spPr>
          <a:xfrm>
            <a:off x="4572000" y="2743200"/>
            <a:ext cx="3017520" cy="685800"/>
          </a:xfrm>
          <a:prstGeom prst="rect">
            <a:avLst/>
          </a:prstGeom>
          <a:noFill/>
          <a:ln/>
        </p:spPr>
        <p:txBody>
          <a:bodyPr wrap="square" lIns="0" tIns="0" rIns="0" bIns="0" rtlCol="0" anchor="t"/>
          <a:lstStyle/>
          <a:p>
            <a:pPr indent="0" marL="0">
              <a:buNone/>
            </a:pPr>
            <a:r>
              <a:rPr lang="en-US" sz="1400" dirty="0">
                <a:solidFill>
                  <a:schemeClr val="tx2"/>
                </a:solidFill>
              </a:rPr>
              <a:t>Inside evacuation centers and outside them, day by day</a:t>
            </a:r>
            <a:endParaRPr lang="en-US" sz="1400" dirty="0"/>
          </a:p>
        </p:txBody>
      </p:sp>
      <p:sp>
        <p:nvSpPr>
          <p:cNvPr id="13" name="card"/>
          <p:cNvSpPr/>
          <p:nvPr/>
        </p:nvSpPr>
        <p:spPr>
          <a:xfrm>
            <a:off x="8046720" y="1417320"/>
            <a:ext cx="3520440" cy="2103120"/>
          </a:xfrm>
          <a:prstGeom prst="roundRect">
            <a:avLst>
              <a:gd name="adj" fmla="val 5217"/>
            </a:avLst>
          </a:prstGeom>
          <a:solidFill>
            <a:schemeClr val="bg2"/>
          </a:solidFill>
          <a:ln/>
        </p:spPr>
      </p:sp>
      <p:sp>
        <p:nvSpPr>
          <p:cNvPr id="14" name="How fast did help come? circle"/>
          <p:cNvSpPr/>
          <p:nvPr/>
        </p:nvSpPr>
        <p:spPr>
          <a:xfrm>
            <a:off x="8321040" y="1691640"/>
            <a:ext cx="566928" cy="566928"/>
          </a:xfrm>
          <a:prstGeom prst="ellipse">
            <a:avLst/>
          </a:prstGeom>
          <a:solidFill>
            <a:schemeClr val="accent1"/>
          </a:solidFill>
          <a:ln/>
        </p:spPr>
      </p:sp>
      <p:pic>
        <p:nvPicPr>
          <p:cNvPr id="15" name="How fast did help come? glyph" descr="preencoded.png">    </p:cNvPr>
          <p:cNvPicPr>
            <a:picLocks noChangeAspect="1"/>
          </p:cNvPicPr>
          <p:nvPr/>
        </p:nvPicPr>
        <p:blipFill>
          <a:blip r:embed="rId3"/>
          <a:stretch>
            <a:fillRect/>
          </a:stretch>
        </p:blipFill>
        <p:spPr>
          <a:xfrm>
            <a:off x="8457103" y="1827703"/>
            <a:ext cx="294803" cy="294803"/>
          </a:xfrm>
          <a:prstGeom prst="rect">
            <a:avLst/>
          </a:prstGeom>
        </p:spPr>
      </p:pic>
      <p:sp>
        <p:nvSpPr>
          <p:cNvPr id="16" name="Text 11"/>
          <p:cNvSpPr txBox="1"/>
          <p:nvPr/>
        </p:nvSpPr>
        <p:spPr>
          <a:xfrm>
            <a:off x="8321040" y="2331720"/>
            <a:ext cx="3017520" cy="411480"/>
          </a:xfrm>
          <a:prstGeom prst="rect">
            <a:avLst/>
          </a:prstGeom>
          <a:noFill/>
          <a:ln/>
        </p:spPr>
        <p:txBody>
          <a:bodyPr wrap="square" lIns="0" tIns="0" rIns="0" bIns="0" rtlCol="0" anchor="ctr"/>
          <a:lstStyle/>
          <a:p>
            <a:pPr indent="0" marL="0">
              <a:buNone/>
            </a:pPr>
            <a:r>
              <a:rPr lang="en-US" sz="1800" b="1" dirty="0">
                <a:solidFill>
                  <a:schemeClr val="tx1"/>
                </a:solidFill>
              </a:rPr>
              <a:t>How fast did help come?</a:t>
            </a:r>
            <a:endParaRPr lang="en-US" sz="1800" dirty="0"/>
          </a:p>
        </p:txBody>
      </p:sp>
      <p:sp>
        <p:nvSpPr>
          <p:cNvPr id="17" name="Text 12"/>
          <p:cNvSpPr txBox="1"/>
          <p:nvPr/>
        </p:nvSpPr>
        <p:spPr>
          <a:xfrm>
            <a:off x="8321040" y="2743200"/>
            <a:ext cx="3017520" cy="685800"/>
          </a:xfrm>
          <a:prstGeom prst="rect">
            <a:avLst/>
          </a:prstGeom>
          <a:noFill/>
          <a:ln/>
        </p:spPr>
        <p:txBody>
          <a:bodyPr wrap="square" lIns="0" tIns="0" rIns="0" bIns="0" rtlCol="0" anchor="t"/>
          <a:lstStyle/>
          <a:p>
            <a:pPr indent="0" marL="0">
              <a:buNone/>
            </a:pPr>
            <a:r>
              <a:rPr lang="en-US" sz="1400" dirty="0">
                <a:solidFill>
                  <a:schemeClr val="tx2"/>
                </a:solidFill>
              </a:rPr>
              <a:t>Dispatch and arrival times by request type and priority</a:t>
            </a:r>
            <a:endParaRPr lang="en-US" sz="1400" dirty="0"/>
          </a:p>
        </p:txBody>
      </p:sp>
      <p:sp>
        <p:nvSpPr>
          <p:cNvPr id="18" name="card"/>
          <p:cNvSpPr/>
          <p:nvPr/>
        </p:nvSpPr>
        <p:spPr>
          <a:xfrm>
            <a:off x="548640" y="3749040"/>
            <a:ext cx="3520440" cy="2103120"/>
          </a:xfrm>
          <a:prstGeom prst="roundRect">
            <a:avLst>
              <a:gd name="adj" fmla="val 5217"/>
            </a:avLst>
          </a:prstGeom>
          <a:solidFill>
            <a:schemeClr val="bg2"/>
          </a:solidFill>
          <a:ln/>
        </p:spPr>
      </p:sp>
      <p:sp>
        <p:nvSpPr>
          <p:cNvPr id="19" name="Did relief match need? circle"/>
          <p:cNvSpPr/>
          <p:nvPr/>
        </p:nvSpPr>
        <p:spPr>
          <a:xfrm>
            <a:off x="822960" y="4023360"/>
            <a:ext cx="566928" cy="566928"/>
          </a:xfrm>
          <a:prstGeom prst="ellipse">
            <a:avLst/>
          </a:prstGeom>
          <a:solidFill>
            <a:schemeClr val="accent1"/>
          </a:solidFill>
          <a:ln/>
        </p:spPr>
      </p:sp>
      <p:pic>
        <p:nvPicPr>
          <p:cNvPr id="20" name="Did relief match need? glyph" descr="preencoded.png">    </p:cNvPr>
          <p:cNvPicPr>
            <a:picLocks noChangeAspect="1"/>
          </p:cNvPicPr>
          <p:nvPr/>
        </p:nvPicPr>
        <p:blipFill>
          <a:blip r:embed="rId4"/>
          <a:stretch>
            <a:fillRect/>
          </a:stretch>
        </p:blipFill>
        <p:spPr>
          <a:xfrm>
            <a:off x="959023" y="4159423"/>
            <a:ext cx="294803" cy="294803"/>
          </a:xfrm>
          <a:prstGeom prst="rect">
            <a:avLst/>
          </a:prstGeom>
        </p:spPr>
      </p:pic>
      <p:sp>
        <p:nvSpPr>
          <p:cNvPr id="21" name="Text 15"/>
          <p:cNvSpPr txBox="1"/>
          <p:nvPr/>
        </p:nvSpPr>
        <p:spPr>
          <a:xfrm>
            <a:off x="822960" y="4663440"/>
            <a:ext cx="3017520" cy="411480"/>
          </a:xfrm>
          <a:prstGeom prst="rect">
            <a:avLst/>
          </a:prstGeom>
          <a:noFill/>
          <a:ln/>
        </p:spPr>
        <p:txBody>
          <a:bodyPr wrap="square" lIns="0" tIns="0" rIns="0" bIns="0" rtlCol="0" anchor="ctr"/>
          <a:lstStyle/>
          <a:p>
            <a:pPr indent="0" marL="0">
              <a:buNone/>
            </a:pPr>
            <a:r>
              <a:rPr lang="en-US" sz="1800" b="1" dirty="0">
                <a:solidFill>
                  <a:schemeClr val="tx1"/>
                </a:solidFill>
              </a:rPr>
              <a:t>Did relief match need?</a:t>
            </a:r>
            <a:endParaRPr lang="en-US" sz="1800" dirty="0"/>
          </a:p>
        </p:txBody>
      </p:sp>
      <p:sp>
        <p:nvSpPr>
          <p:cNvPr id="22" name="Text 16"/>
          <p:cNvSpPr txBox="1"/>
          <p:nvPr/>
        </p:nvSpPr>
        <p:spPr>
          <a:xfrm>
            <a:off x="822960" y="5074920"/>
            <a:ext cx="3017520" cy="685800"/>
          </a:xfrm>
          <a:prstGeom prst="rect">
            <a:avLst/>
          </a:prstGeom>
          <a:noFill/>
          <a:ln/>
        </p:spPr>
        <p:txBody>
          <a:bodyPr wrap="square" lIns="0" tIns="0" rIns="0" bIns="0" rtlCol="0" anchor="t"/>
          <a:lstStyle/>
          <a:p>
            <a:pPr indent="0" marL="0">
              <a:buNone/>
            </a:pPr>
            <a:r>
              <a:rPr lang="en-US" sz="1400" dirty="0">
                <a:solidFill>
                  <a:schemeClr val="tx2"/>
                </a:solidFill>
              </a:rPr>
              <a:t>Relief per affected person, and who provided it</a:t>
            </a:r>
            <a:endParaRPr lang="en-US" sz="1400" dirty="0"/>
          </a:p>
        </p:txBody>
      </p:sp>
      <p:sp>
        <p:nvSpPr>
          <p:cNvPr id="23" name="card"/>
          <p:cNvSpPr/>
          <p:nvPr/>
        </p:nvSpPr>
        <p:spPr>
          <a:xfrm>
            <a:off x="4297680" y="3749040"/>
            <a:ext cx="3520440" cy="2103120"/>
          </a:xfrm>
          <a:prstGeom prst="roundRect">
            <a:avLst>
              <a:gd name="adj" fmla="val 5217"/>
            </a:avLst>
          </a:prstGeom>
          <a:solidFill>
            <a:schemeClr val="bg2"/>
          </a:solidFill>
          <a:ln/>
        </p:spPr>
      </p:sp>
      <p:sp>
        <p:nvSpPr>
          <p:cNvPr id="24" name="When did lifelines return? circle"/>
          <p:cNvSpPr/>
          <p:nvPr/>
        </p:nvSpPr>
        <p:spPr>
          <a:xfrm>
            <a:off x="4572000" y="4023360"/>
            <a:ext cx="566928" cy="566928"/>
          </a:xfrm>
          <a:prstGeom prst="ellipse">
            <a:avLst/>
          </a:prstGeom>
          <a:solidFill>
            <a:schemeClr val="accent1"/>
          </a:solidFill>
          <a:ln/>
        </p:spPr>
      </p:sp>
      <p:pic>
        <p:nvPicPr>
          <p:cNvPr id="25" name="When did lifelines return? glyph" descr="preencoded.png">    </p:cNvPr>
          <p:cNvPicPr>
            <a:picLocks noChangeAspect="1"/>
          </p:cNvPicPr>
          <p:nvPr/>
        </p:nvPicPr>
        <p:blipFill>
          <a:blip r:embed="rId5"/>
          <a:stretch>
            <a:fillRect/>
          </a:stretch>
        </p:blipFill>
        <p:spPr>
          <a:xfrm>
            <a:off x="4708063" y="4159423"/>
            <a:ext cx="294803" cy="294803"/>
          </a:xfrm>
          <a:prstGeom prst="rect">
            <a:avLst/>
          </a:prstGeom>
        </p:spPr>
      </p:pic>
      <p:sp>
        <p:nvSpPr>
          <p:cNvPr id="26" name="Text 19"/>
          <p:cNvSpPr txBox="1"/>
          <p:nvPr/>
        </p:nvSpPr>
        <p:spPr>
          <a:xfrm>
            <a:off x="4572000" y="4663440"/>
            <a:ext cx="3017520" cy="411480"/>
          </a:xfrm>
          <a:prstGeom prst="rect">
            <a:avLst/>
          </a:prstGeom>
          <a:noFill/>
          <a:ln/>
        </p:spPr>
        <p:txBody>
          <a:bodyPr wrap="square" lIns="0" tIns="0" rIns="0" bIns="0" rtlCol="0" anchor="ctr"/>
          <a:lstStyle/>
          <a:p>
            <a:pPr indent="0" marL="0">
              <a:buNone/>
            </a:pPr>
            <a:r>
              <a:rPr lang="en-US" sz="1800" b="1" dirty="0">
                <a:solidFill>
                  <a:schemeClr val="tx1"/>
                </a:solidFill>
              </a:rPr>
              <a:t>When did lifelines return?</a:t>
            </a:r>
            <a:endParaRPr lang="en-US" sz="1800" dirty="0"/>
          </a:p>
        </p:txBody>
      </p:sp>
      <p:sp>
        <p:nvSpPr>
          <p:cNvPr id="27" name="Text 20"/>
          <p:cNvSpPr txBox="1"/>
          <p:nvPr/>
        </p:nvSpPr>
        <p:spPr>
          <a:xfrm>
            <a:off x="4572000" y="5074920"/>
            <a:ext cx="3017520" cy="685800"/>
          </a:xfrm>
          <a:prstGeom prst="rect">
            <a:avLst/>
          </a:prstGeom>
          <a:noFill/>
          <a:ln/>
        </p:spPr>
        <p:txBody>
          <a:bodyPr wrap="square" lIns="0" tIns="0" rIns="0" bIns="0" rtlCol="0" anchor="t"/>
          <a:lstStyle/>
          <a:p>
            <a:pPr indent="0" marL="0">
              <a:buNone/>
            </a:pPr>
            <a:r>
              <a:rPr lang="en-US" sz="1400" dirty="0">
                <a:solidFill>
                  <a:schemeClr val="tx2"/>
                </a:solidFill>
              </a:rPr>
              <a:t>Roads, bridges, power, water and communications restoration</a:t>
            </a:r>
            <a:endParaRPr lang="en-US" sz="1400" dirty="0"/>
          </a:p>
        </p:txBody>
      </p:sp>
      <p:sp>
        <p:nvSpPr>
          <p:cNvPr id="28" name="card"/>
          <p:cNvSpPr/>
          <p:nvPr/>
        </p:nvSpPr>
        <p:spPr>
          <a:xfrm>
            <a:off x="8046720" y="3749040"/>
            <a:ext cx="3520440" cy="2103120"/>
          </a:xfrm>
          <a:prstGeom prst="roundRect">
            <a:avLst>
              <a:gd name="adj" fmla="val 5217"/>
            </a:avLst>
          </a:prstGeom>
          <a:solidFill>
            <a:schemeClr val="bg2"/>
          </a:solidFill>
          <a:ln/>
        </p:spPr>
      </p:sp>
      <p:sp>
        <p:nvSpPr>
          <p:cNvPr id="29" name="Can we trust the numbers? circle"/>
          <p:cNvSpPr/>
          <p:nvPr/>
        </p:nvSpPr>
        <p:spPr>
          <a:xfrm>
            <a:off x="8321040" y="4023360"/>
            <a:ext cx="566928" cy="566928"/>
          </a:xfrm>
          <a:prstGeom prst="ellipse">
            <a:avLst/>
          </a:prstGeom>
          <a:solidFill>
            <a:schemeClr val="accent1"/>
          </a:solidFill>
          <a:ln/>
        </p:spPr>
      </p:sp>
      <p:pic>
        <p:nvPicPr>
          <p:cNvPr id="30" name="Can we trust the numbers? glyph" descr="preencoded.png">    </p:cNvPr>
          <p:cNvPicPr>
            <a:picLocks noChangeAspect="1"/>
          </p:cNvPicPr>
          <p:nvPr/>
        </p:nvPicPr>
        <p:blipFill>
          <a:blip r:embed="rId6"/>
          <a:stretch>
            <a:fillRect/>
          </a:stretch>
        </p:blipFill>
        <p:spPr>
          <a:xfrm>
            <a:off x="8457103" y="4159423"/>
            <a:ext cx="294803" cy="294803"/>
          </a:xfrm>
          <a:prstGeom prst="rect">
            <a:avLst/>
          </a:prstGeom>
        </p:spPr>
      </p:pic>
      <p:sp>
        <p:nvSpPr>
          <p:cNvPr id="31" name="Text 23"/>
          <p:cNvSpPr txBox="1"/>
          <p:nvPr/>
        </p:nvSpPr>
        <p:spPr>
          <a:xfrm>
            <a:off x="8321040" y="4663440"/>
            <a:ext cx="3017520" cy="411480"/>
          </a:xfrm>
          <a:prstGeom prst="rect">
            <a:avLst/>
          </a:prstGeom>
          <a:noFill/>
          <a:ln/>
        </p:spPr>
        <p:txBody>
          <a:bodyPr wrap="square" lIns="0" tIns="0" rIns="0" bIns="0" rtlCol="0" anchor="ctr"/>
          <a:lstStyle/>
          <a:p>
            <a:pPr indent="0" marL="0">
              <a:buNone/>
            </a:pPr>
            <a:r>
              <a:rPr lang="en-US" sz="1800" b="1" dirty="0">
                <a:solidFill>
                  <a:schemeClr val="tx1"/>
                </a:solidFill>
              </a:rPr>
              <a:t>Can we trust the numbers?</a:t>
            </a:r>
            <a:endParaRPr lang="en-US" sz="1800" dirty="0"/>
          </a:p>
        </p:txBody>
      </p:sp>
      <p:sp>
        <p:nvSpPr>
          <p:cNvPr id="32" name="Text 24"/>
          <p:cNvSpPr txBox="1"/>
          <p:nvPr/>
        </p:nvSpPr>
        <p:spPr>
          <a:xfrm>
            <a:off x="8321040" y="5074920"/>
            <a:ext cx="3017520" cy="685800"/>
          </a:xfrm>
          <a:prstGeom prst="rect">
            <a:avLst/>
          </a:prstGeom>
          <a:noFill/>
          <a:ln/>
        </p:spPr>
        <p:txBody>
          <a:bodyPr wrap="square" lIns="0" tIns="0" rIns="0" bIns="0" rtlCol="0" anchor="t"/>
          <a:lstStyle/>
          <a:p>
            <a:pPr indent="0" marL="0">
              <a:buNone/>
            </a:pPr>
            <a:r>
              <a:rPr lang="en-US" sz="1400" dirty="0">
                <a:solidFill>
                  <a:schemeClr val="tx2"/>
                </a:solidFill>
              </a:rPr>
              <a:t>Every rejected record traced to its source file and row</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5A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DRIW at a glance</a:t>
            </a:r>
            <a:endParaRPr lang="en-US" sz="3400" dirty="0"/>
          </a:p>
        </p:txBody>
      </p:sp>
      <p:sp>
        <p:nvSpPr>
          <p:cNvPr id="3" name="card"/>
          <p:cNvSpPr/>
          <p:nvPr/>
        </p:nvSpPr>
        <p:spPr>
          <a:xfrm>
            <a:off x="548640" y="1508760"/>
            <a:ext cx="1737360" cy="3108960"/>
          </a:xfrm>
          <a:prstGeom prst="roundRect">
            <a:avLst>
              <a:gd name="adj" fmla="val 6316"/>
            </a:avLst>
          </a:prstGeom>
          <a:solidFill>
            <a:schemeClr val="bg2"/>
          </a:solidFill>
          <a:ln/>
        </p:spPr>
      </p:sp>
      <p:sp>
        <p:nvSpPr>
          <p:cNvPr id="4" name="Sources circle"/>
          <p:cNvSpPr/>
          <p:nvPr/>
        </p:nvSpPr>
        <p:spPr>
          <a:xfrm>
            <a:off x="1097280" y="1874520"/>
            <a:ext cx="640080" cy="640080"/>
          </a:xfrm>
          <a:prstGeom prst="ellipse">
            <a:avLst/>
          </a:prstGeom>
          <a:solidFill>
            <a:schemeClr val="accent1"/>
          </a:solidFill>
          <a:ln/>
        </p:spPr>
      </p:sp>
      <p:pic>
        <p:nvPicPr>
          <p:cNvPr id="5" name="Sources glyph" descr="preencoded.png">    </p:cNvPr>
          <p:cNvPicPr>
            <a:picLocks noChangeAspect="1"/>
          </p:cNvPicPr>
          <p:nvPr/>
        </p:nvPicPr>
        <p:blipFill>
          <a:blip r:embed="rId1"/>
          <a:stretch>
            <a:fillRect/>
          </a:stretch>
        </p:blipFill>
        <p:spPr>
          <a:xfrm>
            <a:off x="1250899" y="2028139"/>
            <a:ext cx="332842" cy="332842"/>
          </a:xfrm>
          <a:prstGeom prst="rect">
            <a:avLst/>
          </a:prstGeom>
        </p:spPr>
      </p:pic>
      <p:sp>
        <p:nvSpPr>
          <p:cNvPr id="6" name="Text 3"/>
          <p:cNvSpPr txBox="1"/>
          <p:nvPr/>
        </p:nvSpPr>
        <p:spPr>
          <a:xfrm>
            <a:off x="640080" y="2697480"/>
            <a:ext cx="1554480" cy="457200"/>
          </a:xfrm>
          <a:prstGeom prst="rect">
            <a:avLst/>
          </a:prstGeom>
          <a:noFill/>
          <a:ln/>
        </p:spPr>
        <p:txBody>
          <a:bodyPr wrap="square" lIns="0" tIns="0" rIns="0" bIns="0" rtlCol="0" anchor="ctr"/>
          <a:lstStyle/>
          <a:p>
            <a:pPr algn="ctr" indent="0" marL="0">
              <a:buNone/>
            </a:pPr>
            <a:r>
              <a:rPr lang="en-US" sz="2000" b="1" dirty="0">
                <a:solidFill>
                  <a:schemeClr val="tx1"/>
                </a:solidFill>
              </a:rPr>
              <a:t>Sources</a:t>
            </a:r>
            <a:endParaRPr lang="en-US" sz="2000" dirty="0"/>
          </a:p>
        </p:txBody>
      </p:sp>
      <p:sp>
        <p:nvSpPr>
          <p:cNvPr id="7" name="Text 4"/>
          <p:cNvSpPr txBox="1"/>
          <p:nvPr/>
        </p:nvSpPr>
        <p:spPr>
          <a:xfrm>
            <a:off x="685800" y="3154680"/>
            <a:ext cx="1463040" cy="1280160"/>
          </a:xfrm>
          <a:prstGeom prst="rect">
            <a:avLst/>
          </a:prstGeom>
          <a:noFill/>
          <a:ln/>
        </p:spPr>
        <p:txBody>
          <a:bodyPr wrap="square" lIns="0" tIns="0" rIns="0" bIns="0" rtlCol="0" anchor="t"/>
          <a:lstStyle/>
          <a:p>
            <a:pPr algn="ctr" indent="0" marL="0">
              <a:buNone/>
            </a:pPr>
            <a:r>
              <a:rPr lang="en-US" sz="1400" dirty="0">
                <a:solidFill>
                  <a:schemeClr val="tx2"/>
                </a:solidFill>
              </a:rPr>
              <a:t>CSV, Excel, JSON from 5 agencies</a:t>
            </a:r>
            <a:endParaRPr lang="en-US" sz="1400" dirty="0"/>
          </a:p>
        </p:txBody>
      </p:sp>
      <p:sp>
        <p:nvSpPr>
          <p:cNvPr id="8" name="flow arrow"/>
          <p:cNvSpPr/>
          <p:nvPr/>
        </p:nvSpPr>
        <p:spPr>
          <a:xfrm rot="5400000">
            <a:off x="2286000" y="2990088"/>
            <a:ext cx="182880" cy="146304"/>
          </a:xfrm>
          <a:prstGeom prst="triangle">
            <a:avLst/>
          </a:prstGeom>
          <a:solidFill>
            <a:schemeClr val="accent1"/>
          </a:solidFill>
          <a:ln/>
        </p:spPr>
      </p:sp>
      <p:sp>
        <p:nvSpPr>
          <p:cNvPr id="9" name="card"/>
          <p:cNvSpPr/>
          <p:nvPr/>
        </p:nvSpPr>
        <p:spPr>
          <a:xfrm>
            <a:off x="2450592" y="1508760"/>
            <a:ext cx="1737360" cy="3108960"/>
          </a:xfrm>
          <a:prstGeom prst="roundRect">
            <a:avLst>
              <a:gd name="adj" fmla="val 6316"/>
            </a:avLst>
          </a:prstGeom>
          <a:solidFill>
            <a:schemeClr val="tx1"/>
          </a:solidFill>
          <a:ln/>
        </p:spPr>
      </p:sp>
      <p:sp>
        <p:nvSpPr>
          <p:cNvPr id="10" name="raw circle"/>
          <p:cNvSpPr/>
          <p:nvPr/>
        </p:nvSpPr>
        <p:spPr>
          <a:xfrm>
            <a:off x="2999232" y="1874520"/>
            <a:ext cx="640080" cy="640080"/>
          </a:xfrm>
          <a:prstGeom prst="ellipse">
            <a:avLst/>
          </a:prstGeom>
          <a:solidFill>
            <a:schemeClr val="accent1"/>
          </a:solidFill>
          <a:ln/>
        </p:spPr>
      </p:sp>
      <p:pic>
        <p:nvPicPr>
          <p:cNvPr id="11" name="raw glyph" descr="preencoded.png">    </p:cNvPr>
          <p:cNvPicPr>
            <a:picLocks noChangeAspect="1"/>
          </p:cNvPicPr>
          <p:nvPr/>
        </p:nvPicPr>
        <p:blipFill>
          <a:blip r:embed="rId2"/>
          <a:stretch>
            <a:fillRect/>
          </a:stretch>
        </p:blipFill>
        <p:spPr>
          <a:xfrm>
            <a:off x="3152851" y="2028139"/>
            <a:ext cx="332842" cy="332842"/>
          </a:xfrm>
          <a:prstGeom prst="rect">
            <a:avLst/>
          </a:prstGeom>
        </p:spPr>
      </p:pic>
      <p:sp>
        <p:nvSpPr>
          <p:cNvPr id="12" name="Text 8"/>
          <p:cNvSpPr txBox="1"/>
          <p:nvPr/>
        </p:nvSpPr>
        <p:spPr>
          <a:xfrm>
            <a:off x="2542032" y="2697480"/>
            <a:ext cx="1554480" cy="457200"/>
          </a:xfrm>
          <a:prstGeom prst="rect">
            <a:avLst/>
          </a:prstGeom>
          <a:noFill/>
          <a:ln/>
        </p:spPr>
        <p:txBody>
          <a:bodyPr wrap="square" lIns="0" tIns="0" rIns="0" bIns="0" rtlCol="0" anchor="ctr"/>
          <a:lstStyle/>
          <a:p>
            <a:pPr algn="ctr" indent="0" marL="0">
              <a:buNone/>
            </a:pPr>
            <a:r>
              <a:rPr lang="en-US" sz="2000" b="1" dirty="0">
                <a:solidFill>
                  <a:schemeClr val="bg1"/>
                </a:solidFill>
              </a:rPr>
              <a:t>raw</a:t>
            </a:r>
            <a:endParaRPr lang="en-US" sz="2000" dirty="0"/>
          </a:p>
        </p:txBody>
      </p:sp>
      <p:sp>
        <p:nvSpPr>
          <p:cNvPr id="13" name="Text 9"/>
          <p:cNvSpPr txBox="1"/>
          <p:nvPr/>
        </p:nvSpPr>
        <p:spPr>
          <a:xfrm>
            <a:off x="2587752" y="3154680"/>
            <a:ext cx="1463040" cy="1280160"/>
          </a:xfrm>
          <a:prstGeom prst="rect">
            <a:avLst/>
          </a:prstGeom>
          <a:noFill/>
          <a:ln/>
        </p:spPr>
        <p:txBody>
          <a:bodyPr wrap="square" lIns="0" tIns="0" rIns="0" bIns="0" rtlCol="0" anchor="t"/>
          <a:lstStyle/>
          <a:p>
            <a:pPr algn="ctr" indent="0" marL="0">
              <a:buNone/>
            </a:pPr>
            <a:r>
              <a:rPr lang="en-US" sz="1400" dirty="0">
                <a:solidFill>
                  <a:schemeClr val="bg2"/>
                </a:solidFill>
              </a:rPr>
              <a:t>Landed as received, with lineage</a:t>
            </a:r>
            <a:endParaRPr lang="en-US" sz="1400" dirty="0"/>
          </a:p>
        </p:txBody>
      </p:sp>
      <p:sp>
        <p:nvSpPr>
          <p:cNvPr id="14" name="flow arrow"/>
          <p:cNvSpPr/>
          <p:nvPr/>
        </p:nvSpPr>
        <p:spPr>
          <a:xfrm rot="5400000">
            <a:off x="4187952" y="2990088"/>
            <a:ext cx="182880" cy="146304"/>
          </a:xfrm>
          <a:prstGeom prst="triangle">
            <a:avLst/>
          </a:prstGeom>
          <a:solidFill>
            <a:schemeClr val="accent1"/>
          </a:solidFill>
          <a:ln/>
        </p:spPr>
      </p:sp>
      <p:sp>
        <p:nvSpPr>
          <p:cNvPr id="15" name="card"/>
          <p:cNvSpPr/>
          <p:nvPr/>
        </p:nvSpPr>
        <p:spPr>
          <a:xfrm>
            <a:off x="4352544" y="1508760"/>
            <a:ext cx="1737360" cy="3108960"/>
          </a:xfrm>
          <a:prstGeom prst="roundRect">
            <a:avLst>
              <a:gd name="adj" fmla="val 6316"/>
            </a:avLst>
          </a:prstGeom>
          <a:solidFill>
            <a:schemeClr val="tx1"/>
          </a:solidFill>
          <a:ln/>
        </p:spPr>
      </p:sp>
      <p:sp>
        <p:nvSpPr>
          <p:cNvPr id="16" name="staging circle"/>
          <p:cNvSpPr/>
          <p:nvPr/>
        </p:nvSpPr>
        <p:spPr>
          <a:xfrm>
            <a:off x="4901184" y="1874520"/>
            <a:ext cx="640080" cy="640080"/>
          </a:xfrm>
          <a:prstGeom prst="ellipse">
            <a:avLst/>
          </a:prstGeom>
          <a:solidFill>
            <a:schemeClr val="accent1"/>
          </a:solidFill>
          <a:ln/>
        </p:spPr>
      </p:sp>
      <p:pic>
        <p:nvPicPr>
          <p:cNvPr id="17" name="staging glyph" descr="preencoded.png">    </p:cNvPr>
          <p:cNvPicPr>
            <a:picLocks noChangeAspect="1"/>
          </p:cNvPicPr>
          <p:nvPr/>
        </p:nvPicPr>
        <p:blipFill>
          <a:blip r:embed="rId3"/>
          <a:stretch>
            <a:fillRect/>
          </a:stretch>
        </p:blipFill>
        <p:spPr>
          <a:xfrm>
            <a:off x="5054803" y="2028139"/>
            <a:ext cx="332842" cy="332842"/>
          </a:xfrm>
          <a:prstGeom prst="rect">
            <a:avLst/>
          </a:prstGeom>
        </p:spPr>
      </p:pic>
      <p:sp>
        <p:nvSpPr>
          <p:cNvPr id="18" name="Text 13"/>
          <p:cNvSpPr txBox="1"/>
          <p:nvPr/>
        </p:nvSpPr>
        <p:spPr>
          <a:xfrm>
            <a:off x="4443984" y="2697480"/>
            <a:ext cx="1554480" cy="457200"/>
          </a:xfrm>
          <a:prstGeom prst="rect">
            <a:avLst/>
          </a:prstGeom>
          <a:noFill/>
          <a:ln/>
        </p:spPr>
        <p:txBody>
          <a:bodyPr wrap="square" lIns="0" tIns="0" rIns="0" bIns="0" rtlCol="0" anchor="ctr"/>
          <a:lstStyle/>
          <a:p>
            <a:pPr algn="ctr" indent="0" marL="0">
              <a:buNone/>
            </a:pPr>
            <a:r>
              <a:rPr lang="en-US" sz="2000" b="1" dirty="0">
                <a:solidFill>
                  <a:schemeClr val="bg1"/>
                </a:solidFill>
              </a:rPr>
              <a:t>staging</a:t>
            </a:r>
            <a:endParaRPr lang="en-US" sz="2000" dirty="0"/>
          </a:p>
        </p:txBody>
      </p:sp>
      <p:sp>
        <p:nvSpPr>
          <p:cNvPr id="19" name="Text 14"/>
          <p:cNvSpPr txBox="1"/>
          <p:nvPr/>
        </p:nvSpPr>
        <p:spPr>
          <a:xfrm>
            <a:off x="4489704" y="3154680"/>
            <a:ext cx="1463040" cy="1280160"/>
          </a:xfrm>
          <a:prstGeom prst="rect">
            <a:avLst/>
          </a:prstGeom>
          <a:noFill/>
          <a:ln/>
        </p:spPr>
        <p:txBody>
          <a:bodyPr wrap="square" lIns="0" tIns="0" rIns="0" bIns="0" rtlCol="0" anchor="t"/>
          <a:lstStyle/>
          <a:p>
            <a:pPr algn="ctr" indent="0" marL="0">
              <a:buNone/>
            </a:pPr>
            <a:r>
              <a:rPr lang="en-US" sz="1400" dirty="0">
                <a:solidFill>
                  <a:schemeClr val="bg2"/>
                </a:solidFill>
              </a:rPr>
              <a:t>Cleaned, conformed, 45 quality rules</a:t>
            </a:r>
            <a:endParaRPr lang="en-US" sz="1400" dirty="0"/>
          </a:p>
        </p:txBody>
      </p:sp>
      <p:sp>
        <p:nvSpPr>
          <p:cNvPr id="20" name="flow arrow"/>
          <p:cNvSpPr/>
          <p:nvPr/>
        </p:nvSpPr>
        <p:spPr>
          <a:xfrm rot="5400000">
            <a:off x="6089904" y="2990088"/>
            <a:ext cx="182880" cy="146304"/>
          </a:xfrm>
          <a:prstGeom prst="triangle">
            <a:avLst/>
          </a:prstGeom>
          <a:solidFill>
            <a:schemeClr val="accent1"/>
          </a:solidFill>
          <a:ln/>
        </p:spPr>
      </p:sp>
      <p:sp>
        <p:nvSpPr>
          <p:cNvPr id="21" name="card"/>
          <p:cNvSpPr/>
          <p:nvPr/>
        </p:nvSpPr>
        <p:spPr>
          <a:xfrm>
            <a:off x="6254496" y="1508760"/>
            <a:ext cx="1737360" cy="3108960"/>
          </a:xfrm>
          <a:prstGeom prst="roundRect">
            <a:avLst>
              <a:gd name="adj" fmla="val 6316"/>
            </a:avLst>
          </a:prstGeom>
          <a:solidFill>
            <a:schemeClr val="tx1"/>
          </a:solidFill>
          <a:ln/>
        </p:spPr>
      </p:sp>
      <p:sp>
        <p:nvSpPr>
          <p:cNvPr id="22" name="dw circle"/>
          <p:cNvSpPr/>
          <p:nvPr/>
        </p:nvSpPr>
        <p:spPr>
          <a:xfrm>
            <a:off x="6803136" y="1874520"/>
            <a:ext cx="640080" cy="640080"/>
          </a:xfrm>
          <a:prstGeom prst="ellipse">
            <a:avLst/>
          </a:prstGeom>
          <a:solidFill>
            <a:schemeClr val="accent1"/>
          </a:solidFill>
          <a:ln/>
        </p:spPr>
      </p:sp>
      <p:pic>
        <p:nvPicPr>
          <p:cNvPr id="23" name="dw glyph" descr="preencoded.png">    </p:cNvPr>
          <p:cNvPicPr>
            <a:picLocks noChangeAspect="1"/>
          </p:cNvPicPr>
          <p:nvPr/>
        </p:nvPicPr>
        <p:blipFill>
          <a:blip r:embed="rId4"/>
          <a:stretch>
            <a:fillRect/>
          </a:stretch>
        </p:blipFill>
        <p:spPr>
          <a:xfrm>
            <a:off x="6956755" y="2028139"/>
            <a:ext cx="332842" cy="332842"/>
          </a:xfrm>
          <a:prstGeom prst="rect">
            <a:avLst/>
          </a:prstGeom>
        </p:spPr>
      </p:pic>
      <p:sp>
        <p:nvSpPr>
          <p:cNvPr id="24" name="Text 18"/>
          <p:cNvSpPr txBox="1"/>
          <p:nvPr/>
        </p:nvSpPr>
        <p:spPr>
          <a:xfrm>
            <a:off x="6345936" y="2697480"/>
            <a:ext cx="1554480" cy="457200"/>
          </a:xfrm>
          <a:prstGeom prst="rect">
            <a:avLst/>
          </a:prstGeom>
          <a:noFill/>
          <a:ln/>
        </p:spPr>
        <p:txBody>
          <a:bodyPr wrap="square" lIns="0" tIns="0" rIns="0" bIns="0" rtlCol="0" anchor="ctr"/>
          <a:lstStyle/>
          <a:p>
            <a:pPr algn="ctr" indent="0" marL="0">
              <a:buNone/>
            </a:pPr>
            <a:r>
              <a:rPr lang="en-US" sz="2000" b="1" dirty="0">
                <a:solidFill>
                  <a:schemeClr val="bg1"/>
                </a:solidFill>
              </a:rPr>
              <a:t>dw</a:t>
            </a:r>
            <a:endParaRPr lang="en-US" sz="2000" dirty="0"/>
          </a:p>
        </p:txBody>
      </p:sp>
      <p:sp>
        <p:nvSpPr>
          <p:cNvPr id="25" name="Text 19"/>
          <p:cNvSpPr txBox="1"/>
          <p:nvPr/>
        </p:nvSpPr>
        <p:spPr>
          <a:xfrm>
            <a:off x="6391656" y="3154680"/>
            <a:ext cx="1463040" cy="1280160"/>
          </a:xfrm>
          <a:prstGeom prst="rect">
            <a:avLst/>
          </a:prstGeom>
          <a:noFill/>
          <a:ln/>
        </p:spPr>
        <p:txBody>
          <a:bodyPr wrap="square" lIns="0" tIns="0" rIns="0" bIns="0" rtlCol="0" anchor="t"/>
          <a:lstStyle/>
          <a:p>
            <a:pPr algn="ctr" indent="0" marL="0">
              <a:buNone/>
            </a:pPr>
            <a:r>
              <a:rPr lang="en-US" sz="1400" dirty="0">
                <a:solidFill>
                  <a:schemeClr val="bg2"/>
                </a:solidFill>
              </a:rPr>
              <a:t>Star schema: 6 facts, 10 dimensions</a:t>
            </a:r>
            <a:endParaRPr lang="en-US" sz="1400" dirty="0"/>
          </a:p>
        </p:txBody>
      </p:sp>
      <p:sp>
        <p:nvSpPr>
          <p:cNvPr id="26" name="flow arrow"/>
          <p:cNvSpPr/>
          <p:nvPr/>
        </p:nvSpPr>
        <p:spPr>
          <a:xfrm rot="5400000">
            <a:off x="7991856" y="2990088"/>
            <a:ext cx="182880" cy="146304"/>
          </a:xfrm>
          <a:prstGeom prst="triangle">
            <a:avLst/>
          </a:prstGeom>
          <a:solidFill>
            <a:schemeClr val="accent1"/>
          </a:solidFill>
          <a:ln/>
        </p:spPr>
      </p:sp>
      <p:sp>
        <p:nvSpPr>
          <p:cNvPr id="27" name="card"/>
          <p:cNvSpPr/>
          <p:nvPr/>
        </p:nvSpPr>
        <p:spPr>
          <a:xfrm>
            <a:off x="8156448" y="1508760"/>
            <a:ext cx="1737360" cy="3108960"/>
          </a:xfrm>
          <a:prstGeom prst="roundRect">
            <a:avLst>
              <a:gd name="adj" fmla="val 6316"/>
            </a:avLst>
          </a:prstGeom>
          <a:solidFill>
            <a:schemeClr val="tx1"/>
          </a:solidFill>
          <a:ln/>
        </p:spPr>
      </p:sp>
      <p:sp>
        <p:nvSpPr>
          <p:cNvPr id="28" name="mart circle"/>
          <p:cNvSpPr/>
          <p:nvPr/>
        </p:nvSpPr>
        <p:spPr>
          <a:xfrm>
            <a:off x="8705088" y="1874520"/>
            <a:ext cx="640080" cy="640080"/>
          </a:xfrm>
          <a:prstGeom prst="ellipse">
            <a:avLst/>
          </a:prstGeom>
          <a:solidFill>
            <a:schemeClr val="accent1"/>
          </a:solidFill>
          <a:ln/>
        </p:spPr>
      </p:sp>
      <p:pic>
        <p:nvPicPr>
          <p:cNvPr id="29" name="mart glyph" descr="preencoded.png">    </p:cNvPr>
          <p:cNvPicPr>
            <a:picLocks noChangeAspect="1"/>
          </p:cNvPicPr>
          <p:nvPr/>
        </p:nvPicPr>
        <p:blipFill>
          <a:blip r:embed="rId5"/>
          <a:stretch>
            <a:fillRect/>
          </a:stretch>
        </p:blipFill>
        <p:spPr>
          <a:xfrm>
            <a:off x="8858707" y="2028139"/>
            <a:ext cx="332842" cy="332842"/>
          </a:xfrm>
          <a:prstGeom prst="rect">
            <a:avLst/>
          </a:prstGeom>
        </p:spPr>
      </p:pic>
      <p:sp>
        <p:nvSpPr>
          <p:cNvPr id="30" name="Text 23"/>
          <p:cNvSpPr txBox="1"/>
          <p:nvPr/>
        </p:nvSpPr>
        <p:spPr>
          <a:xfrm>
            <a:off x="8247888" y="2697480"/>
            <a:ext cx="1554480" cy="457200"/>
          </a:xfrm>
          <a:prstGeom prst="rect">
            <a:avLst/>
          </a:prstGeom>
          <a:noFill/>
          <a:ln/>
        </p:spPr>
        <p:txBody>
          <a:bodyPr wrap="square" lIns="0" tIns="0" rIns="0" bIns="0" rtlCol="0" anchor="ctr"/>
          <a:lstStyle/>
          <a:p>
            <a:pPr algn="ctr" indent="0" marL="0">
              <a:buNone/>
            </a:pPr>
            <a:r>
              <a:rPr lang="en-US" sz="2000" b="1" dirty="0">
                <a:solidFill>
                  <a:schemeClr val="bg1"/>
                </a:solidFill>
              </a:rPr>
              <a:t>mart</a:t>
            </a:r>
            <a:endParaRPr lang="en-US" sz="2000" dirty="0"/>
          </a:p>
        </p:txBody>
      </p:sp>
      <p:sp>
        <p:nvSpPr>
          <p:cNvPr id="31" name="Text 24"/>
          <p:cNvSpPr txBox="1"/>
          <p:nvPr/>
        </p:nvSpPr>
        <p:spPr>
          <a:xfrm>
            <a:off x="8293608" y="3154680"/>
            <a:ext cx="1463040" cy="1280160"/>
          </a:xfrm>
          <a:prstGeom prst="rect">
            <a:avLst/>
          </a:prstGeom>
          <a:noFill/>
          <a:ln/>
        </p:spPr>
        <p:txBody>
          <a:bodyPr wrap="square" lIns="0" tIns="0" rIns="0" bIns="0" rtlCol="0" anchor="t"/>
          <a:lstStyle/>
          <a:p>
            <a:pPr algn="ctr" indent="0" marL="0">
              <a:buNone/>
            </a:pPr>
            <a:r>
              <a:rPr lang="en-US" sz="1400" dirty="0">
                <a:solidFill>
                  <a:schemeClr val="bg2"/>
                </a:solidFill>
              </a:rPr>
              <a:t>8 OLAP aggregates (CUBE, GROUPING SETS)</a:t>
            </a:r>
            <a:endParaRPr lang="en-US" sz="1400" dirty="0"/>
          </a:p>
        </p:txBody>
      </p:sp>
      <p:sp>
        <p:nvSpPr>
          <p:cNvPr id="32" name="flow arrow"/>
          <p:cNvSpPr/>
          <p:nvPr/>
        </p:nvSpPr>
        <p:spPr>
          <a:xfrm rot="5400000">
            <a:off x="9893808" y="2990088"/>
            <a:ext cx="182880" cy="146304"/>
          </a:xfrm>
          <a:prstGeom prst="triangle">
            <a:avLst/>
          </a:prstGeom>
          <a:solidFill>
            <a:schemeClr val="accent1"/>
          </a:solidFill>
          <a:ln/>
        </p:spPr>
      </p:sp>
      <p:sp>
        <p:nvSpPr>
          <p:cNvPr id="33" name="card"/>
          <p:cNvSpPr/>
          <p:nvPr/>
        </p:nvSpPr>
        <p:spPr>
          <a:xfrm>
            <a:off x="10058400" y="1508760"/>
            <a:ext cx="1737360" cy="3108960"/>
          </a:xfrm>
          <a:prstGeom prst="roundRect">
            <a:avLst>
              <a:gd name="adj" fmla="val 6316"/>
            </a:avLst>
          </a:prstGeom>
          <a:solidFill>
            <a:schemeClr val="bg2"/>
          </a:solidFill>
          <a:ln/>
        </p:spPr>
      </p:sp>
      <p:sp>
        <p:nvSpPr>
          <p:cNvPr id="34" name="Dashboards circle"/>
          <p:cNvSpPr/>
          <p:nvPr/>
        </p:nvSpPr>
        <p:spPr>
          <a:xfrm>
            <a:off x="10607040" y="1874520"/>
            <a:ext cx="640080" cy="640080"/>
          </a:xfrm>
          <a:prstGeom prst="ellipse">
            <a:avLst/>
          </a:prstGeom>
          <a:solidFill>
            <a:schemeClr val="accent1"/>
          </a:solidFill>
          <a:ln/>
        </p:spPr>
      </p:sp>
      <p:pic>
        <p:nvPicPr>
          <p:cNvPr id="35" name="Dashboards glyph" descr="preencoded.png">    </p:cNvPr>
          <p:cNvPicPr>
            <a:picLocks noChangeAspect="1"/>
          </p:cNvPicPr>
          <p:nvPr/>
        </p:nvPicPr>
        <p:blipFill>
          <a:blip r:embed="rId6"/>
          <a:stretch>
            <a:fillRect/>
          </a:stretch>
        </p:blipFill>
        <p:spPr>
          <a:xfrm>
            <a:off x="10760659" y="2028139"/>
            <a:ext cx="332842" cy="332842"/>
          </a:xfrm>
          <a:prstGeom prst="rect">
            <a:avLst/>
          </a:prstGeom>
        </p:spPr>
      </p:pic>
      <p:sp>
        <p:nvSpPr>
          <p:cNvPr id="36" name="Text 28"/>
          <p:cNvSpPr txBox="1"/>
          <p:nvPr/>
        </p:nvSpPr>
        <p:spPr>
          <a:xfrm>
            <a:off x="10149840" y="2697480"/>
            <a:ext cx="1554480" cy="457200"/>
          </a:xfrm>
          <a:prstGeom prst="rect">
            <a:avLst/>
          </a:prstGeom>
          <a:noFill/>
          <a:ln/>
        </p:spPr>
        <p:txBody>
          <a:bodyPr wrap="square" lIns="0" tIns="0" rIns="0" bIns="0" rtlCol="0" anchor="ctr"/>
          <a:lstStyle/>
          <a:p>
            <a:pPr algn="ctr" indent="0" marL="0">
              <a:buNone/>
            </a:pPr>
            <a:r>
              <a:rPr lang="en-US" sz="2000" b="1" dirty="0">
                <a:solidFill>
                  <a:schemeClr val="tx1"/>
                </a:solidFill>
              </a:rPr>
              <a:t>Dashboards</a:t>
            </a:r>
            <a:endParaRPr lang="en-US" sz="2000" dirty="0"/>
          </a:p>
        </p:txBody>
      </p:sp>
      <p:sp>
        <p:nvSpPr>
          <p:cNvPr id="37" name="Text 29"/>
          <p:cNvSpPr txBox="1"/>
          <p:nvPr/>
        </p:nvSpPr>
        <p:spPr>
          <a:xfrm>
            <a:off x="10195560" y="3154680"/>
            <a:ext cx="1463040" cy="1280160"/>
          </a:xfrm>
          <a:prstGeom prst="rect">
            <a:avLst/>
          </a:prstGeom>
          <a:noFill/>
          <a:ln/>
        </p:spPr>
        <p:txBody>
          <a:bodyPr wrap="square" lIns="0" tIns="0" rIns="0" bIns="0" rtlCol="0" anchor="t"/>
          <a:lstStyle/>
          <a:p>
            <a:pPr algn="ctr" indent="0" marL="0">
              <a:buNone/>
            </a:pPr>
            <a:r>
              <a:rPr lang="en-US" sz="1400" dirty="0">
                <a:solidFill>
                  <a:schemeClr val="tx2"/>
                </a:solidFill>
              </a:rPr>
              <a:t>Next.js pages, PHP API on XAMPP</a:t>
            </a:r>
            <a:endParaRPr lang="en-US" sz="1400" dirty="0"/>
          </a:p>
        </p:txBody>
      </p:sp>
      <p:sp>
        <p:nvSpPr>
          <p:cNvPr id="38" name="Text 30"/>
          <p:cNvSpPr txBox="1"/>
          <p:nvPr/>
        </p:nvSpPr>
        <p:spPr>
          <a:xfrm>
            <a:off x="548640" y="5029200"/>
            <a:ext cx="11094415" cy="365760"/>
          </a:xfrm>
          <a:prstGeom prst="rect">
            <a:avLst/>
          </a:prstGeom>
          <a:noFill/>
          <a:ln/>
        </p:spPr>
        <p:txBody>
          <a:bodyPr wrap="square" lIns="0" tIns="0" rIns="0" bIns="0" rtlCol="0" anchor="ctr"/>
          <a:lstStyle/>
          <a:p>
            <a:pPr indent="0" marL="0">
              <a:buNone/>
            </a:pPr>
            <a:r>
              <a:rPr lang="en-US" sz="1600" dirty="0">
                <a:solidFill>
                  <a:schemeClr val="tx2"/>
                </a:solidFill>
              </a:rPr>
              <a:t>PostgreSQL 17 warehouse · Python ingestion · dbt transformations and tests · one command runs the whole pipeline</a:t>
            </a:r>
            <a:endParaRPr lang="en-US" sz="1600" dirty="0"/>
          </a:p>
        </p:txBody>
      </p:sp>
      <p:sp>
        <p:nvSpPr>
          <p:cNvPr id="39" name="Text 31"/>
          <p:cNvSpPr txBox="1"/>
          <p:nvPr/>
        </p:nvSpPr>
        <p:spPr>
          <a:xfrm>
            <a:off x="548640" y="5440680"/>
            <a:ext cx="11094415" cy="365760"/>
          </a:xfrm>
          <a:prstGeom prst="rect">
            <a:avLst/>
          </a:prstGeom>
          <a:noFill/>
          <a:ln/>
        </p:spPr>
        <p:txBody>
          <a:bodyPr wrap="square" lIns="0" tIns="0" rIns="0" bIns="0" rtlCol="0" anchor="ctr"/>
          <a:lstStyle/>
          <a:p>
            <a:pPr indent="0" marL="0">
              <a:buNone/>
            </a:pPr>
            <a:r>
              <a:rPr lang="en-US" sz="1400" i="1" dirty="0">
                <a:solidFill>
                  <a:schemeClr val="accent5"/>
                </a:solidFill>
              </a:rPr>
              <a:t>The dark boxes are the four warehouse layers inside PostgreSQL.</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5A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Real geography, synthetic figures</a:t>
            </a:r>
            <a:endParaRPr lang="en-US" sz="3400" dirty="0"/>
          </a:p>
        </p:txBody>
      </p:sp>
      <p:pic>
        <p:nvPicPr>
          <p:cNvPr id="3" name="DSWD volunteers encoding data" descr="C:\Users\banba\AppData\Local\Temp\claude\C--Users-banba-OneDrive-Documents-GitHub-NEUSTIT271-EDW-Project--claude-worktrees-great-bardeen-ab59a6\74094a70-acc5-4807-885e-b40727f685f7\scratchpad\img\volunteers.jpg">    </p:cNvPr>
          <p:cNvPicPr>
            <a:picLocks noChangeAspect="1"/>
          </p:cNvPicPr>
          <p:nvPr/>
        </p:nvPicPr>
        <p:blipFill>
          <a:blip r:embed="rId1"/>
          <a:srcRect l="0" r="0" t="0" b="0"/>
          <a:stretch/>
        </p:blipFill>
        <p:spPr>
          <a:xfrm>
            <a:off x="7726680" y="1325880"/>
            <a:ext cx="3931920" cy="4526280"/>
          </a:xfrm>
          <a:prstGeom prst="rect">
            <a:avLst/>
          </a:prstGeom>
        </p:spPr>
      </p:pic>
      <p:sp>
        <p:nvSpPr>
          <p:cNvPr id="4" name="caption"/>
          <p:cNvSpPr txBox="1"/>
          <p:nvPr/>
        </p:nvSpPr>
        <p:spPr>
          <a:xfrm>
            <a:off x="7726680" y="5897880"/>
            <a:ext cx="3931920" cy="274320"/>
          </a:xfrm>
          <a:prstGeom prst="rect">
            <a:avLst/>
          </a:prstGeom>
          <a:noFill/>
          <a:ln/>
        </p:spPr>
        <p:txBody>
          <a:bodyPr wrap="square" lIns="0" tIns="0" rIns="0" bIns="0" rtlCol="0" anchor="ctr"/>
          <a:lstStyle/>
          <a:p>
            <a:pPr algn="l" indent="0" marL="0">
              <a:buNone/>
            </a:pPr>
            <a:r>
              <a:rPr lang="en-US" sz="1000" i="1" dirty="0">
                <a:solidFill>
                  <a:schemeClr val="accent5"/>
                </a:solidFill>
              </a:rPr>
              <a:t>Volunteers encoding relief data after Haiyan · U.S. Marine Corps · public domain</a:t>
            </a:r>
            <a:endParaRPr lang="en-US" sz="1000" dirty="0"/>
          </a:p>
        </p:txBody>
      </p:sp>
      <p:sp>
        <p:nvSpPr>
          <p:cNvPr id="5" name="card"/>
          <p:cNvSpPr/>
          <p:nvPr/>
        </p:nvSpPr>
        <p:spPr>
          <a:xfrm>
            <a:off x="548640" y="1325880"/>
            <a:ext cx="3429000" cy="4526280"/>
          </a:xfrm>
          <a:prstGeom prst="roundRect">
            <a:avLst>
              <a:gd name="adj" fmla="val 3200"/>
            </a:avLst>
          </a:prstGeom>
          <a:solidFill>
            <a:schemeClr val="bg2"/>
          </a:solidFill>
          <a:ln/>
        </p:spPr>
      </p:sp>
      <p:sp>
        <p:nvSpPr>
          <p:cNvPr id="6" name="card"/>
          <p:cNvSpPr/>
          <p:nvPr/>
        </p:nvSpPr>
        <p:spPr>
          <a:xfrm>
            <a:off x="4160520" y="1325880"/>
            <a:ext cx="3429000" cy="4526280"/>
          </a:xfrm>
          <a:prstGeom prst="roundRect">
            <a:avLst>
              <a:gd name="adj" fmla="val 3200"/>
            </a:avLst>
          </a:prstGeom>
          <a:solidFill>
            <a:srgbClr val="FDEFE8"/>
          </a:solidFill>
          <a:ln/>
        </p:spPr>
      </p:sp>
      <p:sp>
        <p:nvSpPr>
          <p:cNvPr id="7" name="real circle"/>
          <p:cNvSpPr/>
          <p:nvPr/>
        </p:nvSpPr>
        <p:spPr>
          <a:xfrm>
            <a:off x="822960" y="1600200"/>
            <a:ext cx="566928" cy="566928"/>
          </a:xfrm>
          <a:prstGeom prst="ellipse">
            <a:avLst/>
          </a:prstGeom>
          <a:solidFill>
            <a:schemeClr val="accent2"/>
          </a:solidFill>
          <a:ln/>
        </p:spPr>
      </p:sp>
      <p:pic>
        <p:nvPicPr>
          <p:cNvPr id="8" name="real glyph" descr="preencoded.png">    </p:cNvPr>
          <p:cNvPicPr>
            <a:picLocks noChangeAspect="1"/>
          </p:cNvPicPr>
          <p:nvPr/>
        </p:nvPicPr>
        <p:blipFill>
          <a:blip r:embed="rId2"/>
          <a:stretch>
            <a:fillRect/>
          </a:stretch>
        </p:blipFill>
        <p:spPr>
          <a:xfrm>
            <a:off x="959023" y="1736263"/>
            <a:ext cx="294803" cy="294803"/>
          </a:xfrm>
          <a:prstGeom prst="rect">
            <a:avLst/>
          </a:prstGeom>
        </p:spPr>
      </p:pic>
      <p:sp>
        <p:nvSpPr>
          <p:cNvPr id="9" name="synthetic circle"/>
          <p:cNvSpPr/>
          <p:nvPr/>
        </p:nvSpPr>
        <p:spPr>
          <a:xfrm>
            <a:off x="4434840" y="1600200"/>
            <a:ext cx="566928" cy="566928"/>
          </a:xfrm>
          <a:prstGeom prst="ellipse">
            <a:avLst/>
          </a:prstGeom>
          <a:solidFill>
            <a:schemeClr val="accent1"/>
          </a:solidFill>
          <a:ln/>
        </p:spPr>
      </p:sp>
      <p:pic>
        <p:nvPicPr>
          <p:cNvPr id="10" name="synthetic glyph" descr="preencoded.png">    </p:cNvPr>
          <p:cNvPicPr>
            <a:picLocks noChangeAspect="1"/>
          </p:cNvPicPr>
          <p:nvPr/>
        </p:nvPicPr>
        <p:blipFill>
          <a:blip r:embed="rId3"/>
          <a:stretch>
            <a:fillRect/>
          </a:stretch>
        </p:blipFill>
        <p:spPr>
          <a:xfrm>
            <a:off x="4570903" y="1736263"/>
            <a:ext cx="294803" cy="294803"/>
          </a:xfrm>
          <a:prstGeom prst="rect">
            <a:avLst/>
          </a:prstGeom>
        </p:spPr>
      </p:pic>
      <p:sp>
        <p:nvSpPr>
          <p:cNvPr id="11" name="Text 6"/>
          <p:cNvSpPr txBox="1"/>
          <p:nvPr/>
        </p:nvSpPr>
        <p:spPr>
          <a:xfrm>
            <a:off x="822960" y="2331720"/>
            <a:ext cx="2926080" cy="457200"/>
          </a:xfrm>
          <a:prstGeom prst="rect">
            <a:avLst/>
          </a:prstGeom>
          <a:noFill/>
          <a:ln/>
        </p:spPr>
        <p:txBody>
          <a:bodyPr wrap="square" lIns="0" tIns="0" rIns="0" bIns="0" rtlCol="0" anchor="ctr"/>
          <a:lstStyle/>
          <a:p>
            <a:pPr indent="0" marL="0">
              <a:buNone/>
            </a:pPr>
            <a:r>
              <a:rPr lang="en-US" sz="2200" b="1" dirty="0">
                <a:solidFill>
                  <a:schemeClr val="tx1"/>
                </a:solidFill>
              </a:rPr>
              <a:t>Real</a:t>
            </a:r>
            <a:endParaRPr lang="en-US" sz="2200" dirty="0"/>
          </a:p>
        </p:txBody>
      </p:sp>
      <p:sp>
        <p:nvSpPr>
          <p:cNvPr id="12" name="Text 7"/>
          <p:cNvSpPr txBox="1"/>
          <p:nvPr/>
        </p:nvSpPr>
        <p:spPr>
          <a:xfrm>
            <a:off x="4434840" y="2331720"/>
            <a:ext cx="2926080" cy="457200"/>
          </a:xfrm>
          <a:prstGeom prst="rect">
            <a:avLst/>
          </a:prstGeom>
          <a:noFill/>
          <a:ln/>
        </p:spPr>
        <p:txBody>
          <a:bodyPr wrap="square" lIns="0" tIns="0" rIns="0" bIns="0" rtlCol="0" anchor="ctr"/>
          <a:lstStyle/>
          <a:p>
            <a:pPr indent="0" marL="0">
              <a:buNone/>
            </a:pPr>
            <a:r>
              <a:rPr lang="en-US" sz="2200" b="1" dirty="0">
                <a:solidFill>
                  <a:schemeClr val="tx1"/>
                </a:solidFill>
              </a:rPr>
              <a:t>Synthetic</a:t>
            </a:r>
            <a:endParaRPr lang="en-US" sz="2200" dirty="0"/>
          </a:p>
        </p:txBody>
      </p:sp>
      <p:sp>
        <p:nvSpPr>
          <p:cNvPr id="13" name="Text 8"/>
          <p:cNvSpPr txBox="1"/>
          <p:nvPr/>
        </p:nvSpPr>
        <p:spPr>
          <a:xfrm>
            <a:off x="822960" y="2834640"/>
            <a:ext cx="2971800" cy="28346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31 event names and dates (PAGASA)</a:t>
            </a:r>
            <a:endParaRPr lang="en-US" sz="1500" dirty="0"/>
          </a:p>
          <a:p>
            <a:pPr marL="342900" indent="-342900">
              <a:spcAft>
                <a:spcPts val="800"/>
              </a:spcAft>
              <a:buSzPct val="100000"/>
              <a:buChar char="•"/>
            </a:pPr>
            <a:r>
              <a:rPr lang="en-US" sz="1500" dirty="0">
                <a:solidFill>
                  <a:schemeClr val="tx2"/>
                </a:solidFill>
              </a:rPr>
              <a:t>Regions, provinces, cities, barangays (PSA PSGC)</a:t>
            </a:r>
            <a:endParaRPr lang="en-US" sz="1500" dirty="0"/>
          </a:p>
          <a:p>
            <a:pPr marL="342900" indent="-342900">
              <a:spcAft>
                <a:spcPts val="800"/>
              </a:spcAft>
              <a:buSzPct val="100000"/>
              <a:buChar char="•"/>
            </a:pPr>
            <a:r>
              <a:rPr lang="en-US" sz="1500" dirty="0">
                <a:solidFill>
                  <a:schemeClr val="tx2"/>
                </a:solidFill>
              </a:rPr>
              <a:t>Agency roles and report layouts</a:t>
            </a:r>
            <a:endParaRPr lang="en-US" sz="1500" dirty="0"/>
          </a:p>
        </p:txBody>
      </p:sp>
      <p:sp>
        <p:nvSpPr>
          <p:cNvPr id="14" name="Text 9"/>
          <p:cNvSpPr txBox="1"/>
          <p:nvPr/>
        </p:nvSpPr>
        <p:spPr>
          <a:xfrm>
            <a:off x="4434840" y="2834640"/>
            <a:ext cx="2971800" cy="28346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Every damage, displacement, relief and response figure</a:t>
            </a:r>
            <a:endParaRPr lang="en-US" sz="1500" dirty="0"/>
          </a:p>
          <a:p>
            <a:pPr marL="342900" indent="-342900">
              <a:spcAft>
                <a:spcPts val="800"/>
              </a:spcAft>
              <a:buSzPct val="100000"/>
              <a:buChar char="•"/>
            </a:pPr>
            <a:r>
              <a:rPr lang="en-US" sz="1500" dirty="0">
                <a:solidFill>
                  <a:schemeClr val="tx2"/>
                </a:solidFill>
              </a:rPr>
              <a:t>9,995 data-entry defects of 19 types, planted on purpose and counted</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5A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ETL with data quality built in</a:t>
            </a:r>
            <a:endParaRPr lang="en-US" sz="3400" dirty="0"/>
          </a:p>
        </p:txBody>
      </p:sp>
      <p:pic>
        <p:nvPicPr>
          <p:cNvPr id="3" name="ETL workflow diagram" descr="C:\Users\banba\AppData\Local\Temp\claude\C--Users-banba-OneDrive-Documents-GitHub-NEUSTIT271-EDW-Project--claude-worktrees-great-bardeen-ab59a6\74094a70-acc5-4807-885e-b40727f685f7\scratchpad\img\etl_workflow.png">    </p:cNvPr>
          <p:cNvPicPr>
            <a:picLocks noChangeAspect="1"/>
          </p:cNvPicPr>
          <p:nvPr/>
        </p:nvPicPr>
        <p:blipFill>
          <a:blip r:embed="rId1"/>
          <a:stretch>
            <a:fillRect/>
          </a:stretch>
        </p:blipFill>
        <p:spPr>
          <a:xfrm>
            <a:off x="548640" y="1528267"/>
            <a:ext cx="7863840" cy="3984346"/>
          </a:xfrm>
          <a:prstGeom prst="rect">
            <a:avLst/>
          </a:prstGeom>
        </p:spPr>
      </p:pic>
      <p:sp>
        <p:nvSpPr>
          <p:cNvPr id="4" name="stat value"/>
          <p:cNvSpPr txBox="1"/>
          <p:nvPr/>
        </p:nvSpPr>
        <p:spPr>
          <a:xfrm>
            <a:off x="8778240" y="1325880"/>
            <a:ext cx="2834640" cy="7772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45</a:t>
            </a:r>
            <a:endParaRPr lang="en-US" sz="4400" dirty="0"/>
          </a:p>
        </p:txBody>
      </p:sp>
      <p:sp>
        <p:nvSpPr>
          <p:cNvPr id="5" name="stat label"/>
          <p:cNvSpPr txBox="1"/>
          <p:nvPr/>
        </p:nvSpPr>
        <p:spPr>
          <a:xfrm>
            <a:off x="8778240" y="2103120"/>
            <a:ext cx="2834640" cy="594360"/>
          </a:xfrm>
          <a:prstGeom prst="rect">
            <a:avLst/>
          </a:prstGeom>
          <a:noFill/>
          <a:ln/>
        </p:spPr>
        <p:txBody>
          <a:bodyPr wrap="square" lIns="0" tIns="0" rIns="0" bIns="0" rtlCol="0" anchor="t"/>
          <a:lstStyle/>
          <a:p>
            <a:pPr indent="0" marL="0">
              <a:buNone/>
            </a:pPr>
            <a:r>
              <a:rPr lang="en-US" sz="1400" dirty="0">
                <a:solidFill>
                  <a:schemeClr val="tx2"/>
                </a:solidFill>
              </a:rPr>
              <a:t>data-quality rules: correct, flag or quarantine, with reasons</a:t>
            </a:r>
            <a:endParaRPr lang="en-US" sz="1400" dirty="0"/>
          </a:p>
        </p:txBody>
      </p:sp>
      <p:sp>
        <p:nvSpPr>
          <p:cNvPr id="6" name="stat value"/>
          <p:cNvSpPr txBox="1"/>
          <p:nvPr/>
        </p:nvSpPr>
        <p:spPr>
          <a:xfrm>
            <a:off x="8778240" y="2788920"/>
            <a:ext cx="2834640" cy="7772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19 / 19</a:t>
            </a:r>
            <a:endParaRPr lang="en-US" sz="4000" dirty="0"/>
          </a:p>
        </p:txBody>
      </p:sp>
      <p:sp>
        <p:nvSpPr>
          <p:cNvPr id="7" name="stat label"/>
          <p:cNvSpPr txBox="1"/>
          <p:nvPr/>
        </p:nvSpPr>
        <p:spPr>
          <a:xfrm>
            <a:off x="8778240" y="3566160"/>
            <a:ext cx="2834640" cy="594360"/>
          </a:xfrm>
          <a:prstGeom prst="rect">
            <a:avLst/>
          </a:prstGeom>
          <a:noFill/>
          <a:ln/>
        </p:spPr>
        <p:txBody>
          <a:bodyPr wrap="square" lIns="0" tIns="0" rIns="0" bIns="0" rtlCol="0" anchor="t"/>
          <a:lstStyle/>
          <a:p>
            <a:pPr indent="0" marL="0">
              <a:buNone/>
            </a:pPr>
            <a:r>
              <a:rPr lang="en-US" sz="1400" dirty="0">
                <a:solidFill>
                  <a:schemeClr val="tx2"/>
                </a:solidFill>
              </a:rPr>
              <a:t>planted defect types detected exactly, count for count</a:t>
            </a:r>
            <a:endParaRPr lang="en-US" sz="1400" dirty="0"/>
          </a:p>
        </p:txBody>
      </p:sp>
      <p:sp>
        <p:nvSpPr>
          <p:cNvPr id="8" name="stat value"/>
          <p:cNvSpPr txBox="1"/>
          <p:nvPr/>
        </p:nvSpPr>
        <p:spPr>
          <a:xfrm>
            <a:off x="8778240" y="4251960"/>
            <a:ext cx="2834640" cy="7772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0</a:t>
            </a:r>
            <a:endParaRPr lang="en-US" sz="4400" dirty="0"/>
          </a:p>
        </p:txBody>
      </p:sp>
      <p:sp>
        <p:nvSpPr>
          <p:cNvPr id="9" name="stat label"/>
          <p:cNvSpPr txBox="1"/>
          <p:nvPr/>
        </p:nvSpPr>
        <p:spPr>
          <a:xfrm>
            <a:off x="8778240" y="5029200"/>
            <a:ext cx="2834640" cy="594360"/>
          </a:xfrm>
          <a:prstGeom prst="rect">
            <a:avLst/>
          </a:prstGeom>
          <a:noFill/>
          <a:ln/>
        </p:spPr>
        <p:txBody>
          <a:bodyPr wrap="square" lIns="0" tIns="0" rIns="0" bIns="0" rtlCol="0" anchor="t"/>
          <a:lstStyle/>
          <a:p>
            <a:pPr indent="0" marL="0">
              <a:buNone/>
            </a:pPr>
            <a:r>
              <a:rPr lang="en-US" sz="1400" dirty="0">
                <a:solidFill>
                  <a:schemeClr val="tx2"/>
                </a:solidFill>
              </a:rPr>
              <a:t>false place-name matches against ground truth</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5A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Six star schemas, ten conformed dimensions</a:t>
            </a:r>
            <a:endParaRPr lang="en-US" sz="3400" dirty="0"/>
          </a:p>
        </p:txBody>
      </p:sp>
      <p:pic>
        <p:nvPicPr>
          <p:cNvPr id="3" name="Conceptual model" descr="C:\Users\banba\AppData\Local\Temp\claude\C--Users-banba-OneDrive-Documents-GitHub-NEUSTIT271-EDW-Project--claude-worktrees-great-bardeen-ab59a6\74094a70-acc5-4807-885e-b40727f685f7\scratchpad\img\conceptual.png">    </p:cNvPr>
          <p:cNvPicPr>
            <a:picLocks noChangeAspect="1"/>
          </p:cNvPicPr>
          <p:nvPr/>
        </p:nvPicPr>
        <p:blipFill>
          <a:blip r:embed="rId1"/>
          <a:stretch>
            <a:fillRect/>
          </a:stretch>
        </p:blipFill>
        <p:spPr>
          <a:xfrm>
            <a:off x="548640" y="1320605"/>
            <a:ext cx="7223760" cy="4445391"/>
          </a:xfrm>
          <a:prstGeom prst="rect">
            <a:avLst/>
          </a:prstGeom>
        </p:spPr>
      </p:pic>
      <p:sp>
        <p:nvSpPr>
          <p:cNvPr id="4" name="Text 1"/>
          <p:cNvSpPr txBox="1"/>
          <p:nvPr/>
        </p:nvSpPr>
        <p:spPr>
          <a:xfrm>
            <a:off x="8138160" y="1371600"/>
            <a:ext cx="3520440" cy="1325880"/>
          </a:xfrm>
          <a:prstGeom prst="rect">
            <a:avLst/>
          </a:prstGeom>
          <a:noFill/>
          <a:ln/>
        </p:spPr>
        <p:txBody>
          <a:bodyPr wrap="square" lIns="0" tIns="0" rIns="0" bIns="0" rtlCol="0" anchor="t"/>
          <a:lstStyle/>
          <a:p>
            <a:pPr indent="0" marL="0">
              <a:buNone/>
            </a:pPr>
            <a:r>
              <a:rPr lang="en-US" sz="1700" b="1" dirty="0">
                <a:solidFill>
                  <a:schemeClr val="tx1"/>
                </a:solidFill>
              </a:rPr>
              <a:t>Three fact types</a:t>
            </a:r>
            <a:endParaRPr lang="en-US" sz="1700" dirty="0"/>
          </a:p>
          <a:p>
            <a:pPr indent="0" marL="0">
              <a:buNone/>
            </a:pPr>
            <a:r>
              <a:rPr lang="en-US" sz="1400" dirty="0">
                <a:solidFill>
                  <a:schemeClr val="tx2"/>
                </a:solidFill>
              </a:rPr>
              <a:t>transaction (damage, relief), periodic snapshot (evacuation, displacement), accumulating snapshot (response, lifelines)</a:t>
            </a:r>
            <a:endParaRPr lang="en-US" sz="1700" dirty="0"/>
          </a:p>
        </p:txBody>
      </p:sp>
      <p:sp>
        <p:nvSpPr>
          <p:cNvPr id="5" name="Text 2"/>
          <p:cNvSpPr txBox="1"/>
          <p:nvPr/>
        </p:nvSpPr>
        <p:spPr>
          <a:xfrm>
            <a:off x="8138160" y="2834640"/>
            <a:ext cx="3520440" cy="1325880"/>
          </a:xfrm>
          <a:prstGeom prst="rect">
            <a:avLst/>
          </a:prstGeom>
          <a:noFill/>
          <a:ln/>
        </p:spPr>
        <p:txBody>
          <a:bodyPr wrap="square" lIns="0" tIns="0" rIns="0" bIns="0" rtlCol="0" anchor="t"/>
          <a:lstStyle/>
          <a:p>
            <a:pPr indent="0" marL="0">
              <a:buNone/>
            </a:pPr>
            <a:r>
              <a:rPr lang="en-US" sz="1700" b="1" dirty="0">
                <a:solidFill>
                  <a:schemeClr val="tx1"/>
                </a:solidFill>
              </a:rPr>
              <a:t>SCD Type 2 location</a:t>
            </a:r>
            <a:endParaRPr lang="en-US" sz="1700" dirty="0"/>
          </a:p>
          <a:p>
            <a:pPr indent="0" marL="0">
              <a:buNone/>
            </a:pPr>
            <a:r>
              <a:rPr lang="en-US" sz="1400" dirty="0">
                <a:solidFill>
                  <a:schemeClr val="tx2"/>
                </a:solidFill>
              </a:rPr>
              <a:t>the 2022 split of Maguindanao is kept, so each event rolls up to the province of its time</a:t>
            </a:r>
            <a:endParaRPr lang="en-US" sz="1700" dirty="0"/>
          </a:p>
        </p:txBody>
      </p:sp>
      <p:sp>
        <p:nvSpPr>
          <p:cNvPr id="6" name="Text 3"/>
          <p:cNvSpPr txBox="1"/>
          <p:nvPr/>
        </p:nvSpPr>
        <p:spPr>
          <a:xfrm>
            <a:off x="8138160" y="4297680"/>
            <a:ext cx="3520440" cy="1325880"/>
          </a:xfrm>
          <a:prstGeom prst="rect">
            <a:avLst/>
          </a:prstGeom>
          <a:noFill/>
          <a:ln/>
        </p:spPr>
        <p:txBody>
          <a:bodyPr wrap="square" lIns="0" tIns="0" rIns="0" bIns="0" rtlCol="0" anchor="t"/>
          <a:lstStyle/>
          <a:p>
            <a:pPr indent="0" marL="0">
              <a:buNone/>
            </a:pPr>
            <a:r>
              <a:rPr lang="en-US" sz="1700" b="1" dirty="0">
                <a:solidFill>
                  <a:schemeClr val="tx1"/>
                </a:solidFill>
              </a:rPr>
              <a:t>Real constraints</a:t>
            </a:r>
            <a:endParaRPr lang="en-US" sz="1700" dirty="0"/>
          </a:p>
          <a:p>
            <a:pPr indent="0" marL="0">
              <a:buNone/>
            </a:pPr>
            <a:r>
              <a:rPr lang="en-US" sz="1400" dirty="0">
                <a:solidFill>
                  <a:schemeClr val="tx2"/>
                </a:solidFill>
              </a:rPr>
              <a:t>38 foreign keys, so ERD tools draw the stars directly</a:t>
            </a:r>
            <a:endParaRPr lang="en-US" sz="17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5A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Example star: lifeline disruption</a:t>
            </a:r>
            <a:endParaRPr lang="en-US" sz="3400" dirty="0"/>
          </a:p>
        </p:txBody>
      </p:sp>
      <p:pic>
        <p:nvPicPr>
          <p:cNvPr id="3" name="ER diagram lifeline disruption" descr="C:\Users\banba\AppData\Local\Temp\claude\C--Users-banba-OneDrive-Documents-GitHub-NEUSTIT271-EDW-Project--claude-worktrees-great-bardeen-ab59a6\74094a70-acc5-4807-885e-b40727f685f7\scratchpad\img\er_fact_lifeline_disruption.png">    </p:cNvPr>
          <p:cNvPicPr>
            <a:picLocks noChangeAspect="1"/>
          </p:cNvPicPr>
          <p:nvPr/>
        </p:nvPicPr>
        <p:blipFill>
          <a:blip r:embed="rId1"/>
          <a:stretch>
            <a:fillRect/>
          </a:stretch>
        </p:blipFill>
        <p:spPr>
          <a:xfrm>
            <a:off x="777240" y="1234440"/>
            <a:ext cx="7132320" cy="4663440"/>
          </a:xfrm>
          <a:prstGeom prst="rect">
            <a:avLst/>
          </a:prstGeom>
        </p:spPr>
      </p:pic>
      <p:sp>
        <p:nvSpPr>
          <p:cNvPr id="4" name="Text 1"/>
          <p:cNvSpPr txBox="1"/>
          <p:nvPr/>
        </p:nvSpPr>
        <p:spPr>
          <a:xfrm>
            <a:off x="8412480" y="1371600"/>
            <a:ext cx="3246120" cy="4389120"/>
          </a:xfrm>
          <a:prstGeom prst="rect">
            <a:avLst/>
          </a:prstGeom>
          <a:noFill/>
          <a:ln/>
        </p:spPr>
        <p:txBody>
          <a:bodyPr wrap="square" lIns="0" tIns="0" rIns="0" bIns="0" rtlCol="0" anchor="t"/>
          <a:lstStyle/>
          <a:p>
            <a:pPr indent="0" marL="0">
              <a:buNone/>
            </a:pPr>
            <a:r>
              <a:rPr lang="en-US" sz="1500" b="1" dirty="0">
                <a:solidFill>
                  <a:schemeClr val="tx1"/>
                </a:solidFill>
              </a:rPr>
              <a:t>Grain</a:t>
            </a:r>
            <a:endParaRPr lang="en-US" sz="1500" dirty="0"/>
          </a:p>
          <a:p>
            <a:pPr indent="0" marL="0">
              <a:buNone/>
            </a:pPr>
            <a:r>
              <a:rPr lang="en-US" sz="1500" dirty="0">
                <a:solidFill>
                  <a:schemeClr val="tx2"/>
                </a:solidFill>
              </a:rPr>
              <a:t>one row per event × city/municipality × lifeline</a:t>
            </a:r>
            <a:endParaRPr lang="en-US" sz="1500" dirty="0"/>
          </a:p>
          <a:p>
            <a:pPr indent="0" marL="0">
              <a:buNone/>
            </a:pPr>
            <a:r>
              <a:rPr lang="en-US" sz="800" dirty="0">
                <a:solidFill>
                  <a:srgbClr val="000000"/>
                </a:solidFill>
              </a:rPr>
              <a:t> </a:t>
            </a:r>
            <a:endParaRPr lang="en-US" sz="1500" dirty="0"/>
          </a:p>
          <a:p>
            <a:pPr indent="0" marL="0">
              <a:buNone/>
            </a:pPr>
            <a:r>
              <a:rPr lang="en-US" sz="1500" b="1" dirty="0">
                <a:solidFill>
                  <a:schemeClr val="tx1"/>
                </a:solidFill>
              </a:rPr>
              <a:t>Accumulating snapshot</a:t>
            </a:r>
            <a:endParaRPr lang="en-US" sz="1500" dirty="0"/>
          </a:p>
          <a:p>
            <a:pPr indent="0" marL="0">
              <a:buNone/>
            </a:pPr>
            <a:r>
              <a:rPr lang="en-US" sz="1500" dirty="0">
                <a:solidFill>
                  <a:schemeClr val="tx2"/>
                </a:solidFill>
              </a:rPr>
              <a:t>opens when a road, bridge, power, water or communication line goes down; closes when it is restored</a:t>
            </a:r>
            <a:endParaRPr lang="en-US" sz="1500" dirty="0"/>
          </a:p>
          <a:p>
            <a:pPr indent="0" marL="0">
              <a:buNone/>
            </a:pPr>
            <a:r>
              <a:rPr lang="en-US" sz="800" dirty="0">
                <a:solidFill>
                  <a:srgbClr val="000000"/>
                </a:solidFill>
              </a:rPr>
              <a:t> </a:t>
            </a:r>
            <a:endParaRPr lang="en-US" sz="1500" dirty="0"/>
          </a:p>
          <a:p>
            <a:pPr indent="0" marL="0">
              <a:buNone/>
            </a:pPr>
            <a:r>
              <a:rPr lang="en-US" sz="1500" b="1" dirty="0">
                <a:solidFill>
                  <a:schemeClr val="tx1"/>
                </a:solidFill>
              </a:rPr>
              <a:t>Still down?</a:t>
            </a:r>
            <a:endParaRPr lang="en-US" sz="1500" dirty="0"/>
          </a:p>
          <a:p>
            <a:pPr indent="0" marL="0">
              <a:buNone/>
            </a:pPr>
            <a:r>
              <a:rPr lang="en-US" sz="1500" dirty="0">
                <a:solidFill>
                  <a:schemeClr val="tx2"/>
                </a:solidFill>
              </a:rPr>
              <a:t>restored date points to the −1 “not yet” date member, so no foreign key is ever null</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5A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Executive view: six years on one screen</a:t>
            </a:r>
            <a:endParaRPr lang="en-US" sz="3400" dirty="0"/>
          </a:p>
        </p:txBody>
      </p:sp>
      <p:pic>
        <p:nvPicPr>
          <p:cNvPr id="3" name="Executive headline tiles" descr="C:\Users\banba\AppData\Local\Temp\claude\C--Users-banba-OneDrive-Documents-GitHub-NEUSTIT271-EDW-Project--claude-worktrees-great-bardeen-ab59a6\74094a70-acc5-4807-885e-b40727f685f7\scratchpad\img\part_executive_tiles.png">    </p:cNvPr>
          <p:cNvPicPr>
            <a:picLocks noChangeAspect="1"/>
          </p:cNvPicPr>
          <p:nvPr/>
        </p:nvPicPr>
        <p:blipFill>
          <a:blip r:embed="rId1"/>
          <a:stretch>
            <a:fillRect/>
          </a:stretch>
        </p:blipFill>
        <p:spPr>
          <a:xfrm>
            <a:off x="564292" y="1234440"/>
            <a:ext cx="11063111" cy="1600200"/>
          </a:xfrm>
          <a:prstGeom prst="rect">
            <a:avLst/>
          </a:prstGeom>
        </p:spPr>
      </p:pic>
      <p:graphicFrame>
        <p:nvGraphicFramePr>
          <p:cNvPr id="4" name="Damage cost by year chart" descr=""/>
          <p:cNvGraphicFramePr/>
          <p:nvPr/>
        </p:nvGraphicFramePr>
        <p:xfrm>
          <a:off x="548640" y="3017520"/>
          <a:ext cx="6949440" cy="310896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7863840" y="3154680"/>
            <a:ext cx="3794760" cy="292608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2020</a:t>
            </a:r>
            <a:endParaRPr lang="en-US" sz="2800" dirty="0"/>
          </a:p>
          <a:p>
            <a:pPr indent="0" marL="0">
              <a:buNone/>
            </a:pPr>
            <a:r>
              <a:rPr lang="en-US" sz="1500" dirty="0">
                <a:solidFill>
                  <a:schemeClr val="tx2"/>
                </a:solidFill>
              </a:rPr>
              <a:t>was the costliest year: ₱143B from four storms, including Rolly and Ulysses.</a:t>
            </a:r>
            <a:endParaRPr lang="en-US" sz="2800" dirty="0"/>
          </a:p>
          <a:p>
            <a:pPr indent="0" marL="0">
              <a:buNone/>
            </a:pPr>
            <a:r>
              <a:rPr lang="en-US" sz="800" dirty="0">
                <a:solidFill>
                  <a:srgbClr val="000000"/>
                </a:solidFill>
              </a:rPr>
              <a:t> </a:t>
            </a:r>
            <a:endParaRPr lang="en-US" sz="2800" dirty="0"/>
          </a:p>
          <a:p>
            <a:pPr indent="0" marL="0">
              <a:buNone/>
            </a:pPr>
            <a:r>
              <a:rPr lang="en-US" sz="1700" b="1" dirty="0">
                <a:solidFill>
                  <a:schemeClr val="tx1"/>
                </a:solidFill>
              </a:rPr>
              <a:t>Peak displaced</a:t>
            </a:r>
            <a:endParaRPr lang="en-US" sz="2800" dirty="0"/>
          </a:p>
          <a:p>
            <a:pPr indent="0" marL="0">
              <a:buNone/>
            </a:pPr>
            <a:r>
              <a:rPr lang="en-US" sz="1500" dirty="0">
                <a:solidFill>
                  <a:schemeClr val="tx2"/>
                </a:solidFill>
              </a:rPr>
              <a:t>counts people inside centers plus those with relatives: 318.3K on Tino's worst day.</a:t>
            </a:r>
            <a:endParaRPr lang="en-US" sz="28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5A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Deaths per 100,000 people: who was hit hardest</a:t>
            </a:r>
            <a:endParaRPr lang="en-US" sz="3400" dirty="0"/>
          </a:p>
        </p:txBody>
      </p:sp>
      <p:graphicFrame>
        <p:nvGraphicFramePr>
          <p:cNvPr id="3" name="Deaths per 100k chart" descr=""/>
          <p:cNvGraphicFramePr/>
          <p:nvPr/>
        </p:nvGraphicFramePr>
        <p:xfrm>
          <a:off x="548640" y="1280160"/>
          <a:ext cx="6766560" cy="475488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7680960" y="1371600"/>
            <a:ext cx="3977640" cy="4480560"/>
          </a:xfrm>
          <a:prstGeom prst="roundRect">
            <a:avLst>
              <a:gd name="adj" fmla="val 2759"/>
            </a:avLst>
          </a:prstGeom>
          <a:solidFill>
            <a:schemeClr val="bg2"/>
          </a:solidFill>
          <a:ln/>
        </p:spPr>
      </p:sp>
      <p:sp>
        <p:nvSpPr>
          <p:cNvPr id="5" name="Text 2"/>
          <p:cNvSpPr txBox="1"/>
          <p:nvPr/>
        </p:nvSpPr>
        <p:spPr>
          <a:xfrm>
            <a:off x="7955280" y="1645920"/>
            <a:ext cx="3474720" cy="4023360"/>
          </a:xfrm>
          <a:prstGeom prst="rect">
            <a:avLst/>
          </a:prstGeom>
          <a:noFill/>
          <a:ln/>
        </p:spPr>
        <p:txBody>
          <a:bodyPr wrap="square" lIns="0" tIns="0" rIns="0" bIns="0" rtlCol="0" anchor="t"/>
          <a:lstStyle/>
          <a:p>
            <a:pPr indent="0" marL="0">
              <a:spcAft>
                <a:spcPts val="1000"/>
              </a:spcAft>
              <a:buNone/>
            </a:pPr>
            <a:r>
              <a:rPr lang="en-US" sz="1400" b="1" dirty="0">
                <a:solidFill>
                  <a:schemeClr val="accent1"/>
                </a:solidFill>
              </a:rPr>
              <a:t>Sendai Framework, target A</a:t>
            </a:r>
            <a:endParaRPr lang="en-US" sz="1500" dirty="0"/>
          </a:p>
          <a:p>
            <a:pPr indent="0" marL="0">
              <a:spcAft>
                <a:spcPts val="1000"/>
              </a:spcAft>
              <a:buNone/>
            </a:pPr>
            <a:r>
              <a:rPr lang="en-US" sz="600" dirty="0">
                <a:solidFill>
                  <a:schemeClr val="tx2"/>
                </a:solidFill>
              </a:rPr>
              <a:t> </a:t>
            </a:r>
            <a:endParaRPr lang="en-US" sz="1500" dirty="0"/>
          </a:p>
          <a:p>
            <a:pPr marL="342900" indent="-342900">
              <a:spcAft>
                <a:spcPts val="1000"/>
              </a:spcAft>
              <a:buSzPct val="100000"/>
              <a:buChar char="•"/>
            </a:pPr>
            <a:r>
              <a:rPr lang="en-US" sz="1500" dirty="0">
                <a:solidFill>
                  <a:schemeClr val="tx2"/>
                </a:solidFill>
              </a:rPr>
              <a:t>Odette 2021 had the highest rate (3.88) though Ulysses had more deaths (339 vs 290).</a:t>
            </a:r>
            <a:endParaRPr lang="en-US" sz="1500" dirty="0"/>
          </a:p>
          <a:p>
            <a:pPr marL="342900" indent="-342900">
              <a:spcAft>
                <a:spcPts val="1000"/>
              </a:spcAft>
              <a:buSzPct val="100000"/>
              <a:buChar char="•"/>
            </a:pPr>
            <a:r>
              <a:rPr lang="en-US" sz="1500" dirty="0">
                <a:solidFill>
                  <a:schemeClr val="tx2"/>
                </a:solidFill>
              </a:rPr>
              <a:t>Kristine 2024, the costliest storm (₱54.1B), ranks only fourth.</a:t>
            </a:r>
            <a:endParaRPr lang="en-US" sz="1500" dirty="0"/>
          </a:p>
          <a:p>
            <a:pPr marL="342900" indent="-342900">
              <a:spcAft>
                <a:spcPts val="1000"/>
              </a:spcAft>
              <a:buSzPct val="100000"/>
              <a:buChar char="•"/>
            </a:pPr>
            <a:r>
              <a:rPr lang="en-US" sz="1500" dirty="0">
                <a:solidFill>
                  <a:schemeClr val="tx2"/>
                </a:solidFill>
              </a:rPr>
              <a:t>Cost and mortality rank storms differently, so leaders need both views.</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5A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Most displaced people are outside evacuation centers</a:t>
            </a:r>
            <a:endParaRPr lang="en-US" sz="3400" dirty="0"/>
          </a:p>
        </p:txBody>
      </p:sp>
      <p:graphicFrame>
        <p:nvGraphicFramePr>
          <p:cNvPr id="3" name="Kristine displacement chart" descr=""/>
          <p:cNvGraphicFramePr/>
          <p:nvPr/>
        </p:nvGraphicFramePr>
        <p:xfrm>
          <a:off x="4206240" y="1234440"/>
          <a:ext cx="7452360" cy="4754880"/>
        </p:xfrm>
        <a:graphic xmlns:a="http://schemas.openxmlformats.org/drawingml/2006/main">
          <a:graphicData uri="http://schemas.openxmlformats.org/drawingml/2006/chart">
            <c:chart xmlns:c="http://schemas.openxmlformats.org/drawingml/2006/chart" r:id="rId1"/>
          </a:graphicData>
        </a:graphic>
      </p:graphicFrame>
      <p:pic>
        <p:nvPicPr>
          <p:cNvPr id="4" name="Evacuation center Tanauan" descr="C:\Users\banba\AppData\Local\Temp\claude\C--Users-banba-OneDrive-Documents-GitHub-NEUSTIT271-EDW-Project--claude-worktrees-great-bardeen-ab59a6\74094a70-acc5-4807-885e-b40727f685f7\scratchpad\img\evac_center.jpg">    </p:cNvPr>
          <p:cNvPicPr>
            <a:picLocks noChangeAspect="1"/>
          </p:cNvPicPr>
          <p:nvPr/>
        </p:nvPicPr>
        <p:blipFill>
          <a:blip r:embed="rId2"/>
          <a:srcRect l="0" r="0" t="0" b="0"/>
          <a:stretch/>
        </p:blipFill>
        <p:spPr>
          <a:xfrm>
            <a:off x="548640" y="1325880"/>
            <a:ext cx="3383280" cy="2240280"/>
          </a:xfrm>
          <a:prstGeom prst="rect">
            <a:avLst/>
          </a:prstGeom>
        </p:spPr>
      </p:pic>
      <p:sp>
        <p:nvSpPr>
          <p:cNvPr id="5" name="caption"/>
          <p:cNvSpPr txBox="1"/>
          <p:nvPr/>
        </p:nvSpPr>
        <p:spPr>
          <a:xfrm>
            <a:off x="548640" y="3593592"/>
            <a:ext cx="3383280" cy="274320"/>
          </a:xfrm>
          <a:prstGeom prst="rect">
            <a:avLst/>
          </a:prstGeom>
          <a:noFill/>
          <a:ln/>
        </p:spPr>
        <p:txBody>
          <a:bodyPr wrap="square" lIns="0" tIns="0" rIns="0" bIns="0" rtlCol="0" anchor="ctr"/>
          <a:lstStyle/>
          <a:p>
            <a:pPr algn="l" indent="0" marL="0">
              <a:buNone/>
            </a:pPr>
            <a:r>
              <a:rPr lang="en-US" sz="1000" i="1" dirty="0">
                <a:solidFill>
                  <a:schemeClr val="accent5"/>
                </a:solidFill>
              </a:rPr>
              <a:t>Evacuation center, Tanauan, Batangas, 2020 · PNA · public domain</a:t>
            </a:r>
            <a:endParaRPr lang="en-US" sz="1000" dirty="0"/>
          </a:p>
        </p:txBody>
      </p:sp>
      <p:sp>
        <p:nvSpPr>
          <p:cNvPr id="6" name="stat value"/>
          <p:cNvSpPr txBox="1"/>
          <p:nvPr/>
        </p:nvSpPr>
        <p:spPr>
          <a:xfrm>
            <a:off x="548640" y="3977640"/>
            <a:ext cx="3383280" cy="7772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302K</a:t>
            </a:r>
            <a:endParaRPr lang="en-US" sz="4000" dirty="0"/>
          </a:p>
        </p:txBody>
      </p:sp>
      <p:sp>
        <p:nvSpPr>
          <p:cNvPr id="7" name="stat label"/>
          <p:cNvSpPr txBox="1"/>
          <p:nvPr/>
        </p:nvSpPr>
        <p:spPr>
          <a:xfrm>
            <a:off x="548640" y="4754880"/>
            <a:ext cx="3383280" cy="594360"/>
          </a:xfrm>
          <a:prstGeom prst="rect">
            <a:avLst/>
          </a:prstGeom>
          <a:noFill/>
          <a:ln/>
        </p:spPr>
        <p:txBody>
          <a:bodyPr wrap="square" lIns="0" tIns="0" rIns="0" bIns="0" rtlCol="0" anchor="t"/>
          <a:lstStyle/>
          <a:p>
            <a:pPr indent="0" marL="0">
              <a:buNone/>
            </a:pPr>
            <a:r>
              <a:rPr lang="en-US" sz="1400" dirty="0">
                <a:solidFill>
                  <a:schemeClr val="tx2"/>
                </a:solidFill>
              </a:rPr>
              <a:t>displaced on Kristine's peak day; 57% stayed outside centers</a:t>
            </a:r>
            <a:endParaRPr lang="en-US" sz="1400" dirty="0"/>
          </a:p>
        </p:txBody>
      </p:sp>
      <p:sp>
        <p:nvSpPr>
          <p:cNvPr id="8" name="Text 4"/>
          <p:cNvSpPr txBox="1"/>
          <p:nvPr/>
        </p:nvSpPr>
        <p:spPr>
          <a:xfrm>
            <a:off x="548640" y="5349240"/>
            <a:ext cx="3383280" cy="548640"/>
          </a:xfrm>
          <a:prstGeom prst="rect">
            <a:avLst/>
          </a:prstGeom>
          <a:noFill/>
          <a:ln/>
        </p:spPr>
        <p:txBody>
          <a:bodyPr wrap="square" lIns="0" tIns="0" rIns="0" bIns="0" rtlCol="0" anchor="ctr"/>
          <a:lstStyle/>
          <a:p>
            <a:pPr indent="0" marL="0">
              <a:buNone/>
            </a:pPr>
            <a:r>
              <a:rPr lang="en-US" sz="1400" i="1" dirty="0">
                <a:solidFill>
                  <a:schemeClr val="accent5"/>
                </a:solidFill>
              </a:rPr>
              <a:t>Centers emptied by 4 Nov; families stayed with relatives until 9 Nov.</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5A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Lifelines: bridges take longest to come back</a:t>
            </a:r>
            <a:endParaRPr lang="en-US" sz="3400" dirty="0"/>
          </a:p>
        </p:txBody>
      </p:sp>
      <p:graphicFrame>
        <p:nvGraphicFramePr>
          <p:cNvPr id="3" name="Kristine lifelines chart" descr=""/>
          <p:cNvGraphicFramePr/>
          <p:nvPr/>
        </p:nvGraphicFramePr>
        <p:xfrm>
          <a:off x="548640" y="123444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001000" y="1325880"/>
            <a:ext cx="3657600" cy="365760"/>
          </a:xfrm>
          <a:prstGeom prst="rect">
            <a:avLst/>
          </a:prstGeom>
          <a:noFill/>
          <a:ln/>
        </p:spPr>
        <p:txBody>
          <a:bodyPr wrap="square" lIns="0" tIns="0" rIns="0" bIns="0" rtlCol="0" anchor="ctr"/>
          <a:lstStyle/>
          <a:p>
            <a:pPr indent="0" marL="0">
              <a:buNone/>
            </a:pPr>
            <a:r>
              <a:rPr lang="en-US" sz="1600" b="1" dirty="0">
                <a:solidFill>
                  <a:schemeClr val="tx1"/>
                </a:solidFill>
              </a:rPr>
              <a:t>Median hours to restore</a:t>
            </a:r>
            <a:endParaRPr lang="en-US" sz="1600" dirty="0"/>
          </a:p>
        </p:txBody>
      </p:sp>
      <p:sp>
        <p:nvSpPr>
          <p:cNvPr id="5" name="Bridges circle"/>
          <p:cNvSpPr/>
          <p:nvPr/>
        </p:nvSpPr>
        <p:spPr>
          <a:xfrm>
            <a:off x="8001000" y="1828800"/>
            <a:ext cx="502920" cy="502920"/>
          </a:xfrm>
          <a:prstGeom prst="ellipse">
            <a:avLst/>
          </a:prstGeom>
          <a:solidFill>
            <a:schemeClr val="accent6"/>
          </a:solidFill>
          <a:ln/>
        </p:spPr>
      </p:sp>
      <p:pic>
        <p:nvPicPr>
          <p:cNvPr id="6" name="Bridges glyph" descr="preencoded.png">    </p:cNvPr>
          <p:cNvPicPr>
            <a:picLocks noChangeAspect="1"/>
          </p:cNvPicPr>
          <p:nvPr/>
        </p:nvPicPr>
        <p:blipFill>
          <a:blip r:embed="rId2"/>
          <a:stretch>
            <a:fillRect/>
          </a:stretch>
        </p:blipFill>
        <p:spPr>
          <a:xfrm>
            <a:off x="8121701" y="1949501"/>
            <a:ext cx="261518" cy="261518"/>
          </a:xfrm>
          <a:prstGeom prst="rect">
            <a:avLst/>
          </a:prstGeom>
        </p:spPr>
      </p:pic>
      <p:sp>
        <p:nvSpPr>
          <p:cNvPr id="7" name="Text 3"/>
          <p:cNvSpPr txBox="1"/>
          <p:nvPr/>
        </p:nvSpPr>
        <p:spPr>
          <a:xfrm>
            <a:off x="8686800" y="1828800"/>
            <a:ext cx="1920240" cy="502920"/>
          </a:xfrm>
          <a:prstGeom prst="rect">
            <a:avLst/>
          </a:prstGeom>
          <a:noFill/>
          <a:ln/>
        </p:spPr>
        <p:txBody>
          <a:bodyPr wrap="square" lIns="0" tIns="0" rIns="0" bIns="0" rtlCol="0" anchor="ctr"/>
          <a:lstStyle/>
          <a:p>
            <a:pPr indent="0" marL="0">
              <a:buNone/>
            </a:pPr>
            <a:r>
              <a:rPr lang="en-US" sz="1500" dirty="0">
                <a:solidFill>
                  <a:schemeClr val="tx2"/>
                </a:solidFill>
              </a:rPr>
              <a:t>Bridges</a:t>
            </a:r>
            <a:endParaRPr lang="en-US" sz="1500" dirty="0"/>
          </a:p>
        </p:txBody>
      </p:sp>
      <p:sp>
        <p:nvSpPr>
          <p:cNvPr id="8" name="Text 4"/>
          <p:cNvSpPr txBox="1"/>
          <p:nvPr/>
        </p:nvSpPr>
        <p:spPr>
          <a:xfrm>
            <a:off x="10561320" y="1828800"/>
            <a:ext cx="1097280" cy="502920"/>
          </a:xfrm>
          <a:prstGeom prst="rect">
            <a:avLst/>
          </a:prstGeom>
          <a:noFill/>
          <a:ln/>
        </p:spPr>
        <p:txBody>
          <a:bodyPr wrap="square" lIns="0" tIns="0" rIns="0" bIns="0" rtlCol="0" anchor="ctr"/>
          <a:lstStyle/>
          <a:p>
            <a:pPr algn="r" indent="0" marL="0">
              <a:buNone/>
            </a:pPr>
            <a:r>
              <a:rPr lang="en-US" sz="1800" b="1" dirty="0">
                <a:solidFill>
                  <a:schemeClr val="accent6"/>
                </a:solidFill>
              </a:rPr>
              <a:t>141 h</a:t>
            </a:r>
            <a:endParaRPr lang="en-US" sz="1800" dirty="0"/>
          </a:p>
        </p:txBody>
      </p:sp>
      <p:sp>
        <p:nvSpPr>
          <p:cNvPr id="9" name="Water circle"/>
          <p:cNvSpPr/>
          <p:nvPr/>
        </p:nvSpPr>
        <p:spPr>
          <a:xfrm>
            <a:off x="8001000" y="2578608"/>
            <a:ext cx="502920" cy="502920"/>
          </a:xfrm>
          <a:prstGeom prst="ellipse">
            <a:avLst/>
          </a:prstGeom>
          <a:solidFill>
            <a:schemeClr val="accent5"/>
          </a:solidFill>
          <a:ln/>
        </p:spPr>
      </p:sp>
      <p:pic>
        <p:nvPicPr>
          <p:cNvPr id="10" name="Water glyph" descr="preencoded.png">    </p:cNvPr>
          <p:cNvPicPr>
            <a:picLocks noChangeAspect="1"/>
          </p:cNvPicPr>
          <p:nvPr/>
        </p:nvPicPr>
        <p:blipFill>
          <a:blip r:embed="rId3"/>
          <a:stretch>
            <a:fillRect/>
          </a:stretch>
        </p:blipFill>
        <p:spPr>
          <a:xfrm>
            <a:off x="8121701" y="2699309"/>
            <a:ext cx="261518" cy="261518"/>
          </a:xfrm>
          <a:prstGeom prst="rect">
            <a:avLst/>
          </a:prstGeom>
        </p:spPr>
      </p:pic>
      <p:sp>
        <p:nvSpPr>
          <p:cNvPr id="11" name="Text 6"/>
          <p:cNvSpPr txBox="1"/>
          <p:nvPr/>
        </p:nvSpPr>
        <p:spPr>
          <a:xfrm>
            <a:off x="8686800" y="2578608"/>
            <a:ext cx="1920240" cy="502920"/>
          </a:xfrm>
          <a:prstGeom prst="rect">
            <a:avLst/>
          </a:prstGeom>
          <a:noFill/>
          <a:ln/>
        </p:spPr>
        <p:txBody>
          <a:bodyPr wrap="square" lIns="0" tIns="0" rIns="0" bIns="0" rtlCol="0" anchor="ctr"/>
          <a:lstStyle/>
          <a:p>
            <a:pPr indent="0" marL="0">
              <a:buNone/>
            </a:pPr>
            <a:r>
              <a:rPr lang="en-US" sz="1500" dirty="0">
                <a:solidFill>
                  <a:schemeClr val="tx2"/>
                </a:solidFill>
              </a:rPr>
              <a:t>Water</a:t>
            </a:r>
            <a:endParaRPr lang="en-US" sz="1500" dirty="0"/>
          </a:p>
        </p:txBody>
      </p:sp>
      <p:sp>
        <p:nvSpPr>
          <p:cNvPr id="12" name="Text 7"/>
          <p:cNvSpPr txBox="1"/>
          <p:nvPr/>
        </p:nvSpPr>
        <p:spPr>
          <a:xfrm>
            <a:off x="10561320" y="2578608"/>
            <a:ext cx="1097280" cy="502920"/>
          </a:xfrm>
          <a:prstGeom prst="rect">
            <a:avLst/>
          </a:prstGeom>
          <a:noFill/>
          <a:ln/>
        </p:spPr>
        <p:txBody>
          <a:bodyPr wrap="square" lIns="0" tIns="0" rIns="0" bIns="0" rtlCol="0" anchor="ctr"/>
          <a:lstStyle/>
          <a:p>
            <a:pPr algn="r" indent="0" marL="0">
              <a:buNone/>
            </a:pPr>
            <a:r>
              <a:rPr lang="en-US" sz="1800" b="1" dirty="0">
                <a:solidFill>
                  <a:schemeClr val="tx1"/>
                </a:solidFill>
              </a:rPr>
              <a:t>77 h</a:t>
            </a:r>
            <a:endParaRPr lang="en-US" sz="1800" dirty="0"/>
          </a:p>
        </p:txBody>
      </p:sp>
      <p:sp>
        <p:nvSpPr>
          <p:cNvPr id="13" name="Power circle"/>
          <p:cNvSpPr/>
          <p:nvPr/>
        </p:nvSpPr>
        <p:spPr>
          <a:xfrm>
            <a:off x="8001000" y="3328416"/>
            <a:ext cx="502920" cy="502920"/>
          </a:xfrm>
          <a:prstGeom prst="ellipse">
            <a:avLst/>
          </a:prstGeom>
          <a:solidFill>
            <a:schemeClr val="accent5"/>
          </a:solidFill>
          <a:ln/>
        </p:spPr>
      </p:sp>
      <p:pic>
        <p:nvPicPr>
          <p:cNvPr id="14" name="Power glyph" descr="preencoded.png">    </p:cNvPr>
          <p:cNvPicPr>
            <a:picLocks noChangeAspect="1"/>
          </p:cNvPicPr>
          <p:nvPr/>
        </p:nvPicPr>
        <p:blipFill>
          <a:blip r:embed="rId4"/>
          <a:stretch>
            <a:fillRect/>
          </a:stretch>
        </p:blipFill>
        <p:spPr>
          <a:xfrm>
            <a:off x="8121701" y="3449117"/>
            <a:ext cx="261518" cy="261518"/>
          </a:xfrm>
          <a:prstGeom prst="rect">
            <a:avLst/>
          </a:prstGeom>
        </p:spPr>
      </p:pic>
      <p:sp>
        <p:nvSpPr>
          <p:cNvPr id="15" name="Text 9"/>
          <p:cNvSpPr txBox="1"/>
          <p:nvPr/>
        </p:nvSpPr>
        <p:spPr>
          <a:xfrm>
            <a:off x="8686800" y="3328416"/>
            <a:ext cx="1920240" cy="502920"/>
          </a:xfrm>
          <a:prstGeom prst="rect">
            <a:avLst/>
          </a:prstGeom>
          <a:noFill/>
          <a:ln/>
        </p:spPr>
        <p:txBody>
          <a:bodyPr wrap="square" lIns="0" tIns="0" rIns="0" bIns="0" rtlCol="0" anchor="ctr"/>
          <a:lstStyle/>
          <a:p>
            <a:pPr indent="0" marL="0">
              <a:buNone/>
            </a:pPr>
            <a:r>
              <a:rPr lang="en-US" sz="1500" dirty="0">
                <a:solidFill>
                  <a:schemeClr val="tx2"/>
                </a:solidFill>
              </a:rPr>
              <a:t>Power</a:t>
            </a:r>
            <a:endParaRPr lang="en-US" sz="1500" dirty="0"/>
          </a:p>
        </p:txBody>
      </p:sp>
      <p:sp>
        <p:nvSpPr>
          <p:cNvPr id="16" name="Text 10"/>
          <p:cNvSpPr txBox="1"/>
          <p:nvPr/>
        </p:nvSpPr>
        <p:spPr>
          <a:xfrm>
            <a:off x="10561320" y="3328416"/>
            <a:ext cx="1097280" cy="502920"/>
          </a:xfrm>
          <a:prstGeom prst="rect">
            <a:avLst/>
          </a:prstGeom>
          <a:noFill/>
          <a:ln/>
        </p:spPr>
        <p:txBody>
          <a:bodyPr wrap="square" lIns="0" tIns="0" rIns="0" bIns="0" rtlCol="0" anchor="ctr"/>
          <a:lstStyle/>
          <a:p>
            <a:pPr algn="r" indent="0" marL="0">
              <a:buNone/>
            </a:pPr>
            <a:r>
              <a:rPr lang="en-US" sz="1800" b="1" dirty="0">
                <a:solidFill>
                  <a:schemeClr val="tx1"/>
                </a:solidFill>
              </a:rPr>
              <a:t>59 h</a:t>
            </a:r>
            <a:endParaRPr lang="en-US" sz="1800" dirty="0"/>
          </a:p>
        </p:txBody>
      </p:sp>
      <p:sp>
        <p:nvSpPr>
          <p:cNvPr id="17" name="Communications circle"/>
          <p:cNvSpPr/>
          <p:nvPr/>
        </p:nvSpPr>
        <p:spPr>
          <a:xfrm>
            <a:off x="8001000" y="4078224"/>
            <a:ext cx="502920" cy="502920"/>
          </a:xfrm>
          <a:prstGeom prst="ellipse">
            <a:avLst/>
          </a:prstGeom>
          <a:solidFill>
            <a:schemeClr val="accent5"/>
          </a:solidFill>
          <a:ln/>
        </p:spPr>
      </p:sp>
      <p:pic>
        <p:nvPicPr>
          <p:cNvPr id="18" name="Communications glyph" descr="preencoded.png">    </p:cNvPr>
          <p:cNvPicPr>
            <a:picLocks noChangeAspect="1"/>
          </p:cNvPicPr>
          <p:nvPr/>
        </p:nvPicPr>
        <p:blipFill>
          <a:blip r:embed="rId5"/>
          <a:stretch>
            <a:fillRect/>
          </a:stretch>
        </p:blipFill>
        <p:spPr>
          <a:xfrm>
            <a:off x="8121701" y="4198925"/>
            <a:ext cx="261518" cy="261518"/>
          </a:xfrm>
          <a:prstGeom prst="rect">
            <a:avLst/>
          </a:prstGeom>
        </p:spPr>
      </p:pic>
      <p:sp>
        <p:nvSpPr>
          <p:cNvPr id="19" name="Text 12"/>
          <p:cNvSpPr txBox="1"/>
          <p:nvPr/>
        </p:nvSpPr>
        <p:spPr>
          <a:xfrm>
            <a:off x="8686800" y="4078224"/>
            <a:ext cx="1920240" cy="502920"/>
          </a:xfrm>
          <a:prstGeom prst="rect">
            <a:avLst/>
          </a:prstGeom>
          <a:noFill/>
          <a:ln/>
        </p:spPr>
        <p:txBody>
          <a:bodyPr wrap="square" lIns="0" tIns="0" rIns="0" bIns="0" rtlCol="0" anchor="ctr"/>
          <a:lstStyle/>
          <a:p>
            <a:pPr indent="0" marL="0">
              <a:buNone/>
            </a:pPr>
            <a:r>
              <a:rPr lang="en-US" sz="1500" dirty="0">
                <a:solidFill>
                  <a:schemeClr val="tx2"/>
                </a:solidFill>
              </a:rPr>
              <a:t>Communications</a:t>
            </a:r>
            <a:endParaRPr lang="en-US" sz="1500" dirty="0"/>
          </a:p>
        </p:txBody>
      </p:sp>
      <p:sp>
        <p:nvSpPr>
          <p:cNvPr id="20" name="Text 13"/>
          <p:cNvSpPr txBox="1"/>
          <p:nvPr/>
        </p:nvSpPr>
        <p:spPr>
          <a:xfrm>
            <a:off x="10561320" y="4078224"/>
            <a:ext cx="1097280" cy="502920"/>
          </a:xfrm>
          <a:prstGeom prst="rect">
            <a:avLst/>
          </a:prstGeom>
          <a:noFill/>
          <a:ln/>
        </p:spPr>
        <p:txBody>
          <a:bodyPr wrap="square" lIns="0" tIns="0" rIns="0" bIns="0" rtlCol="0" anchor="ctr"/>
          <a:lstStyle/>
          <a:p>
            <a:pPr algn="r" indent="0" marL="0">
              <a:buNone/>
            </a:pPr>
            <a:r>
              <a:rPr lang="en-US" sz="1800" b="1" dirty="0">
                <a:solidFill>
                  <a:schemeClr val="tx1"/>
                </a:solidFill>
              </a:rPr>
              <a:t>43 h</a:t>
            </a:r>
            <a:endParaRPr lang="en-US" sz="1800" dirty="0"/>
          </a:p>
        </p:txBody>
      </p:sp>
      <p:sp>
        <p:nvSpPr>
          <p:cNvPr id="21" name="Roads circle"/>
          <p:cNvSpPr/>
          <p:nvPr/>
        </p:nvSpPr>
        <p:spPr>
          <a:xfrm>
            <a:off x="8001000" y="4828032"/>
            <a:ext cx="502920" cy="502920"/>
          </a:xfrm>
          <a:prstGeom prst="ellipse">
            <a:avLst/>
          </a:prstGeom>
          <a:solidFill>
            <a:schemeClr val="accent5"/>
          </a:solidFill>
          <a:ln/>
        </p:spPr>
      </p:sp>
      <p:pic>
        <p:nvPicPr>
          <p:cNvPr id="22" name="Roads glyph" descr="preencoded.png">    </p:cNvPr>
          <p:cNvPicPr>
            <a:picLocks noChangeAspect="1"/>
          </p:cNvPicPr>
          <p:nvPr/>
        </p:nvPicPr>
        <p:blipFill>
          <a:blip r:embed="rId6"/>
          <a:stretch>
            <a:fillRect/>
          </a:stretch>
        </p:blipFill>
        <p:spPr>
          <a:xfrm>
            <a:off x="8121701" y="4948733"/>
            <a:ext cx="261518" cy="261518"/>
          </a:xfrm>
          <a:prstGeom prst="rect">
            <a:avLst/>
          </a:prstGeom>
        </p:spPr>
      </p:pic>
      <p:sp>
        <p:nvSpPr>
          <p:cNvPr id="23" name="Text 15"/>
          <p:cNvSpPr txBox="1"/>
          <p:nvPr/>
        </p:nvSpPr>
        <p:spPr>
          <a:xfrm>
            <a:off x="8686800" y="4828032"/>
            <a:ext cx="1920240" cy="502920"/>
          </a:xfrm>
          <a:prstGeom prst="rect">
            <a:avLst/>
          </a:prstGeom>
          <a:noFill/>
          <a:ln/>
        </p:spPr>
        <p:txBody>
          <a:bodyPr wrap="square" lIns="0" tIns="0" rIns="0" bIns="0" rtlCol="0" anchor="ctr"/>
          <a:lstStyle/>
          <a:p>
            <a:pPr indent="0" marL="0">
              <a:buNone/>
            </a:pPr>
            <a:r>
              <a:rPr lang="en-US" sz="1500" dirty="0">
                <a:solidFill>
                  <a:schemeClr val="tx2"/>
                </a:solidFill>
              </a:rPr>
              <a:t>Roads</a:t>
            </a:r>
            <a:endParaRPr lang="en-US" sz="1500" dirty="0"/>
          </a:p>
        </p:txBody>
      </p:sp>
      <p:sp>
        <p:nvSpPr>
          <p:cNvPr id="24" name="Text 16"/>
          <p:cNvSpPr txBox="1"/>
          <p:nvPr/>
        </p:nvSpPr>
        <p:spPr>
          <a:xfrm>
            <a:off x="10561320" y="4828032"/>
            <a:ext cx="1097280" cy="502920"/>
          </a:xfrm>
          <a:prstGeom prst="rect">
            <a:avLst/>
          </a:prstGeom>
          <a:noFill/>
          <a:ln/>
        </p:spPr>
        <p:txBody>
          <a:bodyPr wrap="square" lIns="0" tIns="0" rIns="0" bIns="0" rtlCol="0" anchor="ctr"/>
          <a:lstStyle/>
          <a:p>
            <a:pPr algn="r" indent="0" marL="0">
              <a:buNone/>
            </a:pPr>
            <a:r>
              <a:rPr lang="en-US" sz="1800" b="1" dirty="0">
                <a:solidFill>
                  <a:schemeClr val="tx1"/>
                </a:solidFill>
              </a:rPr>
              <a:t>40 h</a:t>
            </a:r>
            <a:endParaRPr lang="en-US" sz="18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5A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Who paid for the relief</a:t>
            </a:r>
            <a:endParaRPr lang="en-US" sz="3400" dirty="0"/>
          </a:p>
        </p:txBody>
      </p:sp>
      <p:graphicFrame>
        <p:nvGraphicFramePr>
          <p:cNvPr id="3" name="Relief by provider chart" descr=""/>
          <p:cNvGraphicFramePr/>
          <p:nvPr/>
        </p:nvGraphicFramePr>
        <p:xfrm>
          <a:off x="548640" y="1234440"/>
          <a:ext cx="6035040" cy="4754880"/>
        </p:xfrm>
        <a:graphic xmlns:a="http://schemas.openxmlformats.org/drawingml/2006/main">
          <a:graphicData uri="http://schemas.openxmlformats.org/drawingml/2006/chart">
            <c:chart xmlns:c="http://schemas.openxmlformats.org/drawingml/2006/chart" r:id="rId1"/>
          </a:graphicData>
        </a:graphic>
      </p:graphicFrame>
      <p:sp>
        <p:nvSpPr>
          <p:cNvPr id="4" name="stat value"/>
          <p:cNvSpPr txBox="1"/>
          <p:nvPr/>
        </p:nvSpPr>
        <p:spPr>
          <a:xfrm>
            <a:off x="7223760" y="1371600"/>
            <a:ext cx="4434840" cy="7772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₱3.1B</a:t>
            </a:r>
            <a:endParaRPr lang="en-US" sz="4400" dirty="0"/>
          </a:p>
        </p:txBody>
      </p:sp>
      <p:sp>
        <p:nvSpPr>
          <p:cNvPr id="5" name="stat label"/>
          <p:cNvSpPr txBox="1"/>
          <p:nvPr/>
        </p:nvSpPr>
        <p:spPr>
          <a:xfrm>
            <a:off x="7223760" y="2148840"/>
            <a:ext cx="4434840" cy="594360"/>
          </a:xfrm>
          <a:prstGeom prst="rect">
            <a:avLst/>
          </a:prstGeom>
          <a:noFill/>
          <a:ln/>
        </p:spPr>
        <p:txBody>
          <a:bodyPr wrap="square" lIns="0" tIns="0" rIns="0" bIns="0" rtlCol="0" anchor="t"/>
          <a:lstStyle/>
          <a:p>
            <a:pPr indent="0" marL="0">
              <a:buNone/>
            </a:pPr>
            <a:r>
              <a:rPr lang="en-US" sz="1400" dirty="0">
                <a:solidFill>
                  <a:schemeClr val="tx2"/>
                </a:solidFill>
              </a:rPr>
              <a:t>of relief in 8,306 distributions to 53 provinces</a:t>
            </a:r>
            <a:endParaRPr lang="en-US" sz="1400" dirty="0"/>
          </a:p>
        </p:txBody>
      </p:sp>
      <p:sp>
        <p:nvSpPr>
          <p:cNvPr id="6" name="Text 3"/>
          <p:cNvSpPr txBox="1"/>
          <p:nvPr/>
        </p:nvSpPr>
        <p:spPr>
          <a:xfrm>
            <a:off x="7223760" y="2926080"/>
            <a:ext cx="4434840" cy="30175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2"/>
                </a:solidFill>
              </a:rPr>
              <a:t>DSWD's DROMIC reports always say who provided assistance: DSWD, LGUs, NGOs or other partners.</a:t>
            </a:r>
            <a:endParaRPr lang="en-US" sz="1500" dirty="0"/>
          </a:p>
          <a:p>
            <a:pPr marL="342900" indent="-342900">
              <a:spcAft>
                <a:spcPts val="1000"/>
              </a:spcAft>
              <a:buSzPct val="100000"/>
              <a:buChar char="•"/>
            </a:pPr>
            <a:r>
              <a:rPr lang="en-US" sz="1500" dirty="0">
                <a:solidFill>
                  <a:schemeClr val="tx2"/>
                </a:solidFill>
              </a:rPr>
              <a:t>LGUs reached 684,767 family servings, mostly family food packs in the first week.</a:t>
            </a:r>
            <a:endParaRPr lang="en-US" sz="1500" dirty="0"/>
          </a:p>
          <a:p>
            <a:pPr marL="342900" indent="-342900">
              <a:spcAft>
                <a:spcPts val="1000"/>
              </a:spcAft>
              <a:buSzPct val="100000"/>
              <a:buChar char="•"/>
            </a:pPr>
            <a:r>
              <a:rPr lang="en-US" sz="1500" dirty="0">
                <a:solidFill>
                  <a:schemeClr val="tx2"/>
                </a:solidFill>
              </a:rPr>
              <a:t>In real operations DSWD usually leads; this even split comes from the synthetic generator.</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5A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Data exchange: Excel in, Excel out</a:t>
            </a:r>
            <a:endParaRPr lang="en-US" sz="3400" dirty="0"/>
          </a:p>
        </p:txBody>
      </p:sp>
      <p:pic>
        <p:nvPicPr>
          <p:cNvPr id="3" name="Data exchange page" descr="C:\Users\banba\AppData\Local\Temp\claude\C--Users-banba-OneDrive-Documents-GitHub-NEUSTIT271-EDW-Project--claude-worktrees-great-bardeen-ab59a6\74094a70-acc5-4807-885e-b40727f685f7\scratchpad\img\exchange_top.png">    </p:cNvPr>
          <p:cNvPicPr>
            <a:picLocks noChangeAspect="1"/>
          </p:cNvPicPr>
          <p:nvPr/>
        </p:nvPicPr>
        <p:blipFill>
          <a:blip r:embed="rId1"/>
          <a:stretch>
            <a:fillRect/>
          </a:stretch>
        </p:blipFill>
        <p:spPr>
          <a:xfrm>
            <a:off x="548640" y="1334792"/>
            <a:ext cx="6949440" cy="4417017"/>
          </a:xfrm>
          <a:prstGeom prst="rect">
            <a:avLst/>
          </a:prstGeom>
        </p:spPr>
      </p:pic>
      <p:sp>
        <p:nvSpPr>
          <p:cNvPr id="4" name="screenshot frame"/>
          <p:cNvSpPr/>
          <p:nvPr/>
        </p:nvSpPr>
        <p:spPr>
          <a:xfrm>
            <a:off x="548640" y="1334792"/>
            <a:ext cx="6949440" cy="4417017"/>
          </a:xfrm>
          <a:prstGeom prst="rect">
            <a:avLst/>
          </a:prstGeom>
          <a:ln w="12700">
            <a:solidFill>
              <a:srgbClr val="D5DBE2"/>
            </a:solidFill>
            <a:prstDash val="solid"/>
          </a:ln>
        </p:spPr>
      </p:sp>
      <p:sp>
        <p:nvSpPr>
          <p:cNvPr id="5" name="Templates circle"/>
          <p:cNvSpPr/>
          <p:nvPr/>
        </p:nvSpPr>
        <p:spPr>
          <a:xfrm>
            <a:off x="7863840" y="1371600"/>
            <a:ext cx="566928" cy="566928"/>
          </a:xfrm>
          <a:prstGeom prst="ellipse">
            <a:avLst/>
          </a:prstGeom>
          <a:solidFill>
            <a:schemeClr val="accent1"/>
          </a:solidFill>
          <a:ln/>
        </p:spPr>
      </p:sp>
      <p:pic>
        <p:nvPicPr>
          <p:cNvPr id="6" name="Templates glyph" descr="preencoded.png">    </p:cNvPr>
          <p:cNvPicPr>
            <a:picLocks noChangeAspect="1"/>
          </p:cNvPicPr>
          <p:nvPr/>
        </p:nvPicPr>
        <p:blipFill>
          <a:blip r:embed="rId2"/>
          <a:stretch>
            <a:fillRect/>
          </a:stretch>
        </p:blipFill>
        <p:spPr>
          <a:xfrm>
            <a:off x="7999903" y="1507663"/>
            <a:ext cx="294803" cy="294803"/>
          </a:xfrm>
          <a:prstGeom prst="rect">
            <a:avLst/>
          </a:prstGeom>
        </p:spPr>
      </p:pic>
      <p:sp>
        <p:nvSpPr>
          <p:cNvPr id="7" name="Text 3"/>
          <p:cNvSpPr txBox="1"/>
          <p:nvPr/>
        </p:nvSpPr>
        <p:spPr>
          <a:xfrm>
            <a:off x="8595360" y="1325880"/>
            <a:ext cx="3063240" cy="1325880"/>
          </a:xfrm>
          <a:prstGeom prst="rect">
            <a:avLst/>
          </a:prstGeom>
          <a:noFill/>
          <a:ln/>
        </p:spPr>
        <p:txBody>
          <a:bodyPr wrap="square" lIns="0" tIns="0" rIns="0" bIns="0" rtlCol="0" anchor="t"/>
          <a:lstStyle/>
          <a:p>
            <a:pPr indent="0" marL="0">
              <a:buNone/>
            </a:pPr>
            <a:r>
              <a:rPr lang="en-US" sz="1700" b="1" dirty="0">
                <a:solidFill>
                  <a:schemeClr val="tx1"/>
                </a:solidFill>
              </a:rPr>
              <a:t>Templates</a:t>
            </a:r>
            <a:endParaRPr lang="en-US" sz="1700" dirty="0"/>
          </a:p>
          <a:p>
            <a:pPr indent="0" marL="0">
              <a:buNone/>
            </a:pPr>
            <a:r>
              <a:rPr lang="en-US" sz="1400" dirty="0">
                <a:solidFill>
                  <a:schemeClr val="tx2"/>
                </a:solidFill>
              </a:rPr>
              <a:t>one Excel workbook per report type, with drop-down lists of official names</a:t>
            </a:r>
            <a:endParaRPr lang="en-US" sz="1700" dirty="0"/>
          </a:p>
        </p:txBody>
      </p:sp>
      <p:sp>
        <p:nvSpPr>
          <p:cNvPr id="8" name="Checked uploads circle"/>
          <p:cNvSpPr/>
          <p:nvPr/>
        </p:nvSpPr>
        <p:spPr>
          <a:xfrm>
            <a:off x="7863840" y="2852928"/>
            <a:ext cx="566928" cy="566928"/>
          </a:xfrm>
          <a:prstGeom prst="ellipse">
            <a:avLst/>
          </a:prstGeom>
          <a:solidFill>
            <a:schemeClr val="accent1"/>
          </a:solidFill>
          <a:ln/>
        </p:spPr>
      </p:sp>
      <p:pic>
        <p:nvPicPr>
          <p:cNvPr id="9" name="Checked uploads glyph" descr="preencoded.png">    </p:cNvPr>
          <p:cNvPicPr>
            <a:picLocks noChangeAspect="1"/>
          </p:cNvPicPr>
          <p:nvPr/>
        </p:nvPicPr>
        <p:blipFill>
          <a:blip r:embed="rId3"/>
          <a:stretch>
            <a:fillRect/>
          </a:stretch>
        </p:blipFill>
        <p:spPr>
          <a:xfrm>
            <a:off x="7999903" y="2988991"/>
            <a:ext cx="294803" cy="294803"/>
          </a:xfrm>
          <a:prstGeom prst="rect">
            <a:avLst/>
          </a:prstGeom>
        </p:spPr>
      </p:pic>
      <p:sp>
        <p:nvSpPr>
          <p:cNvPr id="10" name="Text 5"/>
          <p:cNvSpPr txBox="1"/>
          <p:nvPr/>
        </p:nvSpPr>
        <p:spPr>
          <a:xfrm>
            <a:off x="8595360" y="2807208"/>
            <a:ext cx="3063240" cy="1325880"/>
          </a:xfrm>
          <a:prstGeom prst="rect">
            <a:avLst/>
          </a:prstGeom>
          <a:noFill/>
          <a:ln/>
        </p:spPr>
        <p:txBody>
          <a:bodyPr wrap="square" lIns="0" tIns="0" rIns="0" bIns="0" rtlCol="0" anchor="t"/>
          <a:lstStyle/>
          <a:p>
            <a:pPr indent="0" marL="0">
              <a:buNone/>
            </a:pPr>
            <a:r>
              <a:rPr lang="en-US" sz="1700" b="1" dirty="0">
                <a:solidFill>
                  <a:schemeClr val="tx1"/>
                </a:solidFill>
              </a:rPr>
              <a:t>Checked uploads</a:t>
            </a:r>
            <a:endParaRPr lang="en-US" sz="1700" dirty="0"/>
          </a:p>
          <a:p>
            <a:pPr indent="0" marL="0">
              <a:buNone/>
            </a:pPr>
            <a:r>
              <a:rPr lang="en-US" sz="1400" dirty="0">
                <a:solidFill>
                  <a:schemeClr val="tx2"/>
                </a:solidFill>
              </a:rPr>
              <a:t>LGUs submit a file; every row is validated before it loads</a:t>
            </a:r>
            <a:endParaRPr lang="en-US" sz="1700" dirty="0"/>
          </a:p>
        </p:txBody>
      </p:sp>
      <p:sp>
        <p:nvSpPr>
          <p:cNvPr id="11" name="Excel and JSON out circle"/>
          <p:cNvSpPr/>
          <p:nvPr/>
        </p:nvSpPr>
        <p:spPr>
          <a:xfrm>
            <a:off x="7863840" y="4334256"/>
            <a:ext cx="566928" cy="566928"/>
          </a:xfrm>
          <a:prstGeom prst="ellipse">
            <a:avLst/>
          </a:prstGeom>
          <a:solidFill>
            <a:schemeClr val="accent1"/>
          </a:solidFill>
          <a:ln/>
        </p:spPr>
      </p:sp>
      <p:pic>
        <p:nvPicPr>
          <p:cNvPr id="12" name="Excel and JSON out glyph" descr="preencoded.png">    </p:cNvPr>
          <p:cNvPicPr>
            <a:picLocks noChangeAspect="1"/>
          </p:cNvPicPr>
          <p:nvPr/>
        </p:nvPicPr>
        <p:blipFill>
          <a:blip r:embed="rId4"/>
          <a:stretch>
            <a:fillRect/>
          </a:stretch>
        </p:blipFill>
        <p:spPr>
          <a:xfrm>
            <a:off x="7999903" y="4470319"/>
            <a:ext cx="294803" cy="294803"/>
          </a:xfrm>
          <a:prstGeom prst="rect">
            <a:avLst/>
          </a:prstGeom>
        </p:spPr>
      </p:pic>
      <p:sp>
        <p:nvSpPr>
          <p:cNvPr id="13" name="Text 7"/>
          <p:cNvSpPr txBox="1"/>
          <p:nvPr/>
        </p:nvSpPr>
        <p:spPr>
          <a:xfrm>
            <a:off x="8595360" y="4288536"/>
            <a:ext cx="3063240" cy="1325880"/>
          </a:xfrm>
          <a:prstGeom prst="rect">
            <a:avLst/>
          </a:prstGeom>
          <a:noFill/>
          <a:ln/>
        </p:spPr>
        <p:txBody>
          <a:bodyPr wrap="square" lIns="0" tIns="0" rIns="0" bIns="0" rtlCol="0" anchor="t"/>
          <a:lstStyle/>
          <a:p>
            <a:pPr indent="0" marL="0">
              <a:buNone/>
            </a:pPr>
            <a:r>
              <a:rPr lang="en-US" sz="1700" b="1" dirty="0">
                <a:solidFill>
                  <a:schemeClr val="tx1"/>
                </a:solidFill>
              </a:rPr>
              <a:t>Excel and JSON out</a:t>
            </a:r>
            <a:endParaRPr lang="en-US" sz="1700" dirty="0"/>
          </a:p>
          <a:p>
            <a:pPr indent="0" marL="0">
              <a:buNone/>
            </a:pPr>
            <a:r>
              <a:rPr lang="en-US" sz="1400" dirty="0">
                <a:solidFill>
                  <a:schemeClr val="tx2"/>
                </a:solidFill>
              </a:rPr>
              <a:t>all marts as Excel, or live JSON from the PHP API</a:t>
            </a:r>
            <a:endParaRPr lang="en-US" sz="17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5A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Governance and security</a:t>
            </a:r>
            <a:endParaRPr lang="en-US" sz="3400" dirty="0"/>
          </a:p>
        </p:txBody>
      </p:sp>
      <p:sp>
        <p:nvSpPr>
          <p:cNvPr id="3" name="card"/>
          <p:cNvSpPr/>
          <p:nvPr/>
        </p:nvSpPr>
        <p:spPr>
          <a:xfrm>
            <a:off x="548640" y="1371600"/>
            <a:ext cx="5440680" cy="2057400"/>
          </a:xfrm>
          <a:prstGeom prst="roundRect">
            <a:avLst>
              <a:gd name="adj" fmla="val 5333"/>
            </a:avLst>
          </a:prstGeom>
          <a:solidFill>
            <a:schemeClr val="bg2"/>
          </a:solidFill>
          <a:ln/>
        </p:spPr>
      </p:sp>
      <p:sp>
        <p:nvSpPr>
          <p:cNvPr id="4" name="Role-based access circle"/>
          <p:cNvSpPr/>
          <p:nvPr/>
        </p:nvSpPr>
        <p:spPr>
          <a:xfrm>
            <a:off x="868680" y="1691640"/>
            <a:ext cx="685800" cy="685800"/>
          </a:xfrm>
          <a:prstGeom prst="ellipse">
            <a:avLst/>
          </a:prstGeom>
          <a:solidFill>
            <a:schemeClr val="tx1"/>
          </a:solidFill>
          <a:ln/>
        </p:spPr>
      </p:sp>
      <p:pic>
        <p:nvPicPr>
          <p:cNvPr id="5" name="Role-based access glyph" descr="preencoded.png">    </p:cNvPr>
          <p:cNvPicPr>
            <a:picLocks noChangeAspect="1"/>
          </p:cNvPicPr>
          <p:nvPr/>
        </p:nvPicPr>
        <p:blipFill>
          <a:blip r:embed="rId1"/>
          <a:stretch>
            <a:fillRect/>
          </a:stretch>
        </p:blipFill>
        <p:spPr>
          <a:xfrm>
            <a:off x="1033272" y="1856232"/>
            <a:ext cx="356616" cy="356616"/>
          </a:xfrm>
          <a:prstGeom prst="rect">
            <a:avLst/>
          </a:prstGeom>
        </p:spPr>
      </p:pic>
      <p:sp>
        <p:nvSpPr>
          <p:cNvPr id="6" name="Text 3"/>
          <p:cNvSpPr txBox="1"/>
          <p:nvPr/>
        </p:nvSpPr>
        <p:spPr>
          <a:xfrm>
            <a:off x="1783080" y="1691640"/>
            <a:ext cx="3977640" cy="457200"/>
          </a:xfrm>
          <a:prstGeom prst="rect">
            <a:avLst/>
          </a:prstGeom>
          <a:noFill/>
          <a:ln/>
        </p:spPr>
        <p:txBody>
          <a:bodyPr wrap="square" lIns="0" tIns="0" rIns="0" bIns="0" rtlCol="0" anchor="ctr"/>
          <a:lstStyle/>
          <a:p>
            <a:pPr indent="0" marL="0">
              <a:buNone/>
            </a:pPr>
            <a:r>
              <a:rPr lang="en-US" sz="1900" b="1" dirty="0">
                <a:solidFill>
                  <a:schemeClr val="tx1"/>
                </a:solidFill>
              </a:rPr>
              <a:t>Role-based access</a:t>
            </a:r>
            <a:endParaRPr lang="en-US" sz="1900" dirty="0"/>
          </a:p>
        </p:txBody>
      </p:sp>
      <p:sp>
        <p:nvSpPr>
          <p:cNvPr id="7" name="Text 4"/>
          <p:cNvSpPr txBox="1"/>
          <p:nvPr/>
        </p:nvSpPr>
        <p:spPr>
          <a:xfrm>
            <a:off x="1783080" y="2176272"/>
            <a:ext cx="3977640" cy="1097280"/>
          </a:xfrm>
          <a:prstGeom prst="rect">
            <a:avLst/>
          </a:prstGeom>
          <a:noFill/>
          <a:ln/>
        </p:spPr>
        <p:txBody>
          <a:bodyPr wrap="square" lIns="0" tIns="0" rIns="0" bIns="0" rtlCol="0" anchor="t"/>
          <a:lstStyle/>
          <a:p>
            <a:pPr indent="0" marL="0">
              <a:buNone/>
            </a:pPr>
            <a:r>
              <a:rPr lang="en-US" sz="1500" dirty="0">
                <a:solidFill>
                  <a:schemeClr val="tx2"/>
                </a:solidFill>
              </a:rPr>
              <a:t>Executive, analyst, regional officer and data steward roles, each granted only the layers it needs</a:t>
            </a:r>
            <a:endParaRPr lang="en-US" sz="1500" dirty="0"/>
          </a:p>
        </p:txBody>
      </p:sp>
      <p:sp>
        <p:nvSpPr>
          <p:cNvPr id="8" name="card"/>
          <p:cNvSpPr/>
          <p:nvPr/>
        </p:nvSpPr>
        <p:spPr>
          <a:xfrm>
            <a:off x="6172200" y="1371600"/>
            <a:ext cx="5440680" cy="2057400"/>
          </a:xfrm>
          <a:prstGeom prst="roundRect">
            <a:avLst>
              <a:gd name="adj" fmla="val 5333"/>
            </a:avLst>
          </a:prstGeom>
          <a:solidFill>
            <a:schemeClr val="bg2"/>
          </a:solidFill>
          <a:ln/>
        </p:spPr>
      </p:sp>
      <p:sp>
        <p:nvSpPr>
          <p:cNvPr id="9" name="Row-level security circle"/>
          <p:cNvSpPr/>
          <p:nvPr/>
        </p:nvSpPr>
        <p:spPr>
          <a:xfrm>
            <a:off x="6492240" y="1691640"/>
            <a:ext cx="685800" cy="685800"/>
          </a:xfrm>
          <a:prstGeom prst="ellipse">
            <a:avLst/>
          </a:prstGeom>
          <a:solidFill>
            <a:schemeClr val="tx1"/>
          </a:solidFill>
          <a:ln/>
        </p:spPr>
      </p:sp>
      <p:pic>
        <p:nvPicPr>
          <p:cNvPr id="10" name="Row-level security glyph" descr="preencoded.png">    </p:cNvPr>
          <p:cNvPicPr>
            <a:picLocks noChangeAspect="1"/>
          </p:cNvPicPr>
          <p:nvPr/>
        </p:nvPicPr>
        <p:blipFill>
          <a:blip r:embed="rId2"/>
          <a:stretch>
            <a:fillRect/>
          </a:stretch>
        </p:blipFill>
        <p:spPr>
          <a:xfrm>
            <a:off x="6656832" y="1856232"/>
            <a:ext cx="356616" cy="356616"/>
          </a:xfrm>
          <a:prstGeom prst="rect">
            <a:avLst/>
          </a:prstGeom>
        </p:spPr>
      </p:pic>
      <p:sp>
        <p:nvSpPr>
          <p:cNvPr id="11" name="Text 7"/>
          <p:cNvSpPr txBox="1"/>
          <p:nvPr/>
        </p:nvSpPr>
        <p:spPr>
          <a:xfrm>
            <a:off x="7406640" y="1691640"/>
            <a:ext cx="3977640" cy="457200"/>
          </a:xfrm>
          <a:prstGeom prst="rect">
            <a:avLst/>
          </a:prstGeom>
          <a:noFill/>
          <a:ln/>
        </p:spPr>
        <p:txBody>
          <a:bodyPr wrap="square" lIns="0" tIns="0" rIns="0" bIns="0" rtlCol="0" anchor="ctr"/>
          <a:lstStyle/>
          <a:p>
            <a:pPr indent="0" marL="0">
              <a:buNone/>
            </a:pPr>
            <a:r>
              <a:rPr lang="en-US" sz="1900" b="1" dirty="0">
                <a:solidFill>
                  <a:schemeClr val="tx1"/>
                </a:solidFill>
              </a:rPr>
              <a:t>Row-level security</a:t>
            </a:r>
            <a:endParaRPr lang="en-US" sz="1900" dirty="0"/>
          </a:p>
        </p:txBody>
      </p:sp>
      <p:sp>
        <p:nvSpPr>
          <p:cNvPr id="12" name="Text 8"/>
          <p:cNvSpPr txBox="1"/>
          <p:nvPr/>
        </p:nvSpPr>
        <p:spPr>
          <a:xfrm>
            <a:off x="7406640" y="2176272"/>
            <a:ext cx="3977640" cy="1097280"/>
          </a:xfrm>
          <a:prstGeom prst="rect">
            <a:avLst/>
          </a:prstGeom>
          <a:noFill/>
          <a:ln/>
        </p:spPr>
        <p:txBody>
          <a:bodyPr wrap="square" lIns="0" tIns="0" rIns="0" bIns="0" rtlCol="0" anchor="t"/>
          <a:lstStyle/>
          <a:p>
            <a:pPr indent="0" marL="0">
              <a:buNone/>
            </a:pPr>
            <a:r>
              <a:rPr lang="en-US" sz="1500" dirty="0">
                <a:solidFill>
                  <a:schemeClr val="tx2"/>
                </a:solidFill>
              </a:rPr>
              <a:t>Regional officers see only their own region's rows in all six fact tables</a:t>
            </a:r>
            <a:endParaRPr lang="en-US" sz="1500" dirty="0"/>
          </a:p>
        </p:txBody>
      </p:sp>
      <p:sp>
        <p:nvSpPr>
          <p:cNvPr id="13" name="card"/>
          <p:cNvSpPr/>
          <p:nvPr/>
        </p:nvSpPr>
        <p:spPr>
          <a:xfrm>
            <a:off x="548640" y="3657600"/>
            <a:ext cx="5440680" cy="2057400"/>
          </a:xfrm>
          <a:prstGeom prst="roundRect">
            <a:avLst>
              <a:gd name="adj" fmla="val 5333"/>
            </a:avLst>
          </a:prstGeom>
          <a:solidFill>
            <a:schemeClr val="bg2"/>
          </a:solidFill>
          <a:ln/>
        </p:spPr>
      </p:sp>
      <p:sp>
        <p:nvSpPr>
          <p:cNvPr id="14" name="Least-privilege web circle"/>
          <p:cNvSpPr/>
          <p:nvPr/>
        </p:nvSpPr>
        <p:spPr>
          <a:xfrm>
            <a:off x="868680" y="3977640"/>
            <a:ext cx="685800" cy="685800"/>
          </a:xfrm>
          <a:prstGeom prst="ellipse">
            <a:avLst/>
          </a:prstGeom>
          <a:solidFill>
            <a:schemeClr val="tx1"/>
          </a:solidFill>
          <a:ln/>
        </p:spPr>
      </p:sp>
      <p:pic>
        <p:nvPicPr>
          <p:cNvPr id="15" name="Least-privilege web glyph" descr="preencoded.png">    </p:cNvPr>
          <p:cNvPicPr>
            <a:picLocks noChangeAspect="1"/>
          </p:cNvPicPr>
          <p:nvPr/>
        </p:nvPicPr>
        <p:blipFill>
          <a:blip r:embed="rId3"/>
          <a:stretch>
            <a:fillRect/>
          </a:stretch>
        </p:blipFill>
        <p:spPr>
          <a:xfrm>
            <a:off x="1033272" y="4142232"/>
            <a:ext cx="356616" cy="356616"/>
          </a:xfrm>
          <a:prstGeom prst="rect">
            <a:avLst/>
          </a:prstGeom>
        </p:spPr>
      </p:pic>
      <p:sp>
        <p:nvSpPr>
          <p:cNvPr id="16" name="Text 11"/>
          <p:cNvSpPr txBox="1"/>
          <p:nvPr/>
        </p:nvSpPr>
        <p:spPr>
          <a:xfrm>
            <a:off x="1783080" y="3977640"/>
            <a:ext cx="3977640" cy="457200"/>
          </a:xfrm>
          <a:prstGeom prst="rect">
            <a:avLst/>
          </a:prstGeom>
          <a:noFill/>
          <a:ln/>
        </p:spPr>
        <p:txBody>
          <a:bodyPr wrap="square" lIns="0" tIns="0" rIns="0" bIns="0" rtlCol="0" anchor="ctr"/>
          <a:lstStyle/>
          <a:p>
            <a:pPr indent="0" marL="0">
              <a:buNone/>
            </a:pPr>
            <a:r>
              <a:rPr lang="en-US" sz="1900" b="1" dirty="0">
                <a:solidFill>
                  <a:schemeClr val="tx1"/>
                </a:solidFill>
              </a:rPr>
              <a:t>Least-privilege web</a:t>
            </a:r>
            <a:endParaRPr lang="en-US" sz="1900" dirty="0"/>
          </a:p>
        </p:txBody>
      </p:sp>
      <p:sp>
        <p:nvSpPr>
          <p:cNvPr id="17" name="Text 12"/>
          <p:cNvSpPr txBox="1"/>
          <p:nvPr/>
        </p:nvSpPr>
        <p:spPr>
          <a:xfrm>
            <a:off x="1783080" y="4462272"/>
            <a:ext cx="3977640" cy="1097280"/>
          </a:xfrm>
          <a:prstGeom prst="rect">
            <a:avLst/>
          </a:prstGeom>
          <a:noFill/>
          <a:ln/>
        </p:spPr>
        <p:txBody>
          <a:bodyPr wrap="square" lIns="0" tIns="0" rIns="0" bIns="0" rtlCol="0" anchor="t"/>
          <a:lstStyle/>
          <a:p>
            <a:pPr indent="0" marL="0">
              <a:buNone/>
            </a:pPr>
            <a:r>
              <a:rPr lang="en-US" sz="1500" dirty="0">
                <a:solidFill>
                  <a:schemeClr val="tx2"/>
                </a:solidFill>
              </a:rPr>
              <a:t>The PHP API connects as driw_web, which can read the marts and nothing else</a:t>
            </a:r>
            <a:endParaRPr lang="en-US" sz="1500" dirty="0"/>
          </a:p>
        </p:txBody>
      </p:sp>
      <p:sp>
        <p:nvSpPr>
          <p:cNvPr id="18" name="card"/>
          <p:cNvSpPr/>
          <p:nvPr/>
        </p:nvSpPr>
        <p:spPr>
          <a:xfrm>
            <a:off x="6172200" y="3657600"/>
            <a:ext cx="5440680" cy="2057400"/>
          </a:xfrm>
          <a:prstGeom prst="roundRect">
            <a:avLst>
              <a:gd name="adj" fmla="val 5333"/>
            </a:avLst>
          </a:prstGeom>
          <a:solidFill>
            <a:schemeClr val="bg2"/>
          </a:solidFill>
          <a:ln/>
        </p:spPr>
      </p:sp>
      <p:sp>
        <p:nvSpPr>
          <p:cNvPr id="19" name="Privacy circle"/>
          <p:cNvSpPr/>
          <p:nvPr/>
        </p:nvSpPr>
        <p:spPr>
          <a:xfrm>
            <a:off x="6492240" y="3977640"/>
            <a:ext cx="685800" cy="685800"/>
          </a:xfrm>
          <a:prstGeom prst="ellipse">
            <a:avLst/>
          </a:prstGeom>
          <a:solidFill>
            <a:schemeClr val="tx1"/>
          </a:solidFill>
          <a:ln/>
        </p:spPr>
      </p:sp>
      <p:pic>
        <p:nvPicPr>
          <p:cNvPr id="20" name="Privacy glyph" descr="preencoded.png">    </p:cNvPr>
          <p:cNvPicPr>
            <a:picLocks noChangeAspect="1"/>
          </p:cNvPicPr>
          <p:nvPr/>
        </p:nvPicPr>
        <p:blipFill>
          <a:blip r:embed="rId4"/>
          <a:stretch>
            <a:fillRect/>
          </a:stretch>
        </p:blipFill>
        <p:spPr>
          <a:xfrm>
            <a:off x="6656832" y="4142232"/>
            <a:ext cx="356616" cy="356616"/>
          </a:xfrm>
          <a:prstGeom prst="rect">
            <a:avLst/>
          </a:prstGeom>
        </p:spPr>
      </p:pic>
      <p:sp>
        <p:nvSpPr>
          <p:cNvPr id="21" name="Text 15"/>
          <p:cNvSpPr txBox="1"/>
          <p:nvPr/>
        </p:nvSpPr>
        <p:spPr>
          <a:xfrm>
            <a:off x="7406640" y="3977640"/>
            <a:ext cx="3977640" cy="457200"/>
          </a:xfrm>
          <a:prstGeom prst="rect">
            <a:avLst/>
          </a:prstGeom>
          <a:noFill/>
          <a:ln/>
        </p:spPr>
        <p:txBody>
          <a:bodyPr wrap="square" lIns="0" tIns="0" rIns="0" bIns="0" rtlCol="0" anchor="ctr"/>
          <a:lstStyle/>
          <a:p>
            <a:pPr indent="0" marL="0">
              <a:buNone/>
            </a:pPr>
            <a:r>
              <a:rPr lang="en-US" sz="1900" b="1" dirty="0">
                <a:solidFill>
                  <a:schemeClr val="tx1"/>
                </a:solidFill>
              </a:rPr>
              <a:t>Privacy</a:t>
            </a:r>
            <a:endParaRPr lang="en-US" sz="1900" dirty="0"/>
          </a:p>
        </p:txBody>
      </p:sp>
      <p:sp>
        <p:nvSpPr>
          <p:cNvPr id="22" name="Text 16"/>
          <p:cNvSpPr txBox="1"/>
          <p:nvPr/>
        </p:nvSpPr>
        <p:spPr>
          <a:xfrm>
            <a:off x="7406640" y="4462272"/>
            <a:ext cx="3977640" cy="1097280"/>
          </a:xfrm>
          <a:prstGeom prst="rect">
            <a:avLst/>
          </a:prstGeom>
          <a:noFill/>
          <a:ln/>
        </p:spPr>
        <p:txBody>
          <a:bodyPr wrap="square" lIns="0" tIns="0" rIns="0" bIns="0" rtlCol="0" anchor="t"/>
          <a:lstStyle/>
          <a:p>
            <a:pPr indent="0" marL="0">
              <a:buNone/>
            </a:pPr>
            <a:r>
              <a:rPr lang="en-US" sz="1500" dirty="0">
                <a:solidFill>
                  <a:schemeClr val="tx2"/>
                </a:solidFill>
              </a:rPr>
              <a:t>No personal data is stored; the figures are synthetic and aggregated by place</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5A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Tested end to end, on every change</a:t>
            </a:r>
            <a:endParaRPr lang="en-US" sz="3400" dirty="0"/>
          </a:p>
        </p:txBody>
      </p:sp>
      <p:sp>
        <p:nvSpPr>
          <p:cNvPr id="3" name="card"/>
          <p:cNvSpPr/>
          <p:nvPr/>
        </p:nvSpPr>
        <p:spPr>
          <a:xfrm>
            <a:off x="548640" y="1463040"/>
            <a:ext cx="2624328" cy="2514600"/>
          </a:xfrm>
          <a:prstGeom prst="roundRect">
            <a:avLst>
              <a:gd name="adj" fmla="val 4364"/>
            </a:avLst>
          </a:prstGeom>
          <a:solidFill>
            <a:schemeClr val="bg2"/>
          </a:solidFill>
          <a:ln/>
        </p:spPr>
      </p:sp>
      <p:sp>
        <p:nvSpPr>
          <p:cNvPr id="4" name="stat value"/>
          <p:cNvSpPr txBox="1"/>
          <p:nvPr/>
        </p:nvSpPr>
        <p:spPr>
          <a:xfrm>
            <a:off x="822960" y="1737360"/>
            <a:ext cx="2103120" cy="7772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117</a:t>
            </a:r>
            <a:endParaRPr lang="en-US" sz="4400" dirty="0"/>
          </a:p>
        </p:txBody>
      </p:sp>
      <p:sp>
        <p:nvSpPr>
          <p:cNvPr id="5" name="stat label"/>
          <p:cNvSpPr txBox="1"/>
          <p:nvPr/>
        </p:nvSpPr>
        <p:spPr>
          <a:xfrm>
            <a:off x="822960" y="2514600"/>
            <a:ext cx="2103120" cy="594360"/>
          </a:xfrm>
          <a:prstGeom prst="rect">
            <a:avLst/>
          </a:prstGeom>
          <a:noFill/>
          <a:ln/>
        </p:spPr>
        <p:txBody>
          <a:bodyPr wrap="square" lIns="0" tIns="0" rIns="0" bIns="0" rtlCol="0" anchor="t"/>
          <a:lstStyle/>
          <a:p>
            <a:pPr indent="0" marL="0">
              <a:buNone/>
            </a:pPr>
            <a:r>
              <a:rPr lang="en-US" sz="1400" dirty="0">
                <a:solidFill>
                  <a:schemeClr val="tx2"/>
                </a:solidFill>
              </a:rPr>
              <a:t>dbt checks on every build: keys, grain, reconciliation, marts add back up to facts</a:t>
            </a:r>
            <a:endParaRPr lang="en-US" sz="1400" dirty="0"/>
          </a:p>
        </p:txBody>
      </p:sp>
      <p:sp>
        <p:nvSpPr>
          <p:cNvPr id="6" name="card"/>
          <p:cNvSpPr/>
          <p:nvPr/>
        </p:nvSpPr>
        <p:spPr>
          <a:xfrm>
            <a:off x="3355848" y="1463040"/>
            <a:ext cx="2624328" cy="2514600"/>
          </a:xfrm>
          <a:prstGeom prst="roundRect">
            <a:avLst>
              <a:gd name="adj" fmla="val 4364"/>
            </a:avLst>
          </a:prstGeom>
          <a:solidFill>
            <a:schemeClr val="bg2"/>
          </a:solidFill>
          <a:ln/>
        </p:spPr>
      </p:sp>
      <p:sp>
        <p:nvSpPr>
          <p:cNvPr id="7" name="stat value"/>
          <p:cNvSpPr txBox="1"/>
          <p:nvPr/>
        </p:nvSpPr>
        <p:spPr>
          <a:xfrm>
            <a:off x="3630168" y="1737360"/>
            <a:ext cx="2103120" cy="7772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91</a:t>
            </a:r>
            <a:endParaRPr lang="en-US" sz="4400" dirty="0"/>
          </a:p>
        </p:txBody>
      </p:sp>
      <p:sp>
        <p:nvSpPr>
          <p:cNvPr id="8" name="stat label"/>
          <p:cNvSpPr txBox="1"/>
          <p:nvPr/>
        </p:nvSpPr>
        <p:spPr>
          <a:xfrm>
            <a:off x="3630168" y="2514600"/>
            <a:ext cx="2103120" cy="594360"/>
          </a:xfrm>
          <a:prstGeom prst="rect">
            <a:avLst/>
          </a:prstGeom>
          <a:noFill/>
          <a:ln/>
        </p:spPr>
        <p:txBody>
          <a:bodyPr wrap="square" lIns="0" tIns="0" rIns="0" bIns="0" rtlCol="0" anchor="t"/>
          <a:lstStyle/>
          <a:p>
            <a:pPr indent="0" marL="0">
              <a:buNone/>
            </a:pPr>
            <a:r>
              <a:rPr lang="en-US" sz="1400" dirty="0">
                <a:solidFill>
                  <a:schemeClr val="tx2"/>
                </a:solidFill>
              </a:rPr>
              <a:t>automated tests rebuild the warehouse from scratch, then test access and the API</a:t>
            </a:r>
            <a:endParaRPr lang="en-US" sz="1400" dirty="0"/>
          </a:p>
        </p:txBody>
      </p:sp>
      <p:sp>
        <p:nvSpPr>
          <p:cNvPr id="9" name="card"/>
          <p:cNvSpPr/>
          <p:nvPr/>
        </p:nvSpPr>
        <p:spPr>
          <a:xfrm>
            <a:off x="6163056" y="1463040"/>
            <a:ext cx="2624328" cy="2514600"/>
          </a:xfrm>
          <a:prstGeom prst="roundRect">
            <a:avLst>
              <a:gd name="adj" fmla="val 4364"/>
            </a:avLst>
          </a:prstGeom>
          <a:solidFill>
            <a:schemeClr val="bg2"/>
          </a:solidFill>
          <a:ln/>
        </p:spPr>
      </p:sp>
      <p:sp>
        <p:nvSpPr>
          <p:cNvPr id="10" name="stat value"/>
          <p:cNvSpPr txBox="1"/>
          <p:nvPr/>
        </p:nvSpPr>
        <p:spPr>
          <a:xfrm>
            <a:off x="6437376" y="1737360"/>
            <a:ext cx="2103120" cy="7772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19 / 19</a:t>
            </a:r>
            <a:endParaRPr lang="en-US" sz="4400" dirty="0"/>
          </a:p>
        </p:txBody>
      </p:sp>
      <p:sp>
        <p:nvSpPr>
          <p:cNvPr id="11" name="stat label"/>
          <p:cNvSpPr txBox="1"/>
          <p:nvPr/>
        </p:nvSpPr>
        <p:spPr>
          <a:xfrm>
            <a:off x="6437376" y="2514600"/>
            <a:ext cx="2103120" cy="594360"/>
          </a:xfrm>
          <a:prstGeom prst="rect">
            <a:avLst/>
          </a:prstGeom>
          <a:noFill/>
          <a:ln/>
        </p:spPr>
        <p:txBody>
          <a:bodyPr wrap="square" lIns="0" tIns="0" rIns="0" bIns="0" rtlCol="0" anchor="t"/>
          <a:lstStyle/>
          <a:p>
            <a:pPr indent="0" marL="0">
              <a:buNone/>
            </a:pPr>
            <a:r>
              <a:rPr lang="en-US" sz="1400" dirty="0">
                <a:solidFill>
                  <a:schemeClr val="tx2"/>
                </a:solidFill>
              </a:rPr>
              <a:t>defect types reconciled: planted count equals detected count</a:t>
            </a:r>
            <a:endParaRPr lang="en-US" sz="1400" dirty="0"/>
          </a:p>
        </p:txBody>
      </p:sp>
      <p:sp>
        <p:nvSpPr>
          <p:cNvPr id="12" name="card"/>
          <p:cNvSpPr/>
          <p:nvPr/>
        </p:nvSpPr>
        <p:spPr>
          <a:xfrm>
            <a:off x="8970264" y="1463040"/>
            <a:ext cx="2624328" cy="2514600"/>
          </a:xfrm>
          <a:prstGeom prst="roundRect">
            <a:avLst>
              <a:gd name="adj" fmla="val 4364"/>
            </a:avLst>
          </a:prstGeom>
          <a:solidFill>
            <a:schemeClr val="bg2"/>
          </a:solidFill>
          <a:ln/>
        </p:spPr>
      </p:sp>
      <p:sp>
        <p:nvSpPr>
          <p:cNvPr id="13" name="stat value"/>
          <p:cNvSpPr txBox="1"/>
          <p:nvPr/>
        </p:nvSpPr>
        <p:spPr>
          <a:xfrm>
            <a:off x="9244584" y="1737360"/>
            <a:ext cx="2103120" cy="7772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≈78×</a:t>
            </a:r>
            <a:endParaRPr lang="en-US" sz="4400" dirty="0"/>
          </a:p>
        </p:txBody>
      </p:sp>
      <p:sp>
        <p:nvSpPr>
          <p:cNvPr id="14" name="stat label"/>
          <p:cNvSpPr txBox="1"/>
          <p:nvPr/>
        </p:nvSpPr>
        <p:spPr>
          <a:xfrm>
            <a:off x="9244584" y="2514600"/>
            <a:ext cx="2103120" cy="594360"/>
          </a:xfrm>
          <a:prstGeom prst="rect">
            <a:avLst/>
          </a:prstGeom>
          <a:noFill/>
          <a:ln/>
        </p:spPr>
        <p:txBody>
          <a:bodyPr wrap="square" lIns="0" tIns="0" rIns="0" bIns="0" rtlCol="0" anchor="t"/>
          <a:lstStyle/>
          <a:p>
            <a:pPr indent="0" marL="0">
              <a:buNone/>
            </a:pPr>
            <a:r>
              <a:rPr lang="en-US" sz="1400" dirty="0">
                <a:solidFill>
                  <a:schemeClr val="tx2"/>
                </a:solidFill>
              </a:rPr>
              <a:t>faster: dashboards read pre-aggregated marts, not raw facts</a:t>
            </a:r>
            <a:endParaRPr lang="en-US" sz="1400" dirty="0"/>
          </a:p>
        </p:txBody>
      </p:sp>
      <p:sp>
        <p:nvSpPr>
          <p:cNvPr id="15" name="GitHub circle"/>
          <p:cNvSpPr/>
          <p:nvPr/>
        </p:nvSpPr>
        <p:spPr>
          <a:xfrm>
            <a:off x="548640" y="4434840"/>
            <a:ext cx="548640" cy="548640"/>
          </a:xfrm>
          <a:prstGeom prst="ellipse">
            <a:avLst/>
          </a:prstGeom>
          <a:solidFill>
            <a:schemeClr val="tx1"/>
          </a:solidFill>
          <a:ln/>
        </p:spPr>
      </p:sp>
      <p:pic>
        <p:nvPicPr>
          <p:cNvPr id="16" name="GitHub glyph" descr="preencoded.png">    </p:cNvPr>
          <p:cNvPicPr>
            <a:picLocks noChangeAspect="1"/>
          </p:cNvPicPr>
          <p:nvPr/>
        </p:nvPicPr>
        <p:blipFill>
          <a:blip r:embed="rId1"/>
          <a:stretch>
            <a:fillRect/>
          </a:stretch>
        </p:blipFill>
        <p:spPr>
          <a:xfrm>
            <a:off x="680314" y="4566514"/>
            <a:ext cx="285293" cy="285293"/>
          </a:xfrm>
          <a:prstGeom prst="rect">
            <a:avLst/>
          </a:prstGeom>
        </p:spPr>
      </p:pic>
      <p:sp>
        <p:nvSpPr>
          <p:cNvPr id="17" name="Text 14"/>
          <p:cNvSpPr txBox="1"/>
          <p:nvPr/>
        </p:nvSpPr>
        <p:spPr>
          <a:xfrm>
            <a:off x="1280160" y="4434840"/>
            <a:ext cx="10332720" cy="548640"/>
          </a:xfrm>
          <a:prstGeom prst="rect">
            <a:avLst/>
          </a:prstGeom>
          <a:noFill/>
          <a:ln/>
        </p:spPr>
        <p:txBody>
          <a:bodyPr wrap="square" lIns="0" tIns="0" rIns="0" bIns="0" rtlCol="0" anchor="ctr"/>
          <a:lstStyle/>
          <a:p>
            <a:pPr indent="0" marL="0">
              <a:buNone/>
            </a:pPr>
            <a:r>
              <a:rPr lang="en-US" sz="1600" dirty="0">
                <a:solidFill>
                  <a:schemeClr val="tx2"/>
                </a:solidFill>
              </a:rPr>
              <a:t>GitHub Actions re-runs the full pipeline and the dashboard build on every push; both checks pass on the current version.</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5A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What the warehouse shows</a:t>
            </a:r>
            <a:endParaRPr lang="en-US" sz="3400" dirty="0"/>
          </a:p>
        </p:txBody>
      </p:sp>
      <p:pic>
        <p:nvPicPr>
          <p:cNvPr id="3" name="Laguna de Bay flood" descr="C:\Users\banba\AppData\Local\Temp\claude\C--Users-banba-OneDrive-Documents-GitHub-NEUSTIT271-EDW-Project--claude-worktrees-great-bardeen-ab59a6\74094a70-acc5-4807-885e-b40727f685f7\scratchpad\img\laguna_flood.jpg">    </p:cNvPr>
          <p:cNvPicPr>
            <a:picLocks noChangeAspect="1"/>
          </p:cNvPicPr>
          <p:nvPr/>
        </p:nvPicPr>
        <p:blipFill>
          <a:blip r:embed="rId1"/>
          <a:srcRect l="0" r="0" t="0" b="0"/>
          <a:stretch/>
        </p:blipFill>
        <p:spPr>
          <a:xfrm>
            <a:off x="7086600" y="1325880"/>
            <a:ext cx="4572000" cy="4526280"/>
          </a:xfrm>
          <a:prstGeom prst="rect">
            <a:avLst/>
          </a:prstGeom>
        </p:spPr>
      </p:pic>
      <p:sp>
        <p:nvSpPr>
          <p:cNvPr id="4" name="caption"/>
          <p:cNvSpPr txBox="1"/>
          <p:nvPr/>
        </p:nvSpPr>
        <p:spPr>
          <a:xfrm>
            <a:off x="7086600" y="5897880"/>
            <a:ext cx="4572000" cy="274320"/>
          </a:xfrm>
          <a:prstGeom prst="rect">
            <a:avLst/>
          </a:prstGeom>
          <a:noFill/>
          <a:ln/>
        </p:spPr>
        <p:txBody>
          <a:bodyPr wrap="square" lIns="0" tIns="0" rIns="0" bIns="0" rtlCol="0" anchor="ctr"/>
          <a:lstStyle/>
          <a:p>
            <a:pPr algn="l" indent="0" marL="0">
              <a:buNone/>
            </a:pPr>
            <a:r>
              <a:rPr lang="en-US" sz="1000" i="1" dirty="0">
                <a:solidFill>
                  <a:schemeClr val="accent5"/>
                </a:solidFill>
              </a:rPr>
              <a:t>Flooding near Laguna de Bay after Typhoon Ketsana (Ondoy), 2009 · IRRI · CC BY 2.0</a:t>
            </a:r>
            <a:endParaRPr lang="en-US" sz="1000" dirty="0"/>
          </a:p>
        </p:txBody>
      </p:sp>
      <p:sp>
        <p:nvSpPr>
          <p:cNvPr id="5" name="Bicol Region circle"/>
          <p:cNvSpPr/>
          <p:nvPr/>
        </p:nvSpPr>
        <p:spPr>
          <a:xfrm>
            <a:off x="548640" y="1463040"/>
            <a:ext cx="566928" cy="566928"/>
          </a:xfrm>
          <a:prstGeom prst="ellipse">
            <a:avLst/>
          </a:prstGeom>
          <a:solidFill>
            <a:schemeClr val="accent1"/>
          </a:solidFill>
          <a:ln/>
        </p:spPr>
      </p:sp>
      <p:pic>
        <p:nvPicPr>
          <p:cNvPr id="6" name="Bicol Region glyph" descr="preencoded.png">    </p:cNvPr>
          <p:cNvPicPr>
            <a:picLocks noChangeAspect="1"/>
          </p:cNvPicPr>
          <p:nvPr/>
        </p:nvPicPr>
        <p:blipFill>
          <a:blip r:embed="rId2"/>
          <a:stretch>
            <a:fillRect/>
          </a:stretch>
        </p:blipFill>
        <p:spPr>
          <a:xfrm>
            <a:off x="684703" y="1599103"/>
            <a:ext cx="294803" cy="294803"/>
          </a:xfrm>
          <a:prstGeom prst="rect">
            <a:avLst/>
          </a:prstGeom>
        </p:spPr>
      </p:pic>
      <p:sp>
        <p:nvSpPr>
          <p:cNvPr id="7" name="Text 3"/>
          <p:cNvSpPr txBox="1"/>
          <p:nvPr/>
        </p:nvSpPr>
        <p:spPr>
          <a:xfrm>
            <a:off x="1325880" y="1463040"/>
            <a:ext cx="5577840" cy="566928"/>
          </a:xfrm>
          <a:prstGeom prst="rect">
            <a:avLst/>
          </a:prstGeom>
          <a:noFill/>
          <a:ln/>
        </p:spPr>
        <p:txBody>
          <a:bodyPr wrap="square" lIns="0" tIns="0" rIns="0" bIns="0" rtlCol="0" anchor="ctr"/>
          <a:lstStyle/>
          <a:p>
            <a:pPr indent="0" marL="0">
              <a:buNone/>
            </a:pPr>
            <a:r>
              <a:rPr lang="en-US" sz="1700" dirty="0">
                <a:solidFill>
                  <a:schemeClr val="tx1"/>
                </a:solidFill>
              </a:rPr>
              <a:t>Bicol Region was hit hardest: 2.6M people affected</a:t>
            </a:r>
            <a:endParaRPr lang="en-US" sz="1700" dirty="0"/>
          </a:p>
        </p:txBody>
      </p:sp>
      <p:sp>
        <p:nvSpPr>
          <p:cNvPr id="8" name="61% of peopl circle"/>
          <p:cNvSpPr/>
          <p:nvPr/>
        </p:nvSpPr>
        <p:spPr>
          <a:xfrm>
            <a:off x="548640" y="2542032"/>
            <a:ext cx="566928" cy="566928"/>
          </a:xfrm>
          <a:prstGeom prst="ellipse">
            <a:avLst/>
          </a:prstGeom>
          <a:solidFill>
            <a:schemeClr val="accent1"/>
          </a:solidFill>
          <a:ln/>
        </p:spPr>
      </p:sp>
      <p:pic>
        <p:nvPicPr>
          <p:cNvPr id="9" name="61% of peopl glyph" descr="preencoded.png">    </p:cNvPr>
          <p:cNvPicPr>
            <a:picLocks noChangeAspect="1"/>
          </p:cNvPicPr>
          <p:nvPr/>
        </p:nvPicPr>
        <p:blipFill>
          <a:blip r:embed="rId3"/>
          <a:stretch>
            <a:fillRect/>
          </a:stretch>
        </p:blipFill>
        <p:spPr>
          <a:xfrm>
            <a:off x="684703" y="2678095"/>
            <a:ext cx="294803" cy="294803"/>
          </a:xfrm>
          <a:prstGeom prst="rect">
            <a:avLst/>
          </a:prstGeom>
        </p:spPr>
      </p:pic>
      <p:sp>
        <p:nvSpPr>
          <p:cNvPr id="10" name="Text 5"/>
          <p:cNvSpPr txBox="1"/>
          <p:nvPr/>
        </p:nvSpPr>
        <p:spPr>
          <a:xfrm>
            <a:off x="1325880" y="2542032"/>
            <a:ext cx="5577840" cy="566928"/>
          </a:xfrm>
          <a:prstGeom prst="rect">
            <a:avLst/>
          </a:prstGeom>
          <a:noFill/>
          <a:ln/>
        </p:spPr>
        <p:txBody>
          <a:bodyPr wrap="square" lIns="0" tIns="0" rIns="0" bIns="0" rtlCol="0" anchor="ctr"/>
          <a:lstStyle/>
          <a:p>
            <a:pPr indent="0" marL="0">
              <a:buNone/>
            </a:pPr>
            <a:r>
              <a:rPr lang="en-US" sz="1700" dirty="0">
                <a:solidFill>
                  <a:schemeClr val="tx1"/>
                </a:solidFill>
              </a:rPr>
              <a:t>61% of people displaced at the peak stayed outside centers</a:t>
            </a:r>
            <a:endParaRPr lang="en-US" sz="1700" dirty="0"/>
          </a:p>
        </p:txBody>
      </p:sp>
      <p:sp>
        <p:nvSpPr>
          <p:cNvPr id="11" name="Bridges take circle"/>
          <p:cNvSpPr/>
          <p:nvPr/>
        </p:nvSpPr>
        <p:spPr>
          <a:xfrm>
            <a:off x="548640" y="3621024"/>
            <a:ext cx="566928" cy="566928"/>
          </a:xfrm>
          <a:prstGeom prst="ellipse">
            <a:avLst/>
          </a:prstGeom>
          <a:solidFill>
            <a:schemeClr val="accent1"/>
          </a:solidFill>
          <a:ln/>
        </p:spPr>
      </p:sp>
      <p:pic>
        <p:nvPicPr>
          <p:cNvPr id="12" name="Bridges take glyph" descr="preencoded.png">    </p:cNvPr>
          <p:cNvPicPr>
            <a:picLocks noChangeAspect="1"/>
          </p:cNvPicPr>
          <p:nvPr/>
        </p:nvPicPr>
        <p:blipFill>
          <a:blip r:embed="rId4"/>
          <a:stretch>
            <a:fillRect/>
          </a:stretch>
        </p:blipFill>
        <p:spPr>
          <a:xfrm>
            <a:off x="684703" y="3757087"/>
            <a:ext cx="294803" cy="294803"/>
          </a:xfrm>
          <a:prstGeom prst="rect">
            <a:avLst/>
          </a:prstGeom>
        </p:spPr>
      </p:pic>
      <p:sp>
        <p:nvSpPr>
          <p:cNvPr id="13" name="Text 7"/>
          <p:cNvSpPr txBox="1"/>
          <p:nvPr/>
        </p:nvSpPr>
        <p:spPr>
          <a:xfrm>
            <a:off x="1325880" y="3621024"/>
            <a:ext cx="5577840" cy="566928"/>
          </a:xfrm>
          <a:prstGeom prst="rect">
            <a:avLst/>
          </a:prstGeom>
          <a:noFill/>
          <a:ln/>
        </p:spPr>
        <p:txBody>
          <a:bodyPr wrap="square" lIns="0" tIns="0" rIns="0" bIns="0" rtlCol="0" anchor="ctr"/>
          <a:lstStyle/>
          <a:p>
            <a:pPr indent="0" marL="0">
              <a:buNone/>
            </a:pPr>
            <a:r>
              <a:rPr lang="en-US" sz="1700" dirty="0">
                <a:solidFill>
                  <a:schemeClr val="tx1"/>
                </a:solidFill>
              </a:rPr>
              <a:t>Bridges take longest to restore; communications return first</a:t>
            </a:r>
            <a:endParaRPr lang="en-US" sz="1700" dirty="0"/>
          </a:p>
        </p:txBody>
      </p:sp>
      <p:sp>
        <p:nvSpPr>
          <p:cNvPr id="14" name="Tarlac and D circle"/>
          <p:cNvSpPr/>
          <p:nvPr/>
        </p:nvSpPr>
        <p:spPr>
          <a:xfrm>
            <a:off x="548640" y="4700016"/>
            <a:ext cx="566928" cy="566928"/>
          </a:xfrm>
          <a:prstGeom prst="ellipse">
            <a:avLst/>
          </a:prstGeom>
          <a:solidFill>
            <a:schemeClr val="accent1"/>
          </a:solidFill>
          <a:ln/>
        </p:spPr>
      </p:sp>
      <p:pic>
        <p:nvPicPr>
          <p:cNvPr id="15" name="Tarlac and D glyph" descr="preencoded.png">    </p:cNvPr>
          <p:cNvPicPr>
            <a:picLocks noChangeAspect="1"/>
          </p:cNvPicPr>
          <p:nvPr/>
        </p:nvPicPr>
        <p:blipFill>
          <a:blip r:embed="rId5"/>
          <a:stretch>
            <a:fillRect/>
          </a:stretch>
        </p:blipFill>
        <p:spPr>
          <a:xfrm>
            <a:off x="684703" y="4836079"/>
            <a:ext cx="294803" cy="294803"/>
          </a:xfrm>
          <a:prstGeom prst="rect">
            <a:avLst/>
          </a:prstGeom>
        </p:spPr>
      </p:pic>
      <p:sp>
        <p:nvSpPr>
          <p:cNvPr id="16" name="Text 9"/>
          <p:cNvSpPr txBox="1"/>
          <p:nvPr/>
        </p:nvSpPr>
        <p:spPr>
          <a:xfrm>
            <a:off x="1325880" y="4700016"/>
            <a:ext cx="5577840" cy="566928"/>
          </a:xfrm>
          <a:prstGeom prst="rect">
            <a:avLst/>
          </a:prstGeom>
          <a:noFill/>
          <a:ln/>
        </p:spPr>
        <p:txBody>
          <a:bodyPr wrap="square" lIns="0" tIns="0" rIns="0" bIns="0" rtlCol="0" anchor="ctr"/>
          <a:lstStyle/>
          <a:p>
            <a:pPr indent="0" marL="0">
              <a:buNone/>
            </a:pPr>
            <a:r>
              <a:rPr lang="en-US" sz="1700" dirty="0">
                <a:solidFill>
                  <a:schemeClr val="tx1"/>
                </a:solidFill>
              </a:rPr>
              <a:t>Tarlac and Davao Oriental got the least relief per person</a:t>
            </a:r>
            <a:endParaRPr lang="en-US" sz="1700" dirty="0"/>
          </a:p>
        </p:txBody>
      </p:sp>
      <p:sp>
        <p:nvSpPr>
          <p:cNvPr id="17" name="Text 10"/>
          <p:cNvSpPr txBox="1"/>
          <p:nvPr/>
        </p:nvSpPr>
        <p:spPr>
          <a:xfrm>
            <a:off x="548640" y="5806440"/>
            <a:ext cx="6309360" cy="365760"/>
          </a:xfrm>
          <a:prstGeom prst="rect">
            <a:avLst/>
          </a:prstGeom>
          <a:noFill/>
          <a:ln/>
        </p:spPr>
        <p:txBody>
          <a:bodyPr wrap="square" lIns="0" tIns="0" rIns="0" bIns="0" rtlCol="0" anchor="ctr"/>
          <a:lstStyle/>
          <a:p>
            <a:pPr indent="0" marL="0">
              <a:buNone/>
            </a:pPr>
            <a:r>
              <a:rPr lang="en-US" sz="1200" i="1" dirty="0">
                <a:solidFill>
                  <a:schemeClr val="accent5"/>
                </a:solidFill>
              </a:rPr>
              <a:t>Figures are synthetic: they show what the warehouse can answer, not findings about real disasters.</a:t>
            </a:r>
            <a:endParaRPr lang="en-US" sz="1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5A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Limitations and next steps</a:t>
            </a:r>
            <a:endParaRPr lang="en-US" sz="3400" dirty="0"/>
          </a:p>
        </p:txBody>
      </p:sp>
      <p:sp>
        <p:nvSpPr>
          <p:cNvPr id="3" name="card"/>
          <p:cNvSpPr/>
          <p:nvPr/>
        </p:nvSpPr>
        <p:spPr>
          <a:xfrm>
            <a:off x="548640" y="1325880"/>
            <a:ext cx="5440680" cy="4206240"/>
          </a:xfrm>
          <a:prstGeom prst="roundRect">
            <a:avLst>
              <a:gd name="adj" fmla="val 2609"/>
            </a:avLst>
          </a:prstGeom>
          <a:solidFill>
            <a:schemeClr val="bg2"/>
          </a:solidFill>
          <a:ln/>
        </p:spPr>
      </p:sp>
      <p:sp>
        <p:nvSpPr>
          <p:cNvPr id="4" name="card"/>
          <p:cNvSpPr/>
          <p:nvPr/>
        </p:nvSpPr>
        <p:spPr>
          <a:xfrm>
            <a:off x="6172200" y="1325880"/>
            <a:ext cx="5440680" cy="4206240"/>
          </a:xfrm>
          <a:prstGeom prst="roundRect">
            <a:avLst>
              <a:gd name="adj" fmla="val 2609"/>
            </a:avLst>
          </a:prstGeom>
          <a:solidFill>
            <a:srgbClr val="FDEFE8"/>
          </a:solidFill>
          <a:ln/>
        </p:spPr>
      </p:sp>
      <p:sp>
        <p:nvSpPr>
          <p:cNvPr id="5" name="limits circle"/>
          <p:cNvSpPr/>
          <p:nvPr/>
        </p:nvSpPr>
        <p:spPr>
          <a:xfrm>
            <a:off x="868680" y="1600200"/>
            <a:ext cx="566928" cy="566928"/>
          </a:xfrm>
          <a:prstGeom prst="ellipse">
            <a:avLst/>
          </a:prstGeom>
          <a:solidFill>
            <a:schemeClr val="accent5"/>
          </a:solidFill>
          <a:ln/>
        </p:spPr>
      </p:sp>
      <p:pic>
        <p:nvPicPr>
          <p:cNvPr id="6" name="limits glyph" descr="preencoded.png">    </p:cNvPr>
          <p:cNvPicPr>
            <a:picLocks noChangeAspect="1"/>
          </p:cNvPicPr>
          <p:nvPr/>
        </p:nvPicPr>
        <p:blipFill>
          <a:blip r:embed="rId1"/>
          <a:stretch>
            <a:fillRect/>
          </a:stretch>
        </p:blipFill>
        <p:spPr>
          <a:xfrm>
            <a:off x="1004743" y="1736263"/>
            <a:ext cx="294803" cy="294803"/>
          </a:xfrm>
          <a:prstGeom prst="rect">
            <a:avLst/>
          </a:prstGeom>
        </p:spPr>
      </p:pic>
      <p:sp>
        <p:nvSpPr>
          <p:cNvPr id="7" name="next circle"/>
          <p:cNvSpPr/>
          <p:nvPr/>
        </p:nvSpPr>
        <p:spPr>
          <a:xfrm>
            <a:off x="6492240" y="1600200"/>
            <a:ext cx="566928" cy="566928"/>
          </a:xfrm>
          <a:prstGeom prst="ellipse">
            <a:avLst/>
          </a:prstGeom>
          <a:solidFill>
            <a:schemeClr val="accent1"/>
          </a:solidFill>
          <a:ln/>
        </p:spPr>
      </p:sp>
      <p:pic>
        <p:nvPicPr>
          <p:cNvPr id="8" name="next glyph" descr="preencoded.png">    </p:cNvPr>
          <p:cNvPicPr>
            <a:picLocks noChangeAspect="1"/>
          </p:cNvPicPr>
          <p:nvPr/>
        </p:nvPicPr>
        <p:blipFill>
          <a:blip r:embed="rId2"/>
          <a:stretch>
            <a:fillRect/>
          </a:stretch>
        </p:blipFill>
        <p:spPr>
          <a:xfrm>
            <a:off x="6628303" y="1736263"/>
            <a:ext cx="294803" cy="294803"/>
          </a:xfrm>
          <a:prstGeom prst="rect">
            <a:avLst/>
          </a:prstGeom>
        </p:spPr>
      </p:pic>
      <p:sp>
        <p:nvSpPr>
          <p:cNvPr id="9" name="Text 5"/>
          <p:cNvSpPr txBox="1"/>
          <p:nvPr/>
        </p:nvSpPr>
        <p:spPr>
          <a:xfrm>
            <a:off x="1600200" y="1645920"/>
            <a:ext cx="4114800" cy="457200"/>
          </a:xfrm>
          <a:prstGeom prst="rect">
            <a:avLst/>
          </a:prstGeom>
          <a:noFill/>
          <a:ln/>
        </p:spPr>
        <p:txBody>
          <a:bodyPr wrap="square" lIns="0" tIns="0" rIns="0" bIns="0" rtlCol="0" anchor="ctr"/>
          <a:lstStyle/>
          <a:p>
            <a:pPr indent="0" marL="0">
              <a:buNone/>
            </a:pPr>
            <a:r>
              <a:rPr lang="en-US" sz="2000" b="1" dirty="0">
                <a:solidFill>
                  <a:schemeClr val="tx1"/>
                </a:solidFill>
              </a:rPr>
              <a:t>Limitations today</a:t>
            </a:r>
            <a:endParaRPr lang="en-US" sz="2000" dirty="0"/>
          </a:p>
        </p:txBody>
      </p:sp>
      <p:sp>
        <p:nvSpPr>
          <p:cNvPr id="10" name="Text 6"/>
          <p:cNvSpPr txBox="1"/>
          <p:nvPr/>
        </p:nvSpPr>
        <p:spPr>
          <a:xfrm>
            <a:off x="7223760" y="1645920"/>
            <a:ext cx="4114800" cy="457200"/>
          </a:xfrm>
          <a:prstGeom prst="rect">
            <a:avLst/>
          </a:prstGeom>
          <a:noFill/>
          <a:ln/>
        </p:spPr>
        <p:txBody>
          <a:bodyPr wrap="square" lIns="0" tIns="0" rIns="0" bIns="0" rtlCol="0" anchor="ctr"/>
          <a:lstStyle/>
          <a:p>
            <a:pPr indent="0" marL="0">
              <a:buNone/>
            </a:pPr>
            <a:r>
              <a:rPr lang="en-US" sz="2000" b="1" dirty="0">
                <a:solidFill>
                  <a:schemeClr val="tx1"/>
                </a:solidFill>
              </a:rPr>
              <a:t>Next steps</a:t>
            </a:r>
            <a:endParaRPr lang="en-US" sz="2000" dirty="0"/>
          </a:p>
        </p:txBody>
      </p:sp>
      <p:sp>
        <p:nvSpPr>
          <p:cNvPr id="11" name="Text 7"/>
          <p:cNvSpPr txBox="1"/>
          <p:nvPr/>
        </p:nvSpPr>
        <p:spPr>
          <a:xfrm>
            <a:off x="868680" y="2468880"/>
            <a:ext cx="4846320" cy="2926080"/>
          </a:xfrm>
          <a:prstGeom prst="rect">
            <a:avLst/>
          </a:prstGeom>
          <a:noFill/>
          <a:ln/>
        </p:spPr>
        <p:txBody>
          <a:bodyPr wrap="square" lIns="0" tIns="0" rIns="0" bIns="0" rtlCol="0" anchor="t"/>
          <a:lstStyle/>
          <a:p>
            <a:pPr marL="342900" indent="-342900">
              <a:spcAft>
                <a:spcPts val="1600"/>
              </a:spcAft>
              <a:buSzPct val="100000"/>
              <a:buChar char="•"/>
            </a:pPr>
            <a:r>
              <a:rPr lang="en-US" sz="1800" dirty="0">
                <a:solidFill>
                  <a:schemeClr val="tx2"/>
                </a:solidFill>
              </a:rPr>
              <a:t>Operational figures are synthetic</a:t>
            </a:r>
            <a:endParaRPr lang="en-US" sz="1800" dirty="0"/>
          </a:p>
          <a:p>
            <a:pPr marL="342900" indent="-342900">
              <a:spcAft>
                <a:spcPts val="1600"/>
              </a:spcAft>
              <a:buSzPct val="100000"/>
              <a:buChar char="•"/>
            </a:pPr>
            <a:r>
              <a:rPr lang="en-US" sz="1800" dirty="0">
                <a:solidFill>
                  <a:schemeClr val="tx2"/>
                </a:solidFill>
              </a:rPr>
              <a:t>Population is estimated from barangay counts</a:t>
            </a:r>
            <a:endParaRPr lang="en-US" sz="1800" dirty="0"/>
          </a:p>
          <a:p>
            <a:pPr marL="342900" indent="-342900">
              <a:spcAft>
                <a:spcPts val="1600"/>
              </a:spcAft>
              <a:buSzPct val="100000"/>
              <a:buChar char="•"/>
            </a:pPr>
            <a:r>
              <a:rPr lang="en-US" sz="1800" dirty="0">
                <a:solidFill>
                  <a:schemeClr val="tx2"/>
                </a:solidFill>
              </a:rPr>
              <a:t>Runs on one local server (XAMPP)</a:t>
            </a:r>
            <a:endParaRPr lang="en-US" sz="1800" dirty="0"/>
          </a:p>
        </p:txBody>
      </p:sp>
      <p:sp>
        <p:nvSpPr>
          <p:cNvPr id="12" name="Text 8"/>
          <p:cNvSpPr txBox="1"/>
          <p:nvPr/>
        </p:nvSpPr>
        <p:spPr>
          <a:xfrm>
            <a:off x="6492240" y="2468880"/>
            <a:ext cx="4846320" cy="2926080"/>
          </a:xfrm>
          <a:prstGeom prst="rect">
            <a:avLst/>
          </a:prstGeom>
          <a:noFill/>
          <a:ln/>
        </p:spPr>
        <p:txBody>
          <a:bodyPr wrap="square" lIns="0" tIns="0" rIns="0" bIns="0" rtlCol="0" anchor="t"/>
          <a:lstStyle/>
          <a:p>
            <a:pPr marL="342900" indent="-342900">
              <a:spcAft>
                <a:spcPts val="1600"/>
              </a:spcAft>
              <a:buSzPct val="100000"/>
              <a:buChar char="•"/>
            </a:pPr>
            <a:r>
              <a:rPr lang="en-US" sz="1800" dirty="0">
                <a:solidFill>
                  <a:schemeClr val="tx2"/>
                </a:solidFill>
              </a:rPr>
              <a:t>Load real agency reports through the data exchange</a:t>
            </a:r>
            <a:endParaRPr lang="en-US" sz="1800" dirty="0"/>
          </a:p>
          <a:p>
            <a:pPr marL="342900" indent="-342900">
              <a:spcAft>
                <a:spcPts val="1600"/>
              </a:spcAft>
              <a:buSzPct val="100000"/>
              <a:buChar char="•"/>
            </a:pPr>
            <a:r>
              <a:rPr lang="en-US" sz="1800" dirty="0">
                <a:solidFill>
                  <a:schemeClr val="tx2"/>
                </a:solidFill>
              </a:rPr>
              <a:t>PSA census population for official per-100k rates</a:t>
            </a:r>
            <a:endParaRPr lang="en-US" sz="1800" dirty="0"/>
          </a:p>
          <a:p>
            <a:pPr marL="342900" indent="-342900">
              <a:spcAft>
                <a:spcPts val="1600"/>
              </a:spcAft>
              <a:buSzPct val="100000"/>
              <a:buChar char="•"/>
            </a:pPr>
            <a:r>
              <a:rPr lang="en-US" sz="1800" dirty="0">
                <a:solidFill>
                  <a:schemeClr val="tx2"/>
                </a:solidFill>
              </a:rPr>
              <a:t>Add hazard maps (GeoRiskPH) and poverty data for risk analysis</a:t>
            </a:r>
            <a:endParaRPr lang="en-US" sz="1800" dirty="0"/>
          </a:p>
          <a:p>
            <a:pPr marL="342900" indent="-342900">
              <a:spcAft>
                <a:spcPts val="1600"/>
              </a:spcAft>
              <a:buSzPct val="100000"/>
              <a:buChar char="•"/>
            </a:pPr>
            <a:r>
              <a:rPr lang="en-US" sz="1800" dirty="0">
                <a:solidFill>
                  <a:schemeClr val="tx2"/>
                </a:solidFill>
              </a:rPr>
              <a:t>Move the warehouse to the cloud (Supabase)</a:t>
            </a:r>
            <a:endParaRPr lang="en-US" sz="18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5A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Typhoon Haiyan satellite image" descr="C:\Users\banba\AppData\Local\Temp\claude\C--Users-banba-OneDrive-Documents-GitHub-NEUSTIT271-EDW-Project--claude-worktrees-great-bardeen-ab59a6\74094a70-acc5-4807-885e-b40727f685f7\scratchpad\img\haiyan_eye.jpg">    </p:cNvPr>
          <p:cNvPicPr>
            <a:picLocks noChangeAspect="1"/>
          </p:cNvPicPr>
          <p:nvPr/>
        </p:nvPicPr>
        <p:blipFill>
          <a:blip r:embed="rId1"/>
          <a:srcRect l="0" r="0" t="0" b="0"/>
          <a:stretch/>
        </p:blipFill>
        <p:spPr>
          <a:xfrm>
            <a:off x="5897880" y="0"/>
            <a:ext cx="6293815" cy="6858000"/>
          </a:xfrm>
          <a:prstGeom prst="rect">
            <a:avLst/>
          </a:prstGeom>
        </p:spPr>
      </p:pic>
      <p:sp>
        <p:nvSpPr>
          <p:cNvPr id="3" name="Text 0"/>
          <p:cNvSpPr/>
          <p:nvPr>
            <p:ph idx="100" type="title" hasCustomPrompt="1"/>
          </p:nvPr>
        </p:nvSpPr>
        <p:spPr>
          <a:xfrm>
            <a:off x="548640" y="2011680"/>
            <a:ext cx="5029200" cy="182880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Thank you</a:t>
            </a:r>
            <a:endParaRPr lang="en-US" sz="4000" dirty="0"/>
          </a:p>
        </p:txBody>
      </p:sp>
      <p:sp>
        <p:nvSpPr>
          <p:cNvPr id="4" name="Text 0"/>
          <p:cNvSpPr/>
          <p:nvPr>
            <p:ph idx="101" type="body" hasCustomPrompt="1"/>
          </p:nvPr>
        </p:nvSpPr>
        <p:spPr>
          <a:xfrm>
            <a:off x="548640" y="4023360"/>
            <a:ext cx="4937760" cy="1188720"/>
          </a:xfrm>
          <a:prstGeom prst="rect">
            <a:avLst/>
          </a:prstGeom>
          <a:noFill/>
          <a:ln/>
        </p:spPr>
        <p:txBody>
          <a:bodyPr wrap="square" lIns="0" tIns="0" rIns="0" bIns="0" rtlCol="0" anchor="t"/>
          <a:lstStyle/>
          <a:p>
            <a:pPr algn="l" indent="0" marL="0">
              <a:buNone/>
            </a:pPr>
            <a:r>
              <a:rPr lang="en-US" sz="1900" dirty="0">
                <a:solidFill>
                  <a:schemeClr val="bg2"/>
                </a:solidFill>
              </a:rPr>
              <a:t>Questions and live demo: http://localhost/driw/</a:t>
            </a:r>
            <a:endParaRPr lang="en-US" sz="1900" dirty="0"/>
          </a:p>
        </p:txBody>
      </p:sp>
      <p:sp>
        <p:nvSpPr>
          <p:cNvPr id="5" name="image credits"/>
          <p:cNvSpPr txBox="1"/>
          <p:nvPr/>
        </p:nvSpPr>
        <p:spPr>
          <a:xfrm>
            <a:off x="548640" y="4892040"/>
            <a:ext cx="5120640" cy="1645920"/>
          </a:xfrm>
          <a:prstGeom prst="rect">
            <a:avLst/>
          </a:prstGeom>
          <a:noFill/>
          <a:ln/>
        </p:spPr>
        <p:txBody>
          <a:bodyPr wrap="square" lIns="0" tIns="0" rIns="0" bIns="0" rtlCol="0" anchor="t"/>
          <a:lstStyle/>
          <a:p>
            <a:pPr indent="0" marL="0">
              <a:buNone/>
            </a:pPr>
            <a:r>
              <a:rPr lang="en-US" sz="900" b="1" dirty="0">
                <a:solidFill>
                  <a:schemeClr val="bg2"/>
                </a:solidFill>
              </a:rPr>
              <a:t>Image credits (Wikimedia Commons)</a:t>
            </a:r>
            <a:endParaRPr lang="en-US" sz="900" dirty="0"/>
          </a:p>
          <a:p>
            <a:pPr indent="0" marL="0">
              <a:buNone/>
            </a:pPr>
            <a:r>
              <a:rPr lang="en-US" sz="900" dirty="0">
                <a:solidFill>
                  <a:schemeClr val="bg2"/>
                </a:solidFill>
              </a:rPr>
              <a:t>Typhoon Haiyan satellite image, 2013 · NASA/NOAA · Public domain</a:t>
            </a:r>
            <a:endParaRPr lang="en-US" sz="900" dirty="0"/>
          </a:p>
          <a:p>
            <a:pPr indent="0" marL="0">
              <a:buNone/>
            </a:pPr>
            <a:r>
              <a:rPr lang="en-US" sz="900" dirty="0">
                <a:solidFill>
                  <a:schemeClr val="bg2"/>
                </a:solidFill>
              </a:rPr>
              <a:t>Tacloban after Typhoon Haiyan, 2013 · Trocaire from Ireland · CC BY 2.0</a:t>
            </a:r>
            <a:endParaRPr lang="en-US" sz="900" dirty="0"/>
          </a:p>
          <a:p>
            <a:pPr indent="0" marL="0">
              <a:buNone/>
            </a:pPr>
            <a:r>
              <a:rPr lang="en-US" sz="900" dirty="0">
                <a:solidFill>
                  <a:schemeClr val="bg2"/>
                </a:solidFill>
              </a:rPr>
              <a:t>Quezon City flash flood, 2023 · LMP 2001 · CC BY-SA 4.0</a:t>
            </a:r>
            <a:endParaRPr lang="en-US" sz="900" dirty="0"/>
          </a:p>
          <a:p>
            <a:pPr indent="0" marL="0">
              <a:buNone/>
            </a:pPr>
            <a:r>
              <a:rPr lang="en-US" sz="900" dirty="0">
                <a:solidFill>
                  <a:schemeClr val="bg2"/>
                </a:solidFill>
              </a:rPr>
              <a:t>Volunteers encoding relief data after Haiyan, 2013 · Cpl. Codey Underwood · Public domain</a:t>
            </a:r>
            <a:endParaRPr lang="en-US" sz="900" dirty="0"/>
          </a:p>
          <a:p>
            <a:pPr indent="0" marL="0">
              <a:buNone/>
            </a:pPr>
            <a:r>
              <a:rPr lang="en-US" sz="900" dirty="0">
                <a:solidFill>
                  <a:schemeClr val="bg2"/>
                </a:solidFill>
              </a:rPr>
              <a:t>Evacuation center, Tanauan, Batangas, 2020 · PNA photo by Joey O. Razon · Public domain</a:t>
            </a:r>
            <a:endParaRPr lang="en-US" sz="900" dirty="0"/>
          </a:p>
          <a:p>
            <a:pPr indent="0" marL="0">
              <a:buNone/>
            </a:pPr>
            <a:r>
              <a:rPr lang="en-US" sz="900" dirty="0">
                <a:solidFill>
                  <a:schemeClr val="bg2"/>
                </a:solidFill>
              </a:rPr>
              <a:t>Flood near Laguna de Bay after Ketsana, 2009 · IRRI Images · CC BY 2.0</a:t>
            </a:r>
            <a:endParaRPr lang="en-US" sz="900" dirty="0"/>
          </a:p>
        </p:txBody>
      </p:sp>
    </p:spTree>
  </p:cSld>
  <p:clrMapOvr>
    <a:masterClrMapping/>
  </p:clrMapOvr>
</p:sld>
</file>

<file path=ppt/theme/theme1.xml><?xml version="1.0" encoding="utf-8"?>
<a:theme xmlns:a="http://schemas.openxmlformats.org/drawingml/2006/main" name="DRIW Storm">
  <a:themeElements>
    <a:clrScheme name="DRIW Storm">
      <a:dk1>
        <a:srgbClr val="14233A"/>
      </a:dk1>
      <a:lt1>
        <a:srgbClr val="FFFFFF"/>
      </a:lt1>
      <a:dk2>
        <a:srgbClr val="3E4A5A"/>
      </a:dk2>
      <a:lt2>
        <a:srgbClr val="F1F4F7"/>
      </a:lt2>
      <a:accent1>
        <a:srgbClr val="E0612A"/>
      </a:accent1>
      <a:accent2>
        <a:srgbClr val="1F5FA8"/>
      </a:accent2>
      <a:accent3>
        <a:srgbClr val="2A9D8F"/>
      </a:accent3>
      <a:accent4>
        <a:srgbClr val="F2A541"/>
      </a:accent4>
      <a:accent5>
        <a:srgbClr val="8A95A3"/>
      </a:accent5>
      <a:accent6>
        <a:srgbClr val="B23A48"/>
      </a:accent6>
      <a:hlink>
        <a:srgbClr val="1F5FA8"/>
      </a:hlink>
      <a:folHlink>
        <a:srgbClr val="6A4C93"/>
      </a:folHlink>
    </a:clrScheme>
    <a:fontScheme name="DRIW Stor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DRIW: Disaster Response Intelligence Warehouse</dc:title>
  <dc:subject>IT271 Enterprise Data Warehousing project</dc:subject>
  <dc:creator>Ivan Christian Salinas</dc:creator>
  <cp:lastModifiedBy>Ivan Christian Salinas</cp:lastModifiedBy>
  <cp:revision>1</cp:revision>
  <dcterms:created xsi:type="dcterms:W3CDTF">2026-10-23T22:40:32Z</dcterms:created>
  <dcterms:modified xsi:type="dcterms:W3CDTF">2026-10-23T22:40:32Z</dcterms:modified>
</cp:coreProperties>
</file>