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My project is DRIW, the Disaster Response Intelligence Warehouse: an enterprise data warehouse that integrates fragmented disaster-response data from five source systems into one dimensional model, for Philippine tropical cyclones and monsoon floods from 2020 to 2025. I’ll cover the problem, the architecture and model, how I proved data quality, governance, the dashboards, and the validation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Disaster response is a multi-agency effort, and each agency keeps its own system. NDRRMC publishes cumulative situation reports; DSWD’s DROMIC tracks evacuation centers in Excel; NGOs report relief in their own formats and codes; PAGASA names the events; and LGUs log response operations. None of them share place codes, event names or units. So a simple cross-agency question, like which province received the least relief per affected person during Typhoon Kristine, cannot be answered without integration. That is the job of a warehouse.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tropical cyclones and monsoon floods in the Philippines from 2020 to 2025. What’s real: the 31 event names and dates, and the full PSGC geography. What’s synthetic: every operational figure. I want to be upfront about that. Real agency data isn’t publicly available, but more importantly, generating it lets me plant defects deliberately and count them, about ten thousand across nineteen types, so I can prove the data-quality layer catches them. Figures are scaled by population and storm strength so the dashboards look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the standard EDW layering, one schema per layer. Raw lands sources exactly as received, every column as text, so nothing is lost before quality rules run. Staging cleanses and conforms with 41 data-quality rules and sends rejects to quarantine. The dw schema is the star schema. Marts are materialized views shaped for each dashboard. Two supporting schemas: ref holds the PSGC master geography and alias maps; meta holds batch lineage, so every warehouse row traces to its source file. Note what is missing on purpose: there are no data-entry screens, no CMS. A warehouse receives data from the systems where it is typed in; it is not one of them. Every value enters through the pipeline, so it is checked by the rules, traceable to its file and reproducible by a rebuild. A CMS would sit upstream, as the way an LGU submits a file, and that is what the Data exchange page provides. Tooling: Python for extraction, dbt for transformation and tests, PostgreSQL 17 with migrations that run unchanged on Supabase, a Next.js site with a PHP API served by XAMPP, and GitHub Actions for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bus matrix. Four fact tables share nine conformed dimensions. The key ones are Date, Location and Event: because every fact uses the same ones, I can put damage, evacuation, relief and response side by side for the same storm and the same municipality. Location is keyed on the official PSGC code, which is what makes the cross-agency integration possible. Source is a lineage dimension: every fact row points to the file it came from. The response fact uses Date four times, as role-playing dimensions for requested, dispatched, arrived and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uses all three classic fact-table types, which was a deliberate choice for this course. Damage and resource distribution are transaction facts. Evacuation is a periodic snapshot: one row per center per day. Response is an accumulating snapshot: one row per request that gets updated as it moves from requested to dispatched to arrived to completed. Each table has its grain stated in one sentence, and a test enforces exactly one row per grain. Physical primary and foreign keys mean any ERD tool draws the star directly from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decisions I’d like to defend. First, situation reports are cumulative, so summing them double-counts; the fact keeps only the latest valid sitrep per event, place and category. Second, the evacuation grain includes the event, because overlapping typhoons in November 2024 used the same centers on the same days; I discovered this in the data. Third, evacuee counts are semi-additive: you can add across centers for a day, but across days you take the peak. The dashboards do exactly that. Fourth, in the accumulating snapshot, a milestone that hasn’t happened yet points to a special minus-one date member instead of null, so joins never drop open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Provinces do change. In September 2022 a plebiscite ratified RA 11550, splitting Maguindanao into Maguindanao del Norte and del Sur. My location dimension is SCD Type 2: a dated change log closes the old version and opens a new one. Here’s Parang: Maguindanao until 17 September 2022, then Maguindanao del Norte. Facts join the version valid on their own date, so Typhoon Paeng in October 2022 reports under the new provinces, while an earlier storm would still roll up to Maguindanao. Tests check that versions never overlap or leave gaps, exactly one is current, and that Paeng lands in the new provinces.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The generator records every defect it plants: misspelled place names, duplicate rows, mixed date formats, missing codes, impossible timestamps, nineteen types, almost ten thousand defects. The data-quality layer then runs blind. A reconciliation table compares planted against detected for every defect type, and all nineteen match exactly. And no row was rejected without a planted cause, which, as I’ll show later, actually caught a real bug in my own parsing.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framework has 41 rules in a catalog, each with one of three severities. Info means it was corrected automatically, like matching “Naga City” to the official PSGC name or stripping a thousands separator. Warning means the row is kept but flagged, like an overcrowded evacuation center, which is real information operations needs. Reject means it is held in quarantine with its reason and never reaches the warehouse. Staging never drops a row; every row has a status, and a test checks that every rejected row is in quarantine. Between 97 and 99.6 percent of rows reach the warehouse, depending on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 is the hardest conformance problem, because every agency types place names differently. Each distinct name is resolved once, in three steps: exact official name; then normalized, ignoring case, spacing, “City of” versus “City”, Sto. versus Santo, and ñ; then fuzzy, edit distance two or less, but only if one candidate is clearly closest. Seven names are genuinely ambiguous, like “Malniao”, which is equally close to Malinao and Manito, so the system leaves them for a human rather than guessing. How do I know the matches are right? The generator hides the true code inside LGU request IDs and evacuation-center codes. Checked against that ground truth: zero false matches across more than 63,000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maps directly to the stakeholders in my proposal. Executives see aggregated marts only. Analysts see the full star schema plus data-quality scorecards, but not raw data or quarantine. Regional operations managers see only their own region. Data stewards work on raw data, staging, reference data and quarantine, and can fix alias mappings, but don’t browse the finished warehouse. This is least privilege. Everything is enforced inside PostgreSQL, not in the app, so it holds no matter how someone connects. Grants are declared in dbt so they come back after every rebuild, and a view generates the effective access matrix from the database catalog for audits.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Regional access uses PostgreSQL row-level security on all four fact tables. The policy on the left restricts a regional user to locations in the regions mapped to them. The table on the right is the same query run as different personas: the analyst sees all 8,806 damage rows, the Bicol officer only Bicol’s 1,548, the Cagayan Valley officer only Cagayan’s 1,546, and a regional user who hasn’t been assigned a region sees nothing. Default deny, not default allow. The mapping itself is private, and a regional user cannot escalate. Secure views in a separate schema run with the caller’s rights, so the same view shows each officer their own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proposal promised OLAP cubes. PostgreSQL has no MOLAP cube engine, so I implemented ROLAP: the marts are materialized views, and two of them use SQL’s own OLAP operators. GROUP BY CUBE computes every combination of year, region and hazard type in one pass, eight grouping levels down to the grand total. The response mart uses GROUPING SETS for its roll-ups. Each mart is shaped for one dashboard, and a test checks that every mart adds back up to the fact tables, so a dashboard number can never drift from the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Executive dashboard answers “how bad was it, and where?” for leadership. Headline figures across all six years: 558 billion pesos in damage across 31 events. Damage by year is stacked by category, which shows agriculture and infrastructure dominate. The costliest event is Kristine in 2024, and the region chart comes straight from the CUBE mart’s region subtotals: Bicol has the most people affected. A reminder that these operational figures are synthetic. Every chart has a legend and a table view, and the colors were validated for color-blind safety in light and dark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Operations managers pick one event. For Typhoon Tino: evacuees peaked at about 132 thousand on landfall day and decayed over two weeks; the over-capacity chart shows overcrowding concentrated on the first two days; and dispatch times by response type and priority show relief delivery and road clearing wait longest, while rescues go out fastest. Logistics answers the question from my problem slide: relief by organization and resource type, and a ranking of the least-served provinces by relief per affected person. Davao Oriental is lowest at 104 pesos per person, a candidate for re-allocation. On XAMPP the dashboards read the marts live through the PHP API; every chart can be filtered by event, shared as a link, and downloaded as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question is how an LGU gets data in, since the warehouse has no data-entry screens. The answer is Excel, the format LGUs already use. One: the Data exchange page offers a template per report type, with drop-down lists of official place names, events and item codes taken from the warehouse. Two: an LGU that keeps its own layout does not have to change it; a small profile maps its headings, fills in columns it leaves out, and translates its own codes. Albay and Quezon City are the two examples. Three: an uploaded file is checked by the warehouse’s own 41 rules, in a separate sandbox database, so checking never changes the warehouse. On the right is the Albay evacuation report: five town names matched to PSGC, two warnings such as an overcrowded center, and three rows rejected, an ambiguous town name, swapped counts and the impossible date 10/32/2024, each with its reason. Submitting loads the valid rows and quarantines the rest; a corrected file replaces the earlier one. Four: anyone can download the marts as a formatted Excel workbook. Uploads are limited to the server itself until the site has sign-in.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is automated. 99 dbt checks cover keys, grain, SCD2 integrity and reconciliation. 28 end-to-end tests build a brand-new database from nothing and check completeness, consistency, determinism and that a second rebuild changes nothing. 21 access tests switch into each persona. 13 data-exchange tests check the templates, the per-row report on the Albay sample, that checking never touches the warehouse, that a submitted file loads with every check still passing, and the Excel export. 13 more test the PHP API. That is 174 in all, and GitHub Actions runs them on every push. Most importantly, the tests earned their keep: they caught real bugs. A parsing bug wrongly rejected 1,244 monsoon rows. My first row-level-security design let regional users see nothing at all, because inside a security-definer function PostgreSQL reports the owner as the current user. A single impossible date, 10/32/2024, in a submitted LGU file made the whole staging model fail, which would have blocked every load; bad dates and numbers are now flagged per row instead. And the Logistics page counted a distribution once per resource category, 9,782 instead of 5,529. Each was found by a test or a review, not by luck, and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limits. The operational figures are synthetic: they’re calibrated to be plausible, not to match official totals. Population per city is an estimate, because the PSA workbook with census figures couldn’t be downloaded automatically. Seven place names are genuinely ambiguous and wait for a steward. And the Data exchange upload only accepts files from the server itself, because an open upload form must not be reachable from the network until there is sign-in. Next steps: sign-in mapped to the database roles, so an LGU officer uploads from anywhere and sees only their region through the row-level security that already exists; a submission tracker showing which LGUs have reported for each event; and because the raw layer accepts any text, real public DROMIC and NDRRMC reports can be parsed into it without changing the warehouse. Near-real-time loads and forecasting were long-term goals in the proposal and remain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about 86 thousand rows from five disconnected systems are conformed into one star schema; every one of the nineteen planted defect types is caught at the exact count; four roles are enforced inside the database with row-level security; and 174 automated checks rebuild and verify the whole warehouse on every push. The code and documentation are on GitHub.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EF"/>
        </a:solidFill>
      </p:bgPr>
    </p:bg>
    <p:spTree>
      <p:nvGrpSpPr>
        <p:cNvPr id="1" name=""/>
        <p:cNvGrpSpPr/>
        <p:nvPr/>
      </p:nvGrpSpPr>
      <p:grpSpPr>
        <a:xfrm>
          <a:off x="0" y="0"/>
          <a:ext cx="0" cy="0"/>
          <a:chOff x="0" y="0"/>
          <a:chExt cx="0" cy="0"/>
        </a:xfrm>
      </p:grpSpPr>
      <p:sp>
        <p:nvSpPr>
          <p:cNvPr id="2" name="Text 0"/>
          <p:cNvSpPr/>
          <p:nvPr/>
        </p:nvSpPr>
        <p:spPr>
          <a:xfrm>
            <a:off x="812800" y="6261100"/>
            <a:ext cx="6350000" cy="228600"/>
          </a:xfrm>
          <a:prstGeom prst="rect">
            <a:avLst/>
          </a:prstGeom>
          <a:noFill/>
          <a:ln/>
        </p:spPr>
        <p:txBody>
          <a:bodyPr wrap="square" lIns="0" tIns="0" rIns="0" bIns="0" rtlCol="0" anchor="ctr"/>
          <a:lstStyle/>
          <a:p>
            <a:pPr indent="0" marL="0">
              <a:buNone/>
            </a:pPr>
            <a:r>
              <a:rPr lang="en-US" sz="1200" dirty="0">
                <a:solidFill>
                  <a:srgbClr val="7A8594"/>
                </a:solidFill>
                <a:latin typeface="Calibri" pitchFamily="34" charset="0"/>
                <a:ea typeface="Calibri" pitchFamily="34" charset="-122"/>
                <a:cs typeface="Calibri" pitchFamily="34" charset="-120"/>
              </a:rPr>
              <a:t>DRIW · IT271 final defense</a:t>
            </a:r>
            <a:endParaRPr lang="en-US" sz="12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33A"/>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E0612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747000" y="1143000"/>
            <a:ext cx="4572000" cy="4572000"/>
          </a:xfrm>
          <a:prstGeom prst="ellipse">
            <a:avLst/>
          </a:prstGeom>
          <a:ln w="12700">
            <a:solidFill>
              <a:srgbClr val="2C4466"/>
            </a:solidFill>
            <a:prstDash val="solid"/>
          </a:ln>
        </p:spPr>
      </p:sp>
      <p:sp>
        <p:nvSpPr>
          <p:cNvPr id="3" name="Shape 1"/>
          <p:cNvSpPr/>
          <p:nvPr/>
        </p:nvSpPr>
        <p:spPr>
          <a:xfrm>
            <a:off x="8255000" y="1651000"/>
            <a:ext cx="3556000" cy="3556000"/>
          </a:xfrm>
          <a:prstGeom prst="ellipse">
            <a:avLst/>
          </a:prstGeom>
          <a:ln w="12700">
            <a:solidFill>
              <a:srgbClr val="2C4466"/>
            </a:solidFill>
            <a:prstDash val="solid"/>
          </a:ln>
        </p:spPr>
      </p:sp>
      <p:sp>
        <p:nvSpPr>
          <p:cNvPr id="4" name="Shape 2"/>
          <p:cNvSpPr/>
          <p:nvPr/>
        </p:nvSpPr>
        <p:spPr>
          <a:xfrm>
            <a:off x="8763000" y="2159000"/>
            <a:ext cx="2540000" cy="2540000"/>
          </a:xfrm>
          <a:prstGeom prst="ellipse">
            <a:avLst/>
          </a:prstGeom>
          <a:ln w="12700">
            <a:solidFill>
              <a:srgbClr val="35527A"/>
            </a:solidFill>
            <a:prstDash val="solid"/>
          </a:ln>
        </p:spPr>
      </p:sp>
      <p:sp>
        <p:nvSpPr>
          <p:cNvPr id="5" name="Shape 3"/>
          <p:cNvSpPr/>
          <p:nvPr/>
        </p:nvSpPr>
        <p:spPr>
          <a:xfrm>
            <a:off x="9271000" y="2667000"/>
            <a:ext cx="1524000" cy="1524000"/>
          </a:xfrm>
          <a:prstGeom prst="ellipse">
            <a:avLst/>
          </a:prstGeom>
          <a:ln w="12700">
            <a:solidFill>
              <a:srgbClr val="3E5F8C"/>
            </a:solidFill>
            <a:prstDash val="solid"/>
          </a:ln>
        </p:spPr>
      </p:sp>
      <p:sp>
        <p:nvSpPr>
          <p:cNvPr id="6" name="Shape 4"/>
          <p:cNvSpPr/>
          <p:nvPr/>
        </p:nvSpPr>
        <p:spPr>
          <a:xfrm>
            <a:off x="9753600" y="3149600"/>
            <a:ext cx="558800" cy="558800"/>
          </a:xfrm>
          <a:prstGeom prst="ellipse">
            <a:avLst/>
          </a:prstGeom>
          <a:solidFill>
            <a:srgbClr val="E0612A"/>
          </a:solidFill>
          <a:ln w="12700">
            <a:solidFill>
              <a:srgbClr val="E0612A"/>
            </a:solidFill>
            <a:prstDash val="solid"/>
          </a:ln>
        </p:spPr>
      </p:sp>
      <p:sp>
        <p:nvSpPr>
          <p:cNvPr id="7" name="Text 5"/>
          <p:cNvSpPr txBox="1"/>
          <p:nvPr/>
        </p:nvSpPr>
        <p:spPr>
          <a:xfrm>
            <a:off x="812800" y="812800"/>
            <a:ext cx="8255000" cy="254000"/>
          </a:xfrm>
          <a:prstGeom prst="rect">
            <a:avLst/>
          </a:prstGeom>
          <a:noFill/>
          <a:ln/>
        </p:spPr>
        <p:txBody>
          <a:bodyPr wrap="square" lIns="0" tIns="0" rIns="0" bIns="0" rtlCol="0" anchor="t"/>
          <a:lstStyle/>
          <a:p>
            <a:pPr indent="0" marL="0">
              <a:buNone/>
            </a:pPr>
            <a:r>
              <a:rPr lang="en-US" sz="1400" b="1" spc="100" kern="0" dirty="0">
                <a:solidFill>
                  <a:srgbClr val="F08A5D"/>
                </a:solidFill>
                <a:latin typeface="Calibri" pitchFamily="34" charset="0"/>
                <a:ea typeface="Calibri" pitchFamily="34" charset="-122"/>
                <a:cs typeface="Calibri" pitchFamily="34" charset="-120"/>
              </a:rPr>
              <a:t>IT271 ENTERPRISE DATA WAREHOUSING · FINAL DEFENSE</a:t>
            </a:r>
            <a:endParaRPr lang="en-US" sz="1400" dirty="0"/>
          </a:p>
        </p:txBody>
      </p:sp>
      <p:sp>
        <p:nvSpPr>
          <p:cNvPr id="8" name="Text 6"/>
          <p:cNvSpPr txBox="1"/>
          <p:nvPr/>
        </p:nvSpPr>
        <p:spPr>
          <a:xfrm>
            <a:off x="812800" y="1905000"/>
            <a:ext cx="7874000" cy="1651000"/>
          </a:xfrm>
          <a:prstGeom prst="rect">
            <a:avLst/>
          </a:prstGeom>
          <a:noFill/>
          <a:ln/>
        </p:spPr>
        <p:txBody>
          <a:bodyPr wrap="square" lIns="0" tIns="0" rIns="0" bIns="0" rtlCol="0" anchor="b"/>
          <a:lstStyle/>
          <a:p>
            <a:pPr indent="0" marL="0">
              <a:buNone/>
            </a:pPr>
            <a:r>
              <a:rPr lang="en-US" sz="5600" b="1" dirty="0">
                <a:solidFill>
                  <a:srgbClr val="F6F4EF"/>
                </a:solidFill>
                <a:latin typeface="Cambria" pitchFamily="34" charset="0"/>
                <a:ea typeface="Cambria" pitchFamily="34" charset="-122"/>
                <a:cs typeface="Cambria" pitchFamily="34" charset="-120"/>
              </a:rPr>
              <a:t>Disaster Response Intelligence Warehouse</a:t>
            </a:r>
            <a:endParaRPr lang="en-US" sz="5600" dirty="0"/>
          </a:p>
        </p:txBody>
      </p:sp>
      <p:sp>
        <p:nvSpPr>
          <p:cNvPr id="9" name="Text 7"/>
          <p:cNvSpPr txBox="1"/>
          <p:nvPr/>
        </p:nvSpPr>
        <p:spPr>
          <a:xfrm>
            <a:off x="812800" y="3746500"/>
            <a:ext cx="7874000" cy="762000"/>
          </a:xfrm>
          <a:prstGeom prst="rect">
            <a:avLst/>
          </a:prstGeom>
          <a:noFill/>
          <a:ln/>
        </p:spPr>
        <p:txBody>
          <a:bodyPr wrap="square" lIns="0" tIns="0" rIns="0" bIns="0" rtlCol="0" anchor="t"/>
          <a:lstStyle/>
          <a:p>
            <a:pPr indent="0" marL="0">
              <a:buNone/>
            </a:pPr>
            <a:r>
              <a:rPr lang="en-US" sz="1800" dirty="0">
                <a:solidFill>
                  <a:srgbClr val="C9D3DE"/>
                </a:solidFill>
                <a:latin typeface="Calibri" pitchFamily="34" charset="0"/>
                <a:ea typeface="Calibri" pitchFamily="34" charset="-122"/>
                <a:cs typeface="Calibri" pitchFamily="34" charset="-120"/>
              </a:rPr>
              <a:t>Turning fragmented disaster-response data into one model for decision support · Philippines, 2020–2025</a:t>
            </a:r>
            <a:endParaRPr lang="en-US" sz="1800" dirty="0"/>
          </a:p>
        </p:txBody>
      </p:sp>
      <p:sp>
        <p:nvSpPr>
          <p:cNvPr id="10" name="Text 8"/>
          <p:cNvSpPr txBox="1"/>
          <p:nvPr/>
        </p:nvSpPr>
        <p:spPr>
          <a:xfrm>
            <a:off x="812800" y="5461000"/>
            <a:ext cx="7874000" cy="571500"/>
          </a:xfrm>
          <a:prstGeom prst="rect">
            <a:avLst/>
          </a:prstGeom>
          <a:noFill/>
          <a:ln/>
        </p:spPr>
        <p:txBody>
          <a:bodyPr wrap="square" lIns="0" tIns="0" rIns="0" bIns="0" rtlCol="0" anchor="t"/>
          <a:lstStyle/>
          <a:p>
            <a:pPr indent="0" marL="0">
              <a:buNone/>
            </a:pPr>
            <a:r>
              <a:rPr lang="en-US" sz="1600" b="1" dirty="0">
                <a:solidFill>
                  <a:srgbClr val="F6F4EF"/>
                </a:solidFill>
                <a:latin typeface="Calibri" pitchFamily="34" charset="0"/>
                <a:ea typeface="Calibri" pitchFamily="34" charset="-122"/>
                <a:cs typeface="Calibri" pitchFamily="34" charset="-120"/>
              </a:rPr>
              <a:t>Ivan Christian Salinas</a:t>
            </a:r>
            <a:endParaRPr lang="en-US" sz="1400" dirty="0"/>
          </a:p>
          <a:p>
            <a:pPr indent="0" marL="0">
              <a:buNone/>
            </a:pPr>
            <a:r>
              <a:rPr lang="en-US" sz="1400" dirty="0">
                <a:solidFill>
                  <a:srgbClr val="C9D3DE"/>
                </a:solidFill>
                <a:latin typeface="Calibri" pitchFamily="34" charset="0"/>
                <a:ea typeface="Calibri" pitchFamily="34" charset="-122"/>
                <a:cs typeface="Calibri" pitchFamily="34" charset="-120"/>
              </a:rPr>
              <a:t>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THE PROBLEM</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Disaster data lives in five disconnected systems</a:t>
            </a:r>
            <a:endParaRPr lang="en-US" sz="3200" dirty="0"/>
          </a:p>
        </p:txBody>
      </p:sp>
      <p:sp>
        <p:nvSpPr>
          <p:cNvPr id="5" name="Shape 2"/>
          <p:cNvSpPr/>
          <p:nvPr/>
        </p:nvSpPr>
        <p:spPr>
          <a:xfrm>
            <a:off x="812800" y="1968500"/>
            <a:ext cx="1991360" cy="2095500"/>
          </a:xfrm>
          <a:prstGeom prst="roundRect">
            <a:avLst>
              <a:gd name="adj" fmla="val 5102"/>
            </a:avLst>
          </a:prstGeom>
          <a:solidFill>
            <a:srgbClr val="FCFBF8"/>
          </a:solidFill>
          <a:ln w="9525">
            <a:solidFill>
              <a:srgbClr val="E2DED4"/>
            </a:solidFill>
            <a:prstDash val="solid"/>
          </a:ln>
        </p:spPr>
      </p:sp>
      <p:sp>
        <p:nvSpPr>
          <p:cNvPr id="6" name="Text 3"/>
          <p:cNvSpPr txBox="1"/>
          <p:nvPr/>
        </p:nvSpPr>
        <p:spPr>
          <a:xfrm>
            <a:off x="990600" y="2146300"/>
            <a:ext cx="1635760" cy="1778000"/>
          </a:xfrm>
          <a:prstGeom prst="rect">
            <a:avLst/>
          </a:prstGeom>
          <a:noFill/>
          <a:ln/>
        </p:spPr>
        <p:txBody>
          <a:bodyPr wrap="square" lIns="0" tIns="0" rIns="0" bIns="0" rtlCol="0" anchor="t"/>
          <a:lstStyle/>
          <a:p>
            <a:pPr indent="0" marL="0">
              <a:spcAft>
                <a:spcPts val="600"/>
              </a:spcAft>
              <a:buNone/>
            </a:pPr>
            <a:r>
              <a:rPr lang="en-US" sz="1200" b="1" dirty="0">
                <a:solidFill>
                  <a:srgbClr val="B9471A"/>
                </a:solidFill>
                <a:latin typeface="Calibri" pitchFamily="34" charset="0"/>
                <a:ea typeface="Calibri" pitchFamily="34" charset="-122"/>
                <a:cs typeface="Calibri" pitchFamily="34" charset="-120"/>
              </a:rPr>
              <a:t>NDRRMC</a:t>
            </a:r>
            <a:endParaRPr lang="en-US" sz="1400" dirty="0"/>
          </a:p>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Damage and casualties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Situation reports, CSV. Cumulative and re-issued; mixed number formats.</a:t>
            </a:r>
            <a:endParaRPr lang="en-US" sz="1400" dirty="0"/>
          </a:p>
        </p:txBody>
      </p:sp>
      <p:sp>
        <p:nvSpPr>
          <p:cNvPr id="7" name="Shape 4"/>
          <p:cNvSpPr/>
          <p:nvPr/>
        </p:nvSpPr>
        <p:spPr>
          <a:xfrm>
            <a:off x="2956560" y="1968500"/>
            <a:ext cx="1991360" cy="2095500"/>
          </a:xfrm>
          <a:prstGeom prst="roundRect">
            <a:avLst>
              <a:gd name="adj" fmla="val 5102"/>
            </a:avLst>
          </a:prstGeom>
          <a:solidFill>
            <a:srgbClr val="FCFBF8"/>
          </a:solidFill>
          <a:ln w="9525">
            <a:solidFill>
              <a:srgbClr val="E2DED4"/>
            </a:solidFill>
            <a:prstDash val="solid"/>
          </a:ln>
        </p:spPr>
      </p:sp>
      <p:sp>
        <p:nvSpPr>
          <p:cNvPr id="8" name="Text 5"/>
          <p:cNvSpPr txBox="1"/>
          <p:nvPr/>
        </p:nvSpPr>
        <p:spPr>
          <a:xfrm>
            <a:off x="3134360" y="2146300"/>
            <a:ext cx="1635760" cy="1778000"/>
          </a:xfrm>
          <a:prstGeom prst="rect">
            <a:avLst/>
          </a:prstGeom>
          <a:noFill/>
          <a:ln/>
        </p:spPr>
        <p:txBody>
          <a:bodyPr wrap="square" lIns="0" tIns="0" rIns="0" bIns="0" rtlCol="0" anchor="t"/>
          <a:lstStyle/>
          <a:p>
            <a:pPr indent="0" marL="0">
              <a:spcAft>
                <a:spcPts val="600"/>
              </a:spcAft>
              <a:buNone/>
            </a:pPr>
            <a:r>
              <a:rPr lang="en-US" sz="1200" b="1" dirty="0">
                <a:solidFill>
                  <a:srgbClr val="B9471A"/>
                </a:solidFill>
                <a:latin typeface="Calibri" pitchFamily="34" charset="0"/>
                <a:ea typeface="Calibri" pitchFamily="34" charset="-122"/>
                <a:cs typeface="Calibri" pitchFamily="34" charset="-120"/>
              </a:rPr>
              <a:t>DSWD DROMIC</a:t>
            </a:r>
            <a:endParaRPr lang="en-US" sz="1400" dirty="0"/>
          </a:p>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Evacuation centers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Excel workbooks. Every field office writes dates its own way.</a:t>
            </a:r>
            <a:endParaRPr lang="en-US" sz="1400" dirty="0"/>
          </a:p>
        </p:txBody>
      </p:sp>
      <p:sp>
        <p:nvSpPr>
          <p:cNvPr id="9" name="Shape 6"/>
          <p:cNvSpPr/>
          <p:nvPr/>
        </p:nvSpPr>
        <p:spPr>
          <a:xfrm>
            <a:off x="5100320" y="1968500"/>
            <a:ext cx="1991360" cy="2095500"/>
          </a:xfrm>
          <a:prstGeom prst="roundRect">
            <a:avLst>
              <a:gd name="adj" fmla="val 5102"/>
            </a:avLst>
          </a:prstGeom>
          <a:solidFill>
            <a:srgbClr val="FCFBF8"/>
          </a:solidFill>
          <a:ln w="9525">
            <a:solidFill>
              <a:srgbClr val="E2DED4"/>
            </a:solidFill>
            <a:prstDash val="solid"/>
          </a:ln>
        </p:spPr>
      </p:sp>
      <p:sp>
        <p:nvSpPr>
          <p:cNvPr id="10" name="Text 7"/>
          <p:cNvSpPr txBox="1"/>
          <p:nvPr/>
        </p:nvSpPr>
        <p:spPr>
          <a:xfrm>
            <a:off x="5278120" y="2146300"/>
            <a:ext cx="1635760" cy="1778000"/>
          </a:xfrm>
          <a:prstGeom prst="rect">
            <a:avLst/>
          </a:prstGeom>
          <a:noFill/>
          <a:ln/>
        </p:spPr>
        <p:txBody>
          <a:bodyPr wrap="square" lIns="0" tIns="0" rIns="0" bIns="0" rtlCol="0" anchor="t"/>
          <a:lstStyle/>
          <a:p>
            <a:pPr indent="0" marL="0">
              <a:spcAft>
                <a:spcPts val="600"/>
              </a:spcAft>
              <a:buNone/>
            </a:pPr>
            <a:r>
              <a:rPr lang="en-US" sz="1200" b="1" dirty="0">
                <a:solidFill>
                  <a:srgbClr val="B9471A"/>
                </a:solidFill>
                <a:latin typeface="Calibri" pitchFamily="34" charset="0"/>
                <a:ea typeface="Calibri" pitchFamily="34" charset="-122"/>
                <a:cs typeface="Calibri" pitchFamily="34" charset="-120"/>
              </a:rPr>
              <a:t>NGOs</a:t>
            </a:r>
            <a:endParaRPr lang="en-US" sz="1400" dirty="0"/>
          </a:p>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Relief distribution</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Nested JSON. Own item codes, units and organization names.</a:t>
            </a:r>
            <a:endParaRPr lang="en-US" sz="1400" dirty="0"/>
          </a:p>
        </p:txBody>
      </p:sp>
      <p:sp>
        <p:nvSpPr>
          <p:cNvPr id="11" name="Shape 8"/>
          <p:cNvSpPr/>
          <p:nvPr/>
        </p:nvSpPr>
        <p:spPr>
          <a:xfrm>
            <a:off x="7244080" y="1968500"/>
            <a:ext cx="1991360" cy="2095500"/>
          </a:xfrm>
          <a:prstGeom prst="roundRect">
            <a:avLst>
              <a:gd name="adj" fmla="val 5102"/>
            </a:avLst>
          </a:prstGeom>
          <a:solidFill>
            <a:srgbClr val="FCFBF8"/>
          </a:solidFill>
          <a:ln w="9525">
            <a:solidFill>
              <a:srgbClr val="E2DED4"/>
            </a:solidFill>
            <a:prstDash val="solid"/>
          </a:ln>
        </p:spPr>
      </p:sp>
      <p:sp>
        <p:nvSpPr>
          <p:cNvPr id="12" name="Text 9"/>
          <p:cNvSpPr txBox="1"/>
          <p:nvPr/>
        </p:nvSpPr>
        <p:spPr>
          <a:xfrm>
            <a:off x="7421880" y="2146300"/>
            <a:ext cx="1635760" cy="1778000"/>
          </a:xfrm>
          <a:prstGeom prst="rect">
            <a:avLst/>
          </a:prstGeom>
          <a:noFill/>
          <a:ln/>
        </p:spPr>
        <p:txBody>
          <a:bodyPr wrap="square" lIns="0" tIns="0" rIns="0" bIns="0" rtlCol="0" anchor="t"/>
          <a:lstStyle/>
          <a:p>
            <a:pPr indent="0" marL="0">
              <a:spcAft>
                <a:spcPts val="600"/>
              </a:spcAft>
              <a:buNone/>
            </a:pPr>
            <a:r>
              <a:rPr lang="en-US" sz="1200" b="1" dirty="0">
                <a:solidFill>
                  <a:srgbClr val="B9471A"/>
                </a:solidFill>
                <a:latin typeface="Calibri" pitchFamily="34" charset="0"/>
                <a:ea typeface="Calibri" pitchFamily="34" charset="-122"/>
                <a:cs typeface="Calibri" pitchFamily="34" charset="-120"/>
              </a:rPr>
              <a:t>PAGASA</a:t>
            </a:r>
            <a:endParaRPr lang="en-US" sz="1400" dirty="0"/>
          </a:p>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Hazard events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Bulletins, CSV. Local and international names; re-issues.</a:t>
            </a:r>
            <a:endParaRPr lang="en-US" sz="1400" dirty="0"/>
          </a:p>
        </p:txBody>
      </p:sp>
      <p:sp>
        <p:nvSpPr>
          <p:cNvPr id="13" name="Shape 10"/>
          <p:cNvSpPr/>
          <p:nvPr/>
        </p:nvSpPr>
        <p:spPr>
          <a:xfrm>
            <a:off x="9387840" y="1968500"/>
            <a:ext cx="1991360" cy="2095500"/>
          </a:xfrm>
          <a:prstGeom prst="roundRect">
            <a:avLst>
              <a:gd name="adj" fmla="val 5102"/>
            </a:avLst>
          </a:prstGeom>
          <a:solidFill>
            <a:srgbClr val="FCFBF8"/>
          </a:solidFill>
          <a:ln w="9525">
            <a:solidFill>
              <a:srgbClr val="E2DED4"/>
            </a:solidFill>
            <a:prstDash val="solid"/>
          </a:ln>
        </p:spPr>
      </p:sp>
      <p:sp>
        <p:nvSpPr>
          <p:cNvPr id="14" name="Text 11"/>
          <p:cNvSpPr txBox="1"/>
          <p:nvPr/>
        </p:nvSpPr>
        <p:spPr>
          <a:xfrm>
            <a:off x="9565640" y="2146300"/>
            <a:ext cx="1635760" cy="1778000"/>
          </a:xfrm>
          <a:prstGeom prst="rect">
            <a:avLst/>
          </a:prstGeom>
          <a:noFill/>
          <a:ln/>
        </p:spPr>
        <p:txBody>
          <a:bodyPr wrap="square" lIns="0" tIns="0" rIns="0" bIns="0" rtlCol="0" anchor="t"/>
          <a:lstStyle/>
          <a:p>
            <a:pPr indent="0" marL="0">
              <a:spcAft>
                <a:spcPts val="600"/>
              </a:spcAft>
              <a:buNone/>
            </a:pPr>
            <a:r>
              <a:rPr lang="en-US" sz="1200" b="1" dirty="0">
                <a:solidFill>
                  <a:srgbClr val="B9471A"/>
                </a:solidFill>
                <a:latin typeface="Calibri" pitchFamily="34" charset="0"/>
                <a:ea typeface="Calibri" pitchFamily="34" charset="-122"/>
                <a:cs typeface="Calibri" pitchFamily="34" charset="-120"/>
              </a:rPr>
              <a:t>LGU / MDRRMO</a:t>
            </a:r>
            <a:endParaRPr lang="en-US" sz="1400" dirty="0"/>
          </a:p>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Response operations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Logs, CSV. Non-standard codes and impossible timestamps.</a:t>
            </a:r>
            <a:endParaRPr lang="en-US" sz="1400" dirty="0"/>
          </a:p>
        </p:txBody>
      </p:sp>
      <p:sp>
        <p:nvSpPr>
          <p:cNvPr id="15" name="Text 12"/>
          <p:cNvSpPr txBox="1"/>
          <p:nvPr/>
        </p:nvSpPr>
        <p:spPr>
          <a:xfrm>
            <a:off x="812800" y="4445000"/>
            <a:ext cx="9525000" cy="952500"/>
          </a:xfrm>
          <a:prstGeom prst="rect">
            <a:avLst/>
          </a:prstGeom>
          <a:noFill/>
          <a:ln/>
        </p:spPr>
        <p:txBody>
          <a:bodyPr wrap="square" lIns="0" tIns="0" rIns="0" bIns="0" rtlCol="0" anchor="t"/>
          <a:lstStyle/>
          <a:p>
            <a:pPr indent="0" marL="0">
              <a:buNone/>
            </a:pPr>
            <a:r>
              <a:rPr lang="en-US" sz="2000" dirty="0">
                <a:solidFill>
                  <a:srgbClr val="1B2738"/>
                </a:solidFill>
                <a:latin typeface="Cambria" pitchFamily="34" charset="0"/>
                <a:ea typeface="Cambria" pitchFamily="34" charset="-122"/>
                <a:cs typeface="Cambria" pitchFamily="34" charset="-120"/>
              </a:rPr>
              <a:t>No shared place codes, event names or units, so no one can answer: </a:t>
            </a:r>
            <a:pPr indent="0" marL="0">
              <a:buNone/>
            </a:pPr>
            <a:r>
              <a:rPr lang="en-US" sz="2000" i="1" dirty="0">
                <a:solidFill>
                  <a:srgbClr val="1B2738"/>
                </a:solidFill>
                <a:latin typeface="Cambria" pitchFamily="34" charset="0"/>
                <a:ea typeface="Cambria" pitchFamily="34" charset="-122"/>
                <a:cs typeface="Cambria" pitchFamily="34" charset="-120"/>
              </a:rPr>
              <a:t>“Which province got the least relief per affected person during Kristine?”</a:t>
            </a:r>
            <a:endParaRPr lang="en-US" sz="20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SCOPE</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Real geography and events, synthetic operations</a:t>
            </a:r>
            <a:endParaRPr lang="en-US" sz="3200" dirty="0"/>
          </a:p>
        </p:txBody>
      </p:sp>
      <p:sp>
        <p:nvSpPr>
          <p:cNvPr id="5" name="Shape 2"/>
          <p:cNvSpPr/>
          <p:nvPr/>
        </p:nvSpPr>
        <p:spPr>
          <a:xfrm>
            <a:off x="812800" y="1968500"/>
            <a:ext cx="5181600" cy="2730500"/>
          </a:xfrm>
          <a:prstGeom prst="roundRect">
            <a:avLst>
              <a:gd name="adj" fmla="val 3721"/>
            </a:avLst>
          </a:prstGeom>
          <a:solidFill>
            <a:srgbClr val="FCFBF8"/>
          </a:solidFill>
          <a:ln w="9525">
            <a:solidFill>
              <a:srgbClr val="E2DED4"/>
            </a:solidFill>
            <a:prstDash val="solid"/>
          </a:ln>
        </p:spPr>
      </p:sp>
      <p:sp>
        <p:nvSpPr>
          <p:cNvPr id="6" name="Text 3"/>
          <p:cNvSpPr txBox="1"/>
          <p:nvPr/>
        </p:nvSpPr>
        <p:spPr>
          <a:xfrm>
            <a:off x="1066800" y="2197100"/>
            <a:ext cx="4673600" cy="254000"/>
          </a:xfrm>
          <a:prstGeom prst="rect">
            <a:avLst/>
          </a:prstGeom>
          <a:noFill/>
          <a:ln/>
        </p:spPr>
        <p:txBody>
          <a:bodyPr wrap="square" lIns="0" tIns="0" rIns="0" bIns="0" rtlCol="0" anchor="t"/>
          <a:lstStyle/>
          <a:p>
            <a:pPr indent="0" marL="0">
              <a:buNone/>
            </a:pPr>
            <a:r>
              <a:rPr lang="en-US" sz="1600" b="1" dirty="0">
                <a:solidFill>
                  <a:srgbClr val="1F5FA8"/>
                </a:solidFill>
                <a:latin typeface="Calibri" pitchFamily="34" charset="0"/>
                <a:ea typeface="Calibri" pitchFamily="34" charset="-122"/>
                <a:cs typeface="Calibri" pitchFamily="34" charset="-120"/>
              </a:rPr>
              <a:t>Real</a:t>
            </a:r>
            <a:endParaRPr lang="en-US" sz="1600" dirty="0"/>
          </a:p>
        </p:txBody>
      </p:sp>
      <p:sp>
        <p:nvSpPr>
          <p:cNvPr id="7" name="Text 4"/>
          <p:cNvSpPr txBox="1"/>
          <p:nvPr/>
        </p:nvSpPr>
        <p:spPr>
          <a:xfrm>
            <a:off x="1066800" y="2540000"/>
            <a:ext cx="2032000" cy="901700"/>
          </a:xfrm>
          <a:prstGeom prst="rect">
            <a:avLst/>
          </a:prstGeom>
          <a:noFill/>
          <a:ln/>
        </p:spPr>
        <p:txBody>
          <a:bodyPr wrap="square" lIns="0" tIns="0" rIns="0" bIns="0" rtlCol="0" anchor="t"/>
          <a:lstStyle/>
          <a:p>
            <a:pPr indent="0" marL="0">
              <a:buNone/>
            </a:pPr>
            <a:r>
              <a:rPr lang="en-US" sz="3600" b="1" dirty="0">
                <a:solidFill>
                  <a:srgbClr val="1B2738"/>
                </a:solidFill>
                <a:latin typeface="Cambria" pitchFamily="34" charset="0"/>
                <a:ea typeface="Cambria" pitchFamily="34" charset="-122"/>
                <a:cs typeface="Cambria" pitchFamily="34" charset="-120"/>
              </a:rPr>
              <a:t>31</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PAGASA events, 2020–2025</a:t>
            </a:r>
            <a:endParaRPr lang="en-US" sz="1400" dirty="0"/>
          </a:p>
        </p:txBody>
      </p:sp>
      <p:sp>
        <p:nvSpPr>
          <p:cNvPr id="8" name="Text 5"/>
          <p:cNvSpPr txBox="1"/>
          <p:nvPr/>
        </p:nvSpPr>
        <p:spPr>
          <a:xfrm>
            <a:off x="3225800" y="2540000"/>
            <a:ext cx="2032000" cy="901700"/>
          </a:xfrm>
          <a:prstGeom prst="rect">
            <a:avLst/>
          </a:prstGeom>
          <a:noFill/>
          <a:ln/>
        </p:spPr>
        <p:txBody>
          <a:bodyPr wrap="square" lIns="0" tIns="0" rIns="0" bIns="0" rtlCol="0" anchor="t"/>
          <a:lstStyle/>
          <a:p>
            <a:pPr indent="0" marL="0">
              <a:buNone/>
            </a:pPr>
            <a:r>
              <a:rPr lang="en-US" sz="3600" b="1" dirty="0">
                <a:solidFill>
                  <a:srgbClr val="1B2738"/>
                </a:solidFill>
                <a:latin typeface="Cambria" pitchFamily="34" charset="0"/>
                <a:ea typeface="Cambria" pitchFamily="34" charset="-122"/>
                <a:cs typeface="Cambria" pitchFamily="34" charset="-120"/>
              </a:rPr>
              <a:t>1,634</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cities and municipalities</a:t>
            </a:r>
            <a:endParaRPr lang="en-US" sz="1400" dirty="0"/>
          </a:p>
        </p:txBody>
      </p:sp>
      <p:sp>
        <p:nvSpPr>
          <p:cNvPr id="9" name="Text 6"/>
          <p:cNvSpPr txBox="1"/>
          <p:nvPr/>
        </p:nvSpPr>
        <p:spPr>
          <a:xfrm>
            <a:off x="1066800" y="3683000"/>
            <a:ext cx="4673600" cy="8890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Event names and dates from PAGASA. Geography from the PSA’s PSGC: 17 regions, 81 provinces, 42,046 barangays.</a:t>
            </a:r>
            <a:endParaRPr lang="en-US" sz="1400" dirty="0"/>
          </a:p>
        </p:txBody>
      </p:sp>
      <p:sp>
        <p:nvSpPr>
          <p:cNvPr id="10" name="Shape 7"/>
          <p:cNvSpPr/>
          <p:nvPr/>
        </p:nvSpPr>
        <p:spPr>
          <a:xfrm>
            <a:off x="6197600" y="1968500"/>
            <a:ext cx="5181600" cy="2730500"/>
          </a:xfrm>
          <a:prstGeom prst="roundRect">
            <a:avLst>
              <a:gd name="adj" fmla="val 3721"/>
            </a:avLst>
          </a:prstGeom>
          <a:solidFill>
            <a:srgbClr val="FCFBF8"/>
          </a:solidFill>
          <a:ln w="9525">
            <a:solidFill>
              <a:srgbClr val="E2DED4"/>
            </a:solidFill>
            <a:prstDash val="solid"/>
          </a:ln>
        </p:spPr>
      </p:sp>
      <p:sp>
        <p:nvSpPr>
          <p:cNvPr id="11" name="Text 8"/>
          <p:cNvSpPr txBox="1"/>
          <p:nvPr/>
        </p:nvSpPr>
        <p:spPr>
          <a:xfrm>
            <a:off x="6451600" y="2197100"/>
            <a:ext cx="4673600" cy="254000"/>
          </a:xfrm>
          <a:prstGeom prst="rect">
            <a:avLst/>
          </a:prstGeom>
          <a:noFill/>
          <a:ln/>
        </p:spPr>
        <p:txBody>
          <a:bodyPr wrap="square" lIns="0" tIns="0" rIns="0" bIns="0" rtlCol="0" anchor="t"/>
          <a:lstStyle/>
          <a:p>
            <a:pPr indent="0" marL="0">
              <a:buNone/>
            </a:pPr>
            <a:r>
              <a:rPr lang="en-US" sz="1600" b="1" dirty="0">
                <a:solidFill>
                  <a:srgbClr val="B9471A"/>
                </a:solidFill>
                <a:latin typeface="Calibri" pitchFamily="34" charset="0"/>
                <a:ea typeface="Calibri" pitchFamily="34" charset="-122"/>
                <a:cs typeface="Calibri" pitchFamily="34" charset="-120"/>
              </a:rPr>
              <a:t>Synthetic</a:t>
            </a:r>
            <a:endParaRPr lang="en-US" sz="1600" dirty="0"/>
          </a:p>
        </p:txBody>
      </p:sp>
      <p:sp>
        <p:nvSpPr>
          <p:cNvPr id="12" name="Text 9"/>
          <p:cNvSpPr txBox="1"/>
          <p:nvPr/>
        </p:nvSpPr>
        <p:spPr>
          <a:xfrm>
            <a:off x="6451600" y="2540000"/>
            <a:ext cx="2032000" cy="901700"/>
          </a:xfrm>
          <a:prstGeom prst="rect">
            <a:avLst/>
          </a:prstGeom>
          <a:noFill/>
          <a:ln/>
        </p:spPr>
        <p:txBody>
          <a:bodyPr wrap="square" lIns="0" tIns="0" rIns="0" bIns="0" rtlCol="0" anchor="t"/>
          <a:lstStyle/>
          <a:p>
            <a:pPr indent="0" marL="0">
              <a:buNone/>
            </a:pPr>
            <a:r>
              <a:rPr lang="en-US" sz="3600" b="1" dirty="0">
                <a:solidFill>
                  <a:srgbClr val="1B2738"/>
                </a:solidFill>
                <a:latin typeface="Cambria" pitchFamily="34" charset="0"/>
                <a:ea typeface="Cambria" pitchFamily="34" charset="-122"/>
                <a:cs typeface="Cambria" pitchFamily="34" charset="-120"/>
              </a:rPr>
              <a:t>85,841</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raw source rows</a:t>
            </a:r>
            <a:endParaRPr lang="en-US" sz="1400" dirty="0"/>
          </a:p>
        </p:txBody>
      </p:sp>
      <p:sp>
        <p:nvSpPr>
          <p:cNvPr id="13" name="Text 10"/>
          <p:cNvSpPr txBox="1"/>
          <p:nvPr/>
        </p:nvSpPr>
        <p:spPr>
          <a:xfrm>
            <a:off x="8610600" y="2540000"/>
            <a:ext cx="2032000" cy="901700"/>
          </a:xfrm>
          <a:prstGeom prst="rect">
            <a:avLst/>
          </a:prstGeom>
          <a:noFill/>
          <a:ln/>
        </p:spPr>
        <p:txBody>
          <a:bodyPr wrap="square" lIns="0" tIns="0" rIns="0" bIns="0" rtlCol="0" anchor="t"/>
          <a:lstStyle/>
          <a:p>
            <a:pPr indent="0" marL="0">
              <a:buNone/>
            </a:pPr>
            <a:r>
              <a:rPr lang="en-US" sz="3600" b="1" dirty="0">
                <a:solidFill>
                  <a:srgbClr val="1B2738"/>
                </a:solidFill>
                <a:latin typeface="Cambria" pitchFamily="34" charset="0"/>
                <a:ea typeface="Cambria" pitchFamily="34" charset="-122"/>
                <a:cs typeface="Cambria" pitchFamily="34" charset="-120"/>
              </a:rPr>
              <a:t>9,995</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planted defects, 19 types</a:t>
            </a:r>
            <a:endParaRPr lang="en-US" sz="1400" dirty="0"/>
          </a:p>
        </p:txBody>
      </p:sp>
      <p:sp>
        <p:nvSpPr>
          <p:cNvPr id="14" name="Text 11"/>
          <p:cNvSpPr txBox="1"/>
          <p:nvPr/>
        </p:nvSpPr>
        <p:spPr>
          <a:xfrm>
            <a:off x="6451600" y="3683000"/>
            <a:ext cx="4673600" cy="8890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Every damage, evacuation, relief and response figure is generated, scaled to population and storm strength.</a:t>
            </a:r>
            <a:endParaRPr lang="en-US" sz="1400" dirty="0"/>
          </a:p>
        </p:txBody>
      </p:sp>
      <p:sp>
        <p:nvSpPr>
          <p:cNvPr id="15" name="Text 12"/>
          <p:cNvSpPr txBox="1"/>
          <p:nvPr/>
        </p:nvSpPr>
        <p:spPr>
          <a:xfrm>
            <a:off x="812800" y="5016500"/>
            <a:ext cx="9525000" cy="635000"/>
          </a:xfrm>
          <a:prstGeom prst="rect">
            <a:avLst/>
          </a:prstGeom>
          <a:noFill/>
          <a:ln/>
        </p:spPr>
        <p:txBody>
          <a:bodyPr wrap="square" lIns="0" tIns="0" rIns="0" bIns="0" rtlCol="0" anchor="t"/>
          <a:lstStyle/>
          <a:p>
            <a:pPr indent="0" marL="0">
              <a:buNone/>
            </a:pPr>
            <a:r>
              <a:rPr lang="en-US" sz="1400" b="1" dirty="0">
                <a:solidFill>
                  <a:srgbClr val="3E4A5A"/>
                </a:solidFill>
                <a:latin typeface="Calibri" pitchFamily="34" charset="0"/>
                <a:ea typeface="Calibri" pitchFamily="34" charset="-122"/>
                <a:cs typeface="Calibri" pitchFamily="34" charset="-120"/>
              </a:rPr>
              <a:t>Why synthetic? </a:t>
            </a:r>
            <a:pPr indent="0" marL="0">
              <a:buNone/>
            </a:pPr>
            <a:r>
              <a:rPr lang="en-US" sz="1400" dirty="0">
                <a:solidFill>
                  <a:srgbClr val="3E4A5A"/>
                </a:solidFill>
                <a:latin typeface="Calibri" pitchFamily="34" charset="0"/>
                <a:ea typeface="Calibri" pitchFamily="34" charset="-122"/>
                <a:cs typeface="Calibri" pitchFamily="34" charset="-120"/>
              </a:rPr>
              <a:t>Real operational data is not public. Generating it with </a:t>
            </a:r>
            <a:pPr indent="0" marL="0">
              <a:buNone/>
            </a:pPr>
            <a:r>
              <a:rPr lang="en-US" sz="1400" i="1" dirty="0">
                <a:solidFill>
                  <a:srgbClr val="3E4A5A"/>
                </a:solidFill>
                <a:latin typeface="Calibri" pitchFamily="34" charset="0"/>
                <a:ea typeface="Calibri" pitchFamily="34" charset="-122"/>
                <a:cs typeface="Calibri" pitchFamily="34" charset="-120"/>
              </a:rPr>
              <a:t>known, counted</a:t>
            </a:r>
            <a:pPr indent="0" marL="0">
              <a:buNone/>
            </a:pPr>
            <a:r>
              <a:rPr lang="en-US" sz="1400" dirty="0">
                <a:solidFill>
                  <a:srgbClr val="3E4A5A"/>
                </a:solidFill>
                <a:latin typeface="Calibri" pitchFamily="34" charset="0"/>
                <a:ea typeface="Calibri" pitchFamily="34" charset="-122"/>
                <a:cs typeface="Calibri" pitchFamily="34" charset="-120"/>
              </a:rPr>
              <a:t> defects lets the project prove its ETL works, not just claim it.</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ARCHITECTURE</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Six layers, each with one job</a:t>
            </a:r>
            <a:endParaRPr lang="en-US" sz="3200" dirty="0"/>
          </a:p>
        </p:txBody>
      </p:sp>
      <p:sp>
        <p:nvSpPr>
          <p:cNvPr id="5" name="Shape 2"/>
          <p:cNvSpPr/>
          <p:nvPr/>
        </p:nvSpPr>
        <p:spPr>
          <a:xfrm>
            <a:off x="812800" y="1968500"/>
            <a:ext cx="1422400" cy="1397000"/>
          </a:xfrm>
          <a:prstGeom prst="roundRect">
            <a:avLst>
              <a:gd name="adj" fmla="val 7273"/>
            </a:avLst>
          </a:prstGeom>
          <a:solidFill>
            <a:srgbClr val="FCFBF8"/>
          </a:solidFill>
          <a:ln w="9525">
            <a:solidFill>
              <a:srgbClr val="E2DED4"/>
            </a:solidFill>
            <a:prstDash val="solid"/>
          </a:ln>
        </p:spPr>
      </p:sp>
      <p:sp>
        <p:nvSpPr>
          <p:cNvPr id="6" name="Text 3"/>
          <p:cNvSpPr txBox="1"/>
          <p:nvPr/>
        </p:nvSpPr>
        <p:spPr>
          <a:xfrm>
            <a:off x="9398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7A8594"/>
                </a:solidFill>
                <a:latin typeface="Calibri" pitchFamily="34" charset="0"/>
                <a:ea typeface="Calibri" pitchFamily="34" charset="-122"/>
                <a:cs typeface="Calibri" pitchFamily="34" charset="-120"/>
              </a:rPr>
              <a:t>sources</a:t>
            </a:r>
            <a:endParaRPr lang="en-US" sz="1400" dirty="0"/>
          </a:p>
          <a:p>
            <a:pPr indent="0" marL="0">
              <a:spcAft>
                <a:spcPts val="600"/>
              </a:spcAft>
              <a:buNone/>
            </a:pPr>
            <a:r>
              <a:rPr lang="en-US" sz="1400" b="1" dirty="0">
                <a:solidFill>
                  <a:srgbClr val="1B2738"/>
                </a:solidFill>
                <a:latin typeface="Calibri" pitchFamily="34" charset="0"/>
                <a:ea typeface="Calibri" pitchFamily="34" charset="-122"/>
                <a:cs typeface="Calibri" pitchFamily="34" charset="-120"/>
              </a:rPr>
              <a:t>5 systems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CSV, Excel, nested JSON</a:t>
            </a:r>
            <a:endParaRPr lang="en-US" sz="1400" dirty="0"/>
          </a:p>
        </p:txBody>
      </p:sp>
      <p:sp>
        <p:nvSpPr>
          <p:cNvPr id="7" name="Shape 4"/>
          <p:cNvSpPr/>
          <p:nvPr/>
        </p:nvSpPr>
        <p:spPr>
          <a:xfrm>
            <a:off x="2311400" y="2590800"/>
            <a:ext cx="254000" cy="152400"/>
          </a:xfrm>
          <a:prstGeom prst="rightArrow">
            <a:avLst/>
          </a:prstGeom>
          <a:solidFill>
            <a:srgbClr val="B8B2A3"/>
          </a:solidFill>
          <a:ln w="12700">
            <a:solidFill>
              <a:srgbClr val="B8B2A3"/>
            </a:solidFill>
            <a:prstDash val="solid"/>
          </a:ln>
        </p:spPr>
      </p:sp>
      <p:sp>
        <p:nvSpPr>
          <p:cNvPr id="8" name="Shape 5"/>
          <p:cNvSpPr/>
          <p:nvPr/>
        </p:nvSpPr>
        <p:spPr>
          <a:xfrm>
            <a:off x="2641600" y="1968500"/>
            <a:ext cx="1422400" cy="1397000"/>
          </a:xfrm>
          <a:prstGeom prst="roundRect">
            <a:avLst>
              <a:gd name="adj" fmla="val 7273"/>
            </a:avLst>
          </a:prstGeom>
          <a:solidFill>
            <a:srgbClr val="FCFBF8"/>
          </a:solidFill>
          <a:ln w="9525">
            <a:solidFill>
              <a:srgbClr val="E2DED4"/>
            </a:solidFill>
            <a:prstDash val="solid"/>
          </a:ln>
        </p:spPr>
      </p:sp>
      <p:sp>
        <p:nvSpPr>
          <p:cNvPr id="9" name="Text 6"/>
          <p:cNvSpPr txBox="1"/>
          <p:nvPr/>
        </p:nvSpPr>
        <p:spPr>
          <a:xfrm>
            <a:off x="27686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7A8594"/>
                </a:solidFill>
                <a:latin typeface="Calibri" pitchFamily="34" charset="0"/>
                <a:ea typeface="Calibri" pitchFamily="34" charset="-122"/>
                <a:cs typeface="Calibri" pitchFamily="34" charset="-120"/>
              </a:rPr>
              <a:t>raw</a:t>
            </a:r>
            <a:endParaRPr lang="en-US" sz="1400" dirty="0"/>
          </a:p>
          <a:p>
            <a:pPr indent="0" marL="0">
              <a:spcAft>
                <a:spcPts val="600"/>
              </a:spcAft>
              <a:buNone/>
            </a:pPr>
            <a:r>
              <a:rPr lang="en-US" sz="1400" b="1" dirty="0">
                <a:solidFill>
                  <a:srgbClr val="1B2738"/>
                </a:solidFill>
                <a:latin typeface="Calibri" pitchFamily="34" charset="0"/>
                <a:ea typeface="Calibri" pitchFamily="34" charset="-122"/>
                <a:cs typeface="Calibri" pitchFamily="34" charset="-120"/>
              </a:rPr>
              <a:t>Landing</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As received, all text, batch lineage</a:t>
            </a:r>
            <a:endParaRPr lang="en-US" sz="1400" dirty="0"/>
          </a:p>
        </p:txBody>
      </p:sp>
      <p:sp>
        <p:nvSpPr>
          <p:cNvPr id="10" name="Shape 7"/>
          <p:cNvSpPr/>
          <p:nvPr/>
        </p:nvSpPr>
        <p:spPr>
          <a:xfrm>
            <a:off x="4140200" y="2590800"/>
            <a:ext cx="254000" cy="152400"/>
          </a:xfrm>
          <a:prstGeom prst="rightArrow">
            <a:avLst/>
          </a:prstGeom>
          <a:solidFill>
            <a:srgbClr val="B8B2A3"/>
          </a:solidFill>
          <a:ln w="12700">
            <a:solidFill>
              <a:srgbClr val="B8B2A3"/>
            </a:solidFill>
            <a:prstDash val="solid"/>
          </a:ln>
        </p:spPr>
      </p:sp>
      <p:sp>
        <p:nvSpPr>
          <p:cNvPr id="11" name="Shape 8"/>
          <p:cNvSpPr/>
          <p:nvPr/>
        </p:nvSpPr>
        <p:spPr>
          <a:xfrm>
            <a:off x="4470400" y="1968500"/>
            <a:ext cx="1422400" cy="1397000"/>
          </a:xfrm>
          <a:prstGeom prst="roundRect">
            <a:avLst>
              <a:gd name="adj" fmla="val 7273"/>
            </a:avLst>
          </a:prstGeom>
          <a:solidFill>
            <a:srgbClr val="FCFBF8"/>
          </a:solidFill>
          <a:ln w="9525">
            <a:solidFill>
              <a:srgbClr val="E2DED4"/>
            </a:solidFill>
            <a:prstDash val="solid"/>
          </a:ln>
        </p:spPr>
      </p:sp>
      <p:sp>
        <p:nvSpPr>
          <p:cNvPr id="12" name="Text 9"/>
          <p:cNvSpPr txBox="1"/>
          <p:nvPr/>
        </p:nvSpPr>
        <p:spPr>
          <a:xfrm>
            <a:off x="45974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7A8594"/>
                </a:solidFill>
                <a:latin typeface="Calibri" pitchFamily="34" charset="0"/>
                <a:ea typeface="Calibri" pitchFamily="34" charset="-122"/>
                <a:cs typeface="Calibri" pitchFamily="34" charset="-120"/>
              </a:rPr>
              <a:t>staging · dq</a:t>
            </a:r>
            <a:endParaRPr lang="en-US" sz="1400" dirty="0"/>
          </a:p>
          <a:p>
            <a:pPr indent="0" marL="0">
              <a:spcAft>
                <a:spcPts val="600"/>
              </a:spcAft>
              <a:buNone/>
            </a:pPr>
            <a:r>
              <a:rPr lang="en-US" sz="1400" b="1" dirty="0">
                <a:solidFill>
                  <a:srgbClr val="1B2738"/>
                </a:solidFill>
                <a:latin typeface="Calibri" pitchFamily="34" charset="0"/>
                <a:ea typeface="Calibri" pitchFamily="34" charset="-122"/>
                <a:cs typeface="Calibri" pitchFamily="34" charset="-120"/>
              </a:rPr>
              <a:t>Cleanse</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41 rules; rejects held in quarantine</a:t>
            </a:r>
            <a:endParaRPr lang="en-US" sz="1400" dirty="0"/>
          </a:p>
        </p:txBody>
      </p:sp>
      <p:sp>
        <p:nvSpPr>
          <p:cNvPr id="13" name="Shape 10"/>
          <p:cNvSpPr/>
          <p:nvPr/>
        </p:nvSpPr>
        <p:spPr>
          <a:xfrm>
            <a:off x="5969000" y="2590800"/>
            <a:ext cx="254000" cy="152400"/>
          </a:xfrm>
          <a:prstGeom prst="rightArrow">
            <a:avLst/>
          </a:prstGeom>
          <a:solidFill>
            <a:srgbClr val="B8B2A3"/>
          </a:solidFill>
          <a:ln w="12700">
            <a:solidFill>
              <a:srgbClr val="B8B2A3"/>
            </a:solidFill>
            <a:prstDash val="solid"/>
          </a:ln>
        </p:spPr>
      </p:sp>
      <p:sp>
        <p:nvSpPr>
          <p:cNvPr id="14" name="Shape 11"/>
          <p:cNvSpPr/>
          <p:nvPr/>
        </p:nvSpPr>
        <p:spPr>
          <a:xfrm>
            <a:off x="6299200" y="1968500"/>
            <a:ext cx="1422400" cy="1397000"/>
          </a:xfrm>
          <a:prstGeom prst="roundRect">
            <a:avLst>
              <a:gd name="adj" fmla="val 7273"/>
            </a:avLst>
          </a:prstGeom>
          <a:solidFill>
            <a:srgbClr val="14233A"/>
          </a:solidFill>
          <a:ln w="9525">
            <a:solidFill>
              <a:srgbClr val="14233A"/>
            </a:solidFill>
            <a:prstDash val="solid"/>
          </a:ln>
        </p:spPr>
      </p:sp>
      <p:sp>
        <p:nvSpPr>
          <p:cNvPr id="15" name="Text 12"/>
          <p:cNvSpPr txBox="1"/>
          <p:nvPr/>
        </p:nvSpPr>
        <p:spPr>
          <a:xfrm>
            <a:off x="64262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F08A5D"/>
                </a:solidFill>
                <a:latin typeface="Calibri" pitchFamily="34" charset="0"/>
                <a:ea typeface="Calibri" pitchFamily="34" charset="-122"/>
                <a:cs typeface="Calibri" pitchFamily="34" charset="-120"/>
              </a:rPr>
              <a:t>dw</a:t>
            </a:r>
            <a:endParaRPr lang="en-US" sz="1400" dirty="0"/>
          </a:p>
          <a:p>
            <a:pPr indent="0" marL="0">
              <a:spcAft>
                <a:spcPts val="600"/>
              </a:spcAft>
              <a:buNone/>
            </a:pPr>
            <a:r>
              <a:rPr lang="en-US" sz="1400" b="1" dirty="0">
                <a:solidFill>
                  <a:srgbClr val="F6F4EF"/>
                </a:solidFill>
                <a:latin typeface="Calibri" pitchFamily="34" charset="0"/>
                <a:ea typeface="Calibri" pitchFamily="34" charset="-122"/>
                <a:cs typeface="Calibri" pitchFamily="34" charset="-120"/>
              </a:rPr>
              <a:t>Star schema</a:t>
            </a:r>
            <a:endParaRPr lang="en-US" sz="1400" dirty="0"/>
          </a:p>
          <a:p>
            <a:pPr indent="0" marL="0">
              <a:spcAft>
                <a:spcPts val="600"/>
              </a:spcAft>
              <a:buNone/>
            </a:pPr>
            <a:r>
              <a:rPr lang="en-US" sz="1200" dirty="0">
                <a:solidFill>
                  <a:srgbClr val="C9D3DE"/>
                </a:solidFill>
                <a:latin typeface="Calibri" pitchFamily="34" charset="0"/>
                <a:ea typeface="Calibri" pitchFamily="34" charset="-122"/>
                <a:cs typeface="Calibri" pitchFamily="34" charset="-120"/>
              </a:rPr>
              <a:t>4 facts, 9 conformed dimensions</a:t>
            </a:r>
            <a:endParaRPr lang="en-US" sz="1400" dirty="0"/>
          </a:p>
        </p:txBody>
      </p:sp>
      <p:sp>
        <p:nvSpPr>
          <p:cNvPr id="16" name="Shape 13"/>
          <p:cNvSpPr/>
          <p:nvPr/>
        </p:nvSpPr>
        <p:spPr>
          <a:xfrm>
            <a:off x="7797800" y="2590800"/>
            <a:ext cx="254000" cy="152400"/>
          </a:xfrm>
          <a:prstGeom prst="rightArrow">
            <a:avLst/>
          </a:prstGeom>
          <a:solidFill>
            <a:srgbClr val="B8B2A3"/>
          </a:solidFill>
          <a:ln w="12700">
            <a:solidFill>
              <a:srgbClr val="B8B2A3"/>
            </a:solidFill>
            <a:prstDash val="solid"/>
          </a:ln>
        </p:spPr>
      </p:sp>
      <p:sp>
        <p:nvSpPr>
          <p:cNvPr id="17" name="Shape 14"/>
          <p:cNvSpPr/>
          <p:nvPr/>
        </p:nvSpPr>
        <p:spPr>
          <a:xfrm>
            <a:off x="8128000" y="1968500"/>
            <a:ext cx="1422400" cy="1397000"/>
          </a:xfrm>
          <a:prstGeom prst="roundRect">
            <a:avLst>
              <a:gd name="adj" fmla="val 7273"/>
            </a:avLst>
          </a:prstGeom>
          <a:solidFill>
            <a:srgbClr val="FCFBF8"/>
          </a:solidFill>
          <a:ln w="9525">
            <a:solidFill>
              <a:srgbClr val="E2DED4"/>
            </a:solidFill>
            <a:prstDash val="solid"/>
          </a:ln>
        </p:spPr>
      </p:sp>
      <p:sp>
        <p:nvSpPr>
          <p:cNvPr id="18" name="Text 15"/>
          <p:cNvSpPr txBox="1"/>
          <p:nvPr/>
        </p:nvSpPr>
        <p:spPr>
          <a:xfrm>
            <a:off x="82550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7A8594"/>
                </a:solidFill>
                <a:latin typeface="Calibri" pitchFamily="34" charset="0"/>
                <a:ea typeface="Calibri" pitchFamily="34" charset="-122"/>
                <a:cs typeface="Calibri" pitchFamily="34" charset="-120"/>
              </a:rPr>
              <a:t>mart</a:t>
            </a:r>
            <a:endParaRPr lang="en-US" sz="1400" dirty="0"/>
          </a:p>
          <a:p>
            <a:pPr indent="0" marL="0">
              <a:spcAft>
                <a:spcPts val="600"/>
              </a:spcAft>
              <a:buNone/>
            </a:pPr>
            <a:r>
              <a:rPr lang="en-US" sz="1400" b="1" dirty="0">
                <a:solidFill>
                  <a:srgbClr val="1B2738"/>
                </a:solidFill>
                <a:latin typeface="Calibri" pitchFamily="34" charset="0"/>
                <a:ea typeface="Calibri" pitchFamily="34" charset="-122"/>
                <a:cs typeface="Calibri" pitchFamily="34" charset="-120"/>
              </a:rPr>
              <a:t>Marts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6 materialized views, CUBE</a:t>
            </a:r>
            <a:endParaRPr lang="en-US" sz="1400" dirty="0"/>
          </a:p>
        </p:txBody>
      </p:sp>
      <p:sp>
        <p:nvSpPr>
          <p:cNvPr id="19" name="Shape 16"/>
          <p:cNvSpPr/>
          <p:nvPr/>
        </p:nvSpPr>
        <p:spPr>
          <a:xfrm>
            <a:off x="9626600" y="2590800"/>
            <a:ext cx="254000" cy="152400"/>
          </a:xfrm>
          <a:prstGeom prst="rightArrow">
            <a:avLst/>
          </a:prstGeom>
          <a:solidFill>
            <a:srgbClr val="B8B2A3"/>
          </a:solidFill>
          <a:ln w="12700">
            <a:solidFill>
              <a:srgbClr val="B8B2A3"/>
            </a:solidFill>
            <a:prstDash val="solid"/>
          </a:ln>
        </p:spPr>
      </p:sp>
      <p:sp>
        <p:nvSpPr>
          <p:cNvPr id="20" name="Shape 17"/>
          <p:cNvSpPr/>
          <p:nvPr/>
        </p:nvSpPr>
        <p:spPr>
          <a:xfrm>
            <a:off x="9956800" y="1968500"/>
            <a:ext cx="1422400" cy="1397000"/>
          </a:xfrm>
          <a:prstGeom prst="roundRect">
            <a:avLst>
              <a:gd name="adj" fmla="val 7273"/>
            </a:avLst>
          </a:prstGeom>
          <a:solidFill>
            <a:srgbClr val="FCFBF8"/>
          </a:solidFill>
          <a:ln w="9525">
            <a:solidFill>
              <a:srgbClr val="E2DED4"/>
            </a:solidFill>
            <a:prstDash val="solid"/>
          </a:ln>
        </p:spPr>
      </p:sp>
      <p:sp>
        <p:nvSpPr>
          <p:cNvPr id="21" name="Text 18"/>
          <p:cNvSpPr txBox="1"/>
          <p:nvPr/>
        </p:nvSpPr>
        <p:spPr>
          <a:xfrm>
            <a:off x="10083800" y="2095500"/>
            <a:ext cx="1168400" cy="1206500"/>
          </a:xfrm>
          <a:prstGeom prst="rect">
            <a:avLst/>
          </a:prstGeom>
          <a:noFill/>
          <a:ln/>
        </p:spPr>
        <p:txBody>
          <a:bodyPr wrap="square" lIns="0" tIns="0" rIns="0" bIns="0" rtlCol="0" anchor="t"/>
          <a:lstStyle/>
          <a:p>
            <a:pPr indent="0" marL="0">
              <a:spcAft>
                <a:spcPts val="600"/>
              </a:spcAft>
              <a:buNone/>
            </a:pPr>
            <a:r>
              <a:rPr lang="en-US" sz="1200" dirty="0">
                <a:solidFill>
                  <a:srgbClr val="7A8594"/>
                </a:solidFill>
                <a:latin typeface="Calibri" pitchFamily="34" charset="0"/>
                <a:ea typeface="Calibri" pitchFamily="34" charset="-122"/>
                <a:cs typeface="Calibri" pitchFamily="34" charset="-120"/>
              </a:rPr>
              <a:t>web</a:t>
            </a:r>
            <a:endParaRPr lang="en-US" sz="1400" dirty="0"/>
          </a:p>
          <a:p>
            <a:pPr indent="0" marL="0">
              <a:spcAft>
                <a:spcPts val="600"/>
              </a:spcAft>
              <a:buNone/>
            </a:pPr>
            <a:r>
              <a:rPr lang="en-US" sz="1400" b="1" dirty="0">
                <a:solidFill>
                  <a:srgbClr val="1B2738"/>
                </a:solidFill>
                <a:latin typeface="Calibri" pitchFamily="34" charset="0"/>
                <a:ea typeface="Calibri" pitchFamily="34" charset="-122"/>
                <a:cs typeface="Calibri" pitchFamily="34" charset="-120"/>
              </a:rPr>
              <a:t>Dashboards</a:t>
            </a:r>
            <a:endParaRPr lang="en-US" sz="1400" dirty="0"/>
          </a:p>
          <a:p>
            <a:pPr indent="0" marL="0">
              <a:spcAft>
                <a:spcPts val="600"/>
              </a:spcAft>
              <a:buNone/>
            </a:pPr>
            <a:r>
              <a:rPr lang="en-US" sz="1200" dirty="0">
                <a:solidFill>
                  <a:srgbClr val="4A5566"/>
                </a:solidFill>
                <a:latin typeface="Calibri" pitchFamily="34" charset="0"/>
                <a:ea typeface="Calibri" pitchFamily="34" charset="-122"/>
                <a:cs typeface="Calibri" pitchFamily="34" charset="-120"/>
              </a:rPr>
              <a:t>Executive, Operations, Logistics</a:t>
            </a:r>
            <a:endParaRPr lang="en-US" sz="1400" dirty="0"/>
          </a:p>
        </p:txBody>
      </p:sp>
      <p:sp>
        <p:nvSpPr>
          <p:cNvPr id="22" name="Shape 19"/>
          <p:cNvSpPr/>
          <p:nvPr/>
        </p:nvSpPr>
        <p:spPr>
          <a:xfrm>
            <a:off x="812800" y="3683000"/>
            <a:ext cx="3420533" cy="698500"/>
          </a:xfrm>
          <a:prstGeom prst="roundRect">
            <a:avLst>
              <a:gd name="adj" fmla="val 10909"/>
            </a:avLst>
          </a:prstGeom>
          <a:solidFill>
            <a:srgbClr val="ECE8DF"/>
          </a:solidFill>
          <a:ln w="9525">
            <a:solidFill>
              <a:srgbClr val="ECE8DF"/>
            </a:solidFill>
            <a:prstDash val="solid"/>
          </a:ln>
        </p:spPr>
      </p:sp>
      <p:sp>
        <p:nvSpPr>
          <p:cNvPr id="23" name="Text 20"/>
          <p:cNvSpPr txBox="1"/>
          <p:nvPr/>
        </p:nvSpPr>
        <p:spPr>
          <a:xfrm>
            <a:off x="965200" y="3746500"/>
            <a:ext cx="3115733" cy="571500"/>
          </a:xfrm>
          <a:prstGeom prst="rect">
            <a:avLst/>
          </a:prstGeom>
          <a:noFill/>
          <a:ln/>
        </p:spPr>
        <p:txBody>
          <a:bodyPr wrap="square" lIns="0" tIns="0" rIns="0" bIns="0" rtlCol="0" anchor="ctr"/>
          <a:lstStyle/>
          <a:p>
            <a:pPr indent="0" marL="0">
              <a:buNone/>
            </a:pPr>
            <a:r>
              <a:rPr lang="en-US" sz="1200" b="1" dirty="0">
                <a:solidFill>
                  <a:srgbClr val="3E4A5A"/>
                </a:solidFill>
                <a:latin typeface="Calibri" pitchFamily="34" charset="0"/>
                <a:ea typeface="Calibri" pitchFamily="34" charset="-122"/>
                <a:cs typeface="Calibri" pitchFamily="34" charset="-120"/>
              </a:rPr>
              <a:t>ref</a:t>
            </a:r>
            <a:pPr indent="0" marL="0">
              <a:buNone/>
            </a:pPr>
            <a:r>
              <a:rPr lang="en-US" sz="1200" dirty="0">
                <a:solidFill>
                  <a:srgbClr val="3E4A5A"/>
                </a:solidFill>
                <a:latin typeface="Calibri" pitchFamily="34" charset="0"/>
                <a:ea typeface="Calibri" pitchFamily="34" charset="-122"/>
                <a:cs typeface="Calibri" pitchFamily="34" charset="-120"/>
              </a:rPr>
              <a:t> · PSGC master geography and alias maps that conform names</a:t>
            </a:r>
            <a:endParaRPr lang="en-US" sz="1200" dirty="0"/>
          </a:p>
        </p:txBody>
      </p:sp>
      <p:sp>
        <p:nvSpPr>
          <p:cNvPr id="24" name="Shape 21"/>
          <p:cNvSpPr/>
          <p:nvPr/>
        </p:nvSpPr>
        <p:spPr>
          <a:xfrm>
            <a:off x="4385733" y="3683000"/>
            <a:ext cx="3420533" cy="698500"/>
          </a:xfrm>
          <a:prstGeom prst="roundRect">
            <a:avLst>
              <a:gd name="adj" fmla="val 10909"/>
            </a:avLst>
          </a:prstGeom>
          <a:solidFill>
            <a:srgbClr val="ECE8DF"/>
          </a:solidFill>
          <a:ln w="9525">
            <a:solidFill>
              <a:srgbClr val="ECE8DF"/>
            </a:solidFill>
            <a:prstDash val="solid"/>
          </a:ln>
        </p:spPr>
      </p:sp>
      <p:sp>
        <p:nvSpPr>
          <p:cNvPr id="25" name="Text 22"/>
          <p:cNvSpPr txBox="1"/>
          <p:nvPr/>
        </p:nvSpPr>
        <p:spPr>
          <a:xfrm>
            <a:off x="4538133" y="3746500"/>
            <a:ext cx="3115733" cy="571500"/>
          </a:xfrm>
          <a:prstGeom prst="rect">
            <a:avLst/>
          </a:prstGeom>
          <a:noFill/>
          <a:ln/>
        </p:spPr>
        <p:txBody>
          <a:bodyPr wrap="square" lIns="0" tIns="0" rIns="0" bIns="0" rtlCol="0" anchor="ctr"/>
          <a:lstStyle/>
          <a:p>
            <a:pPr indent="0" marL="0">
              <a:buNone/>
            </a:pPr>
            <a:r>
              <a:rPr lang="en-US" sz="1200" b="1" dirty="0">
                <a:solidFill>
                  <a:srgbClr val="3E4A5A"/>
                </a:solidFill>
                <a:latin typeface="Calibri" pitchFamily="34" charset="0"/>
                <a:ea typeface="Calibri" pitchFamily="34" charset="-122"/>
                <a:cs typeface="Calibri" pitchFamily="34" charset="-120"/>
              </a:rPr>
              <a:t>meta</a:t>
            </a:r>
            <a:pPr indent="0" marL="0">
              <a:buNone/>
            </a:pPr>
            <a:r>
              <a:rPr lang="en-US" sz="1200" dirty="0">
                <a:solidFill>
                  <a:srgbClr val="3E4A5A"/>
                </a:solidFill>
                <a:latin typeface="Calibri" pitchFamily="34" charset="0"/>
                <a:ea typeface="Calibri" pitchFamily="34" charset="-122"/>
                <a:cs typeface="Calibri" pitchFamily="34" charset="-120"/>
              </a:rPr>
              <a:t> · every row traces back to its source file and batch</a:t>
            </a:r>
            <a:endParaRPr lang="en-US" sz="1200" dirty="0"/>
          </a:p>
        </p:txBody>
      </p:sp>
      <p:sp>
        <p:nvSpPr>
          <p:cNvPr id="26" name="Shape 23"/>
          <p:cNvSpPr/>
          <p:nvPr/>
        </p:nvSpPr>
        <p:spPr>
          <a:xfrm>
            <a:off x="7958667" y="3683000"/>
            <a:ext cx="3420533" cy="698500"/>
          </a:xfrm>
          <a:prstGeom prst="roundRect">
            <a:avLst>
              <a:gd name="adj" fmla="val 10909"/>
            </a:avLst>
          </a:prstGeom>
          <a:solidFill>
            <a:srgbClr val="ECE8DF"/>
          </a:solidFill>
          <a:ln w="9525">
            <a:solidFill>
              <a:srgbClr val="ECE8DF"/>
            </a:solidFill>
            <a:prstDash val="solid"/>
          </a:ln>
        </p:spPr>
      </p:sp>
      <p:sp>
        <p:nvSpPr>
          <p:cNvPr id="27" name="Text 24"/>
          <p:cNvSpPr txBox="1"/>
          <p:nvPr/>
        </p:nvSpPr>
        <p:spPr>
          <a:xfrm>
            <a:off x="8111067" y="3746500"/>
            <a:ext cx="3115733" cy="571500"/>
          </a:xfrm>
          <a:prstGeom prst="rect">
            <a:avLst/>
          </a:prstGeom>
          <a:noFill/>
          <a:ln/>
        </p:spPr>
        <p:txBody>
          <a:bodyPr wrap="square" lIns="0" tIns="0" rIns="0" bIns="0" rtlCol="0" anchor="ctr"/>
          <a:lstStyle/>
          <a:p>
            <a:pPr indent="0" marL="0">
              <a:buNone/>
            </a:pPr>
            <a:r>
              <a:rPr lang="en-US" sz="1200" b="1" dirty="0">
                <a:solidFill>
                  <a:srgbClr val="3E4A5A"/>
                </a:solidFill>
                <a:latin typeface="Calibri" pitchFamily="34" charset="0"/>
                <a:ea typeface="Calibri" pitchFamily="34" charset="-122"/>
                <a:cs typeface="Calibri" pitchFamily="34" charset="-120"/>
              </a:rPr>
              <a:t>No data-entry screens</a:t>
            </a:r>
            <a:pPr indent="0" marL="0">
              <a:buNone/>
            </a:pPr>
            <a:r>
              <a:rPr lang="en-US" sz="1200" dirty="0">
                <a:solidFill>
                  <a:srgbClr val="3E4A5A"/>
                </a:solidFill>
                <a:latin typeface="Calibri" pitchFamily="34" charset="0"/>
                <a:ea typeface="Calibri" pitchFamily="34" charset="-122"/>
                <a:cs typeface="Calibri" pitchFamily="34" charset="-120"/>
              </a:rPr>
              <a:t> · data enters only through the checked pipeline</a:t>
            </a:r>
            <a:endParaRPr lang="en-US" sz="1200" dirty="0"/>
          </a:p>
        </p:txBody>
      </p:sp>
      <p:sp>
        <p:nvSpPr>
          <p:cNvPr id="28" name="Text 25"/>
          <p:cNvSpPr txBox="1"/>
          <p:nvPr/>
        </p:nvSpPr>
        <p:spPr>
          <a:xfrm>
            <a:off x="812800" y="4699000"/>
            <a:ext cx="10566400" cy="5080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Python ingestion · dbt transforms and tests · PostgreSQL 17 with Supabase-ready migrations · Next.js + PHP API on XAMPP · GitHub Actions CI</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DIMENSIONAL MODEL</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Four facts share conformed dimensions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10566400" cy="914400"/>
        </p:xfrm>
        <a:graphic>
          <a:graphicData uri="http://schemas.openxmlformats.org/drawingml/2006/table">
            <a:tbl>
              <a:tblPr/>
              <a:tblGrid>
                <a:gridCol w="2535936"/>
                <a:gridCol w="845312"/>
                <a:gridCol w="950976"/>
                <a:gridCol w="845312"/>
                <a:gridCol w="739648"/>
                <a:gridCol w="950976"/>
                <a:gridCol w="950976"/>
                <a:gridCol w="950976"/>
                <a:gridCol w="950976"/>
                <a:gridCol w="845312"/>
              </a:tblGrid>
              <a:tr h="393700">
                <a:tc>
                  <a:txBody>
                    <a:bodyPr/>
                    <a:lstStyle/>
                    <a:p>
                      <a:pPr algn="l" indent="0" marL="0">
                        <a:buNone/>
                      </a:pPr>
                      <a:r>
                        <a:rPr lang="en-US" sz="1400" b="1" dirty="0">
                          <a:solidFill>
                            <a:srgbClr val="1B2738"/>
                          </a:solidFill>
                          <a:latin typeface="Calibri" pitchFamily="34" charset="0"/>
                          <a:ea typeface="Calibri" pitchFamily="34" charset="-122"/>
                          <a:cs typeface="Calibri" pitchFamily="34" charset="-120"/>
                        </a:rPr>
                        <a:t>Fact \ Dimension</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Date</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Location</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Event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Org</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Resource</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Center</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Damage</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Response</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ctr" indent="0" marL="0">
                        <a:buNone/>
                      </a:pPr>
                      <a:r>
                        <a:rPr lang="en-US" sz="1400" b="1" dirty="0">
                          <a:solidFill>
                            <a:srgbClr val="1B2738"/>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93700">
                <a:tc>
                  <a:txBody>
                    <a:bodyPr/>
                    <a:lstStyle/>
                    <a:p>
                      <a:pPr algn="l" indent="0" marL="0">
                        <a:buNone/>
                      </a:pPr>
                      <a:r>
                        <a:rPr lang="en-US" sz="1400" dirty="0">
                          <a:solidFill>
                            <a:srgbClr val="1B2738"/>
                          </a:solidFill>
                          <a:latin typeface="Calibri" pitchFamily="34" charset="0"/>
                          <a:ea typeface="Calibri" pitchFamily="34" charset="-122"/>
                          <a:cs typeface="Calibri" pitchFamily="34" charset="-120"/>
                        </a:rPr>
                        <a:t>Damage assessment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400" dirty="0">
                          <a:solidFill>
                            <a:srgbClr val="1B2738"/>
                          </a:solidFill>
                          <a:latin typeface="Calibri" pitchFamily="34" charset="0"/>
                          <a:ea typeface="Calibri" pitchFamily="34" charset="-122"/>
                          <a:cs typeface="Calibri" pitchFamily="34" charset="-120"/>
                        </a:rPr>
                        <a:t>Evacuation snapshot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400" dirty="0">
                          <a:solidFill>
                            <a:srgbClr val="1B2738"/>
                          </a:solidFill>
                          <a:latin typeface="Calibri" pitchFamily="34" charset="0"/>
                          <a:ea typeface="Calibri" pitchFamily="34" charset="-122"/>
                          <a:cs typeface="Calibri" pitchFamily="34" charset="-120"/>
                        </a:rPr>
                        <a:t>Resource distribution</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400" dirty="0">
                          <a:solidFill>
                            <a:srgbClr val="1B2738"/>
                          </a:solidFill>
                          <a:latin typeface="Calibri" pitchFamily="34" charset="0"/>
                          <a:ea typeface="Calibri" pitchFamily="34" charset="-122"/>
                          <a:cs typeface="Calibri" pitchFamily="34" charset="-120"/>
                        </a:rPr>
                        <a:t>Response action</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 ×4</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ctr" indent="0" marL="0">
                        <a:buNone/>
                      </a:pPr>
                      <a:r>
                        <a:rPr lang="en-US" sz="1400" dirty="0">
                          <a:solidFill>
                            <a:srgbClr val="1B2738"/>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Text 2"/>
          <p:cNvSpPr txBox="1"/>
          <p:nvPr/>
        </p:nvSpPr>
        <p:spPr>
          <a:xfrm>
            <a:off x="812800" y="4318000"/>
            <a:ext cx="9525000" cy="8255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One date, one location (keyed on the PSGC code) and one event dimension serve every fact, so damage, evacuation, relief and response line up for the same storm and place. Response uses the date dimension four times, once per milestone.</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DIMENSIONAL MODEL</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All three fact-table types, each with a stated grain</a:t>
            </a:r>
            <a:endParaRPr lang="en-US" sz="3200" dirty="0"/>
          </a:p>
        </p:txBody>
      </p:sp>
      <p:sp>
        <p:nvSpPr>
          <p:cNvPr id="5" name="Shape 2"/>
          <p:cNvSpPr/>
          <p:nvPr/>
        </p:nvSpPr>
        <p:spPr>
          <a:xfrm>
            <a:off x="812800" y="1968500"/>
            <a:ext cx="5207000" cy="1117600"/>
          </a:xfrm>
          <a:prstGeom prst="roundRect">
            <a:avLst>
              <a:gd name="adj" fmla="val 9091"/>
            </a:avLst>
          </a:prstGeom>
          <a:solidFill>
            <a:srgbClr val="FCFBF8"/>
          </a:solidFill>
          <a:ln w="9525">
            <a:solidFill>
              <a:srgbClr val="E2DED4"/>
            </a:solidFill>
            <a:prstDash val="solid"/>
          </a:ln>
        </p:spPr>
      </p:sp>
      <p:sp>
        <p:nvSpPr>
          <p:cNvPr id="6" name="Text 3"/>
          <p:cNvSpPr txBox="1"/>
          <p:nvPr/>
        </p:nvSpPr>
        <p:spPr>
          <a:xfrm>
            <a:off x="1016000" y="2146300"/>
            <a:ext cx="3175000" cy="254000"/>
          </a:xfrm>
          <a:prstGeom prst="rect">
            <a:avLst/>
          </a:prstGeom>
          <a:noFill/>
          <a:ln/>
        </p:spPr>
        <p:txBody>
          <a:bodyPr wrap="square" lIns="0" tIns="0" rIns="0" bIns="0" rtlCol="0" anchor="t"/>
          <a:lstStyle/>
          <a:p>
            <a:pPr indent="0" marL="0">
              <a:buNone/>
            </a:pPr>
            <a:r>
              <a:rPr lang="en-US" sz="1600" b="1" dirty="0">
                <a:solidFill>
                  <a:srgbClr val="1B2738"/>
                </a:solidFill>
                <a:latin typeface="Calibri" pitchFamily="34" charset="0"/>
                <a:ea typeface="Calibri" pitchFamily="34" charset="-122"/>
                <a:cs typeface="Calibri" pitchFamily="34" charset="-120"/>
              </a:rPr>
              <a:t>Damage assessment</a:t>
            </a:r>
            <a:endParaRPr lang="en-US" sz="1600" dirty="0"/>
          </a:p>
        </p:txBody>
      </p:sp>
      <p:sp>
        <p:nvSpPr>
          <p:cNvPr id="7" name="Text 4"/>
          <p:cNvSpPr txBox="1"/>
          <p:nvPr/>
        </p:nvSpPr>
        <p:spPr>
          <a:xfrm>
            <a:off x="3987800" y="2146300"/>
            <a:ext cx="1828800" cy="254000"/>
          </a:xfrm>
          <a:prstGeom prst="rect">
            <a:avLst/>
          </a:prstGeom>
          <a:noFill/>
          <a:ln/>
        </p:spPr>
        <p:txBody>
          <a:bodyPr wrap="square" lIns="0" tIns="0" rIns="0" bIns="0" rtlCol="0" anchor="t"/>
          <a:lstStyle/>
          <a:p>
            <a:pPr algn="r" indent="0" marL="0">
              <a:buNone/>
            </a:pPr>
            <a:r>
              <a:rPr lang="en-US" sz="1200" b="1" dirty="0">
                <a:solidFill>
                  <a:srgbClr val="1F5FA8"/>
                </a:solidFill>
                <a:latin typeface="Calibri" pitchFamily="34" charset="0"/>
                <a:ea typeface="Calibri" pitchFamily="34" charset="-122"/>
                <a:cs typeface="Calibri" pitchFamily="34" charset="-120"/>
              </a:rPr>
              <a:t>Transaction</a:t>
            </a:r>
            <a:endParaRPr lang="en-US" sz="1200" dirty="0"/>
          </a:p>
        </p:txBody>
      </p:sp>
      <p:sp>
        <p:nvSpPr>
          <p:cNvPr id="8" name="Text 5"/>
          <p:cNvSpPr txBox="1"/>
          <p:nvPr/>
        </p:nvSpPr>
        <p:spPr>
          <a:xfrm>
            <a:off x="1016000" y="2476500"/>
            <a:ext cx="4800600" cy="508000"/>
          </a:xfrm>
          <a:prstGeom prst="rect">
            <a:avLst/>
          </a:prstGeom>
          <a:noFill/>
          <a:ln/>
        </p:spPr>
        <p:txBody>
          <a:bodyPr wrap="square" lIns="0" tIns="0" rIns="0" bIns="0" rtlCol="0" anchor="t"/>
          <a:lstStyle/>
          <a:p>
            <a:pPr indent="0" marL="0">
              <a:buNone/>
            </a:pPr>
            <a:r>
              <a:rPr lang="en-US" sz="1300" dirty="0">
                <a:solidFill>
                  <a:srgbClr val="3E4A5A"/>
                </a:solidFill>
                <a:latin typeface="Calibri" pitchFamily="34" charset="0"/>
                <a:ea typeface="Calibri" pitchFamily="34" charset="-122"/>
                <a:cs typeface="Calibri" pitchFamily="34" charset="-120"/>
              </a:rPr>
              <a:t>One row per event × city/municipality × damage category · </a:t>
            </a:r>
            <a:pPr indent="0" marL="0">
              <a:buNone/>
            </a:pPr>
            <a:r>
              <a:rPr lang="en-US" sz="1300" b="1" dirty="0">
                <a:solidFill>
                  <a:srgbClr val="3E4A5A"/>
                </a:solidFill>
                <a:latin typeface="Calibri" pitchFamily="34" charset="0"/>
                <a:ea typeface="Calibri" pitchFamily="34" charset="-122"/>
                <a:cs typeface="Calibri" pitchFamily="34" charset="-120"/>
              </a:rPr>
              <a:t>8,806 rows</a:t>
            </a:r>
            <a:endParaRPr lang="en-US" sz="1300" dirty="0"/>
          </a:p>
        </p:txBody>
      </p:sp>
      <p:sp>
        <p:nvSpPr>
          <p:cNvPr id="9" name="Shape 6"/>
          <p:cNvSpPr/>
          <p:nvPr/>
        </p:nvSpPr>
        <p:spPr>
          <a:xfrm>
            <a:off x="6172200" y="1968500"/>
            <a:ext cx="5207000" cy="1117600"/>
          </a:xfrm>
          <a:prstGeom prst="roundRect">
            <a:avLst>
              <a:gd name="adj" fmla="val 9091"/>
            </a:avLst>
          </a:prstGeom>
          <a:solidFill>
            <a:srgbClr val="FCFBF8"/>
          </a:solidFill>
          <a:ln w="9525">
            <a:solidFill>
              <a:srgbClr val="E2DED4"/>
            </a:solidFill>
            <a:prstDash val="solid"/>
          </a:ln>
        </p:spPr>
      </p:sp>
      <p:sp>
        <p:nvSpPr>
          <p:cNvPr id="10" name="Text 7"/>
          <p:cNvSpPr txBox="1"/>
          <p:nvPr/>
        </p:nvSpPr>
        <p:spPr>
          <a:xfrm>
            <a:off x="6375400" y="2146300"/>
            <a:ext cx="3175000" cy="254000"/>
          </a:xfrm>
          <a:prstGeom prst="rect">
            <a:avLst/>
          </a:prstGeom>
          <a:noFill/>
          <a:ln/>
        </p:spPr>
        <p:txBody>
          <a:bodyPr wrap="square" lIns="0" tIns="0" rIns="0" bIns="0" rtlCol="0" anchor="t"/>
          <a:lstStyle/>
          <a:p>
            <a:pPr indent="0" marL="0">
              <a:buNone/>
            </a:pPr>
            <a:r>
              <a:rPr lang="en-US" sz="1600" b="1" dirty="0">
                <a:solidFill>
                  <a:srgbClr val="1B2738"/>
                </a:solidFill>
                <a:latin typeface="Calibri" pitchFamily="34" charset="0"/>
                <a:ea typeface="Calibri" pitchFamily="34" charset="-122"/>
                <a:cs typeface="Calibri" pitchFamily="34" charset="-120"/>
              </a:rPr>
              <a:t>Evacuation snapshot</a:t>
            </a:r>
            <a:endParaRPr lang="en-US" sz="1600" dirty="0"/>
          </a:p>
        </p:txBody>
      </p:sp>
      <p:sp>
        <p:nvSpPr>
          <p:cNvPr id="11" name="Text 8"/>
          <p:cNvSpPr txBox="1"/>
          <p:nvPr/>
        </p:nvSpPr>
        <p:spPr>
          <a:xfrm>
            <a:off x="9347200" y="2146300"/>
            <a:ext cx="1828800" cy="254000"/>
          </a:xfrm>
          <a:prstGeom prst="rect">
            <a:avLst/>
          </a:prstGeom>
          <a:noFill/>
          <a:ln/>
        </p:spPr>
        <p:txBody>
          <a:bodyPr wrap="square" lIns="0" tIns="0" rIns="0" bIns="0" rtlCol="0" anchor="t"/>
          <a:lstStyle/>
          <a:p>
            <a:pPr algn="r" indent="0" marL="0">
              <a:buNone/>
            </a:pPr>
            <a:r>
              <a:rPr lang="en-US" sz="1200" b="1" dirty="0">
                <a:solidFill>
                  <a:srgbClr val="B9471A"/>
                </a:solidFill>
                <a:latin typeface="Calibri" pitchFamily="34" charset="0"/>
                <a:ea typeface="Calibri" pitchFamily="34" charset="-122"/>
                <a:cs typeface="Calibri" pitchFamily="34" charset="-120"/>
              </a:rPr>
              <a:t>Periodic snapshot</a:t>
            </a:r>
            <a:endParaRPr lang="en-US" sz="1200" dirty="0"/>
          </a:p>
        </p:txBody>
      </p:sp>
      <p:sp>
        <p:nvSpPr>
          <p:cNvPr id="12" name="Text 9"/>
          <p:cNvSpPr txBox="1"/>
          <p:nvPr/>
        </p:nvSpPr>
        <p:spPr>
          <a:xfrm>
            <a:off x="6375400" y="2476500"/>
            <a:ext cx="4800600" cy="508000"/>
          </a:xfrm>
          <a:prstGeom prst="rect">
            <a:avLst/>
          </a:prstGeom>
          <a:noFill/>
          <a:ln/>
        </p:spPr>
        <p:txBody>
          <a:bodyPr wrap="square" lIns="0" tIns="0" rIns="0" bIns="0" rtlCol="0" anchor="t"/>
          <a:lstStyle/>
          <a:p>
            <a:pPr indent="0" marL="0">
              <a:buNone/>
            </a:pPr>
            <a:r>
              <a:rPr lang="en-US" sz="1300" dirty="0">
                <a:solidFill>
                  <a:srgbClr val="3E4A5A"/>
                </a:solidFill>
                <a:latin typeface="Calibri" pitchFamily="34" charset="0"/>
                <a:ea typeface="Calibri" pitchFamily="34" charset="-122"/>
                <a:cs typeface="Calibri" pitchFamily="34" charset="-120"/>
              </a:rPr>
              <a:t>One row per evacuation center × day × event · </a:t>
            </a:r>
            <a:pPr indent="0" marL="0">
              <a:buNone/>
            </a:pPr>
            <a:r>
              <a:rPr lang="en-US" sz="1300" b="1" dirty="0">
                <a:solidFill>
                  <a:srgbClr val="3E4A5A"/>
                </a:solidFill>
                <a:latin typeface="Calibri" pitchFamily="34" charset="0"/>
                <a:ea typeface="Calibri" pitchFamily="34" charset="-122"/>
                <a:cs typeface="Calibri" pitchFamily="34" charset="-120"/>
              </a:rPr>
              <a:t>31,110 rows</a:t>
            </a:r>
            <a:endParaRPr lang="en-US" sz="1300" dirty="0"/>
          </a:p>
        </p:txBody>
      </p:sp>
      <p:sp>
        <p:nvSpPr>
          <p:cNvPr id="13" name="Shape 10"/>
          <p:cNvSpPr/>
          <p:nvPr/>
        </p:nvSpPr>
        <p:spPr>
          <a:xfrm>
            <a:off x="812800" y="3238500"/>
            <a:ext cx="5207000" cy="1117600"/>
          </a:xfrm>
          <a:prstGeom prst="roundRect">
            <a:avLst>
              <a:gd name="adj" fmla="val 9091"/>
            </a:avLst>
          </a:prstGeom>
          <a:solidFill>
            <a:srgbClr val="FCFBF8"/>
          </a:solidFill>
          <a:ln w="9525">
            <a:solidFill>
              <a:srgbClr val="E2DED4"/>
            </a:solidFill>
            <a:prstDash val="solid"/>
          </a:ln>
        </p:spPr>
      </p:sp>
      <p:sp>
        <p:nvSpPr>
          <p:cNvPr id="14" name="Text 11"/>
          <p:cNvSpPr txBox="1"/>
          <p:nvPr/>
        </p:nvSpPr>
        <p:spPr>
          <a:xfrm>
            <a:off x="1016000" y="3416300"/>
            <a:ext cx="3175000" cy="254000"/>
          </a:xfrm>
          <a:prstGeom prst="rect">
            <a:avLst/>
          </a:prstGeom>
          <a:noFill/>
          <a:ln/>
        </p:spPr>
        <p:txBody>
          <a:bodyPr wrap="square" lIns="0" tIns="0" rIns="0" bIns="0" rtlCol="0" anchor="t"/>
          <a:lstStyle/>
          <a:p>
            <a:pPr indent="0" marL="0">
              <a:buNone/>
            </a:pPr>
            <a:r>
              <a:rPr lang="en-US" sz="1600" b="1" dirty="0">
                <a:solidFill>
                  <a:srgbClr val="1B2738"/>
                </a:solidFill>
                <a:latin typeface="Calibri" pitchFamily="34" charset="0"/>
                <a:ea typeface="Calibri" pitchFamily="34" charset="-122"/>
                <a:cs typeface="Calibri" pitchFamily="34" charset="-120"/>
              </a:rPr>
              <a:t>Resource distribution</a:t>
            </a:r>
            <a:endParaRPr lang="en-US" sz="1600" dirty="0"/>
          </a:p>
        </p:txBody>
      </p:sp>
      <p:sp>
        <p:nvSpPr>
          <p:cNvPr id="15" name="Text 12"/>
          <p:cNvSpPr txBox="1"/>
          <p:nvPr/>
        </p:nvSpPr>
        <p:spPr>
          <a:xfrm>
            <a:off x="3987800" y="3416300"/>
            <a:ext cx="1828800" cy="254000"/>
          </a:xfrm>
          <a:prstGeom prst="rect">
            <a:avLst/>
          </a:prstGeom>
          <a:noFill/>
          <a:ln/>
        </p:spPr>
        <p:txBody>
          <a:bodyPr wrap="square" lIns="0" tIns="0" rIns="0" bIns="0" rtlCol="0" anchor="t"/>
          <a:lstStyle/>
          <a:p>
            <a:pPr algn="r" indent="0" marL="0">
              <a:buNone/>
            </a:pPr>
            <a:r>
              <a:rPr lang="en-US" sz="1200" b="1" dirty="0">
                <a:solidFill>
                  <a:srgbClr val="1F5FA8"/>
                </a:solidFill>
                <a:latin typeface="Calibri" pitchFamily="34" charset="0"/>
                <a:ea typeface="Calibri" pitchFamily="34" charset="-122"/>
                <a:cs typeface="Calibri" pitchFamily="34" charset="-120"/>
              </a:rPr>
              <a:t>Transaction</a:t>
            </a:r>
            <a:endParaRPr lang="en-US" sz="1200" dirty="0"/>
          </a:p>
        </p:txBody>
      </p:sp>
      <p:sp>
        <p:nvSpPr>
          <p:cNvPr id="16" name="Text 13"/>
          <p:cNvSpPr txBox="1"/>
          <p:nvPr/>
        </p:nvSpPr>
        <p:spPr>
          <a:xfrm>
            <a:off x="1016000" y="3746500"/>
            <a:ext cx="4800600" cy="508000"/>
          </a:xfrm>
          <a:prstGeom prst="rect">
            <a:avLst/>
          </a:prstGeom>
          <a:noFill/>
          <a:ln/>
        </p:spPr>
        <p:txBody>
          <a:bodyPr wrap="square" lIns="0" tIns="0" rIns="0" bIns="0" rtlCol="0" anchor="t"/>
          <a:lstStyle/>
          <a:p>
            <a:pPr indent="0" marL="0">
              <a:buNone/>
            </a:pPr>
            <a:r>
              <a:rPr lang="en-US" sz="1300" dirty="0">
                <a:solidFill>
                  <a:srgbClr val="3E4A5A"/>
                </a:solidFill>
                <a:latin typeface="Calibri" pitchFamily="34" charset="0"/>
                <a:ea typeface="Calibri" pitchFamily="34" charset="-122"/>
                <a:cs typeface="Calibri" pitchFamily="34" charset="-120"/>
              </a:rPr>
              <a:t>One row per relief item in one distribution, in standard units · </a:t>
            </a:r>
            <a:pPr indent="0" marL="0">
              <a:buNone/>
            </a:pPr>
            <a:r>
              <a:rPr lang="en-US" sz="1300" b="1" dirty="0">
                <a:solidFill>
                  <a:srgbClr val="3E4A5A"/>
                </a:solidFill>
                <a:latin typeface="Calibri" pitchFamily="34" charset="0"/>
                <a:ea typeface="Calibri" pitchFamily="34" charset="-122"/>
                <a:cs typeface="Calibri" pitchFamily="34" charset="-120"/>
              </a:rPr>
              <a:t>11,179 rows</a:t>
            </a:r>
            <a:endParaRPr lang="en-US" sz="1300" dirty="0"/>
          </a:p>
        </p:txBody>
      </p:sp>
      <p:sp>
        <p:nvSpPr>
          <p:cNvPr id="17" name="Shape 14"/>
          <p:cNvSpPr/>
          <p:nvPr/>
        </p:nvSpPr>
        <p:spPr>
          <a:xfrm>
            <a:off x="6172200" y="3238500"/>
            <a:ext cx="5207000" cy="1117600"/>
          </a:xfrm>
          <a:prstGeom prst="roundRect">
            <a:avLst>
              <a:gd name="adj" fmla="val 9091"/>
            </a:avLst>
          </a:prstGeom>
          <a:solidFill>
            <a:srgbClr val="FCFBF8"/>
          </a:solidFill>
          <a:ln w="9525">
            <a:solidFill>
              <a:srgbClr val="E2DED4"/>
            </a:solidFill>
            <a:prstDash val="solid"/>
          </a:ln>
        </p:spPr>
      </p:sp>
      <p:sp>
        <p:nvSpPr>
          <p:cNvPr id="18" name="Text 15"/>
          <p:cNvSpPr txBox="1"/>
          <p:nvPr/>
        </p:nvSpPr>
        <p:spPr>
          <a:xfrm>
            <a:off x="6375400" y="3416300"/>
            <a:ext cx="3175000" cy="254000"/>
          </a:xfrm>
          <a:prstGeom prst="rect">
            <a:avLst/>
          </a:prstGeom>
          <a:noFill/>
          <a:ln/>
        </p:spPr>
        <p:txBody>
          <a:bodyPr wrap="square" lIns="0" tIns="0" rIns="0" bIns="0" rtlCol="0" anchor="t"/>
          <a:lstStyle/>
          <a:p>
            <a:pPr indent="0" marL="0">
              <a:buNone/>
            </a:pPr>
            <a:r>
              <a:rPr lang="en-US" sz="1600" b="1" dirty="0">
                <a:solidFill>
                  <a:srgbClr val="1B2738"/>
                </a:solidFill>
                <a:latin typeface="Calibri" pitchFamily="34" charset="0"/>
                <a:ea typeface="Calibri" pitchFamily="34" charset="-122"/>
                <a:cs typeface="Calibri" pitchFamily="34" charset="-120"/>
              </a:rPr>
              <a:t>Response action</a:t>
            </a:r>
            <a:endParaRPr lang="en-US" sz="1600" dirty="0"/>
          </a:p>
        </p:txBody>
      </p:sp>
      <p:sp>
        <p:nvSpPr>
          <p:cNvPr id="19" name="Text 16"/>
          <p:cNvSpPr txBox="1"/>
          <p:nvPr/>
        </p:nvSpPr>
        <p:spPr>
          <a:xfrm>
            <a:off x="9347200" y="3416300"/>
            <a:ext cx="1828800" cy="254000"/>
          </a:xfrm>
          <a:prstGeom prst="rect">
            <a:avLst/>
          </a:prstGeom>
          <a:noFill/>
          <a:ln/>
        </p:spPr>
        <p:txBody>
          <a:bodyPr wrap="square" lIns="0" tIns="0" rIns="0" bIns="0" rtlCol="0" anchor="t"/>
          <a:lstStyle/>
          <a:p>
            <a:pPr algn="r" indent="0" marL="0">
              <a:buNone/>
            </a:pPr>
            <a:r>
              <a:rPr lang="en-US" sz="1200" b="1" dirty="0">
                <a:solidFill>
                  <a:srgbClr val="2D7A4F"/>
                </a:solidFill>
                <a:latin typeface="Calibri" pitchFamily="34" charset="0"/>
                <a:ea typeface="Calibri" pitchFamily="34" charset="-122"/>
                <a:cs typeface="Calibri" pitchFamily="34" charset="-120"/>
              </a:rPr>
              <a:t>Accumulating</a:t>
            </a:r>
            <a:endParaRPr lang="en-US" sz="1200" dirty="0"/>
          </a:p>
        </p:txBody>
      </p:sp>
      <p:sp>
        <p:nvSpPr>
          <p:cNvPr id="20" name="Text 17"/>
          <p:cNvSpPr txBox="1"/>
          <p:nvPr/>
        </p:nvSpPr>
        <p:spPr>
          <a:xfrm>
            <a:off x="6375400" y="3746500"/>
            <a:ext cx="4800600" cy="508000"/>
          </a:xfrm>
          <a:prstGeom prst="rect">
            <a:avLst/>
          </a:prstGeom>
          <a:noFill/>
          <a:ln/>
        </p:spPr>
        <p:txBody>
          <a:bodyPr wrap="square" lIns="0" tIns="0" rIns="0" bIns="0" rtlCol="0" anchor="t"/>
          <a:lstStyle/>
          <a:p>
            <a:pPr indent="0" marL="0">
              <a:buNone/>
            </a:pPr>
            <a:r>
              <a:rPr lang="en-US" sz="1300" dirty="0">
                <a:solidFill>
                  <a:srgbClr val="3E4A5A"/>
                </a:solidFill>
                <a:latin typeface="Calibri" pitchFamily="34" charset="0"/>
                <a:ea typeface="Calibri" pitchFamily="34" charset="-122"/>
                <a:cs typeface="Calibri" pitchFamily="34" charset="-120"/>
              </a:rPr>
              <a:t>One row per request, with four milestone dates · </a:t>
            </a:r>
            <a:pPr indent="0" marL="0">
              <a:buNone/>
            </a:pPr>
            <a:r>
              <a:rPr lang="en-US" sz="1300" b="1" dirty="0">
                <a:solidFill>
                  <a:srgbClr val="3E4A5A"/>
                </a:solidFill>
                <a:latin typeface="Calibri" pitchFamily="34" charset="0"/>
                <a:ea typeface="Calibri" pitchFamily="34" charset="-122"/>
                <a:cs typeface="Calibri" pitchFamily="34" charset="-120"/>
              </a:rPr>
              <a:t>32,347 rows</a:t>
            </a:r>
            <a:endParaRPr lang="en-US" sz="1300" dirty="0"/>
          </a:p>
        </p:txBody>
      </p:sp>
      <p:sp>
        <p:nvSpPr>
          <p:cNvPr id="21" name="Text 18"/>
          <p:cNvSpPr txBox="1"/>
          <p:nvPr/>
        </p:nvSpPr>
        <p:spPr>
          <a:xfrm>
            <a:off x="812800" y="4699000"/>
            <a:ext cx="9525000" cy="5080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Every dimension has a primary key and every fact its foreign keys (26 in all), so pgAdmin or DBeaver draws the star directly.</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DIMENSIONAL MODEL</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Four modeling decisions that prevent wrong totals</a:t>
            </a:r>
            <a:endParaRPr lang="en-US" sz="3200" dirty="0"/>
          </a:p>
        </p:txBody>
      </p:sp>
      <p:sp>
        <p:nvSpPr>
          <p:cNvPr id="5" name="Shape 2"/>
          <p:cNvSpPr/>
          <p:nvPr/>
        </p:nvSpPr>
        <p:spPr>
          <a:xfrm>
            <a:off x="812800" y="1968500"/>
            <a:ext cx="5207000" cy="1498600"/>
          </a:xfrm>
          <a:prstGeom prst="roundRect">
            <a:avLst>
              <a:gd name="adj" fmla="val 6780"/>
            </a:avLst>
          </a:prstGeom>
          <a:solidFill>
            <a:srgbClr val="FCFBF8"/>
          </a:solidFill>
          <a:ln w="9525">
            <a:solidFill>
              <a:srgbClr val="E2DED4"/>
            </a:solidFill>
            <a:prstDash val="solid"/>
          </a:ln>
        </p:spPr>
      </p:sp>
      <p:sp>
        <p:nvSpPr>
          <p:cNvPr id="6" name="Text 3"/>
          <p:cNvSpPr txBox="1"/>
          <p:nvPr/>
        </p:nvSpPr>
        <p:spPr>
          <a:xfrm>
            <a:off x="1016000" y="2171700"/>
            <a:ext cx="4800600" cy="1143000"/>
          </a:xfrm>
          <a:prstGeom prst="rect">
            <a:avLst/>
          </a:prstGeom>
          <a:noFill/>
          <a:ln/>
        </p:spPr>
        <p:txBody>
          <a:bodyPr wrap="square" lIns="0" tIns="0" rIns="0" bIns="0" rtlCol="0" anchor="t"/>
          <a:lstStyle/>
          <a:p>
            <a:pPr indent="0" marL="0">
              <a:spcAft>
                <a:spcPts val="1000"/>
              </a:spcAft>
              <a:buNone/>
            </a:pPr>
            <a:r>
              <a:rPr lang="en-US" sz="1600" b="1" dirty="0">
                <a:solidFill>
                  <a:srgbClr val="1B2738"/>
                </a:solidFill>
                <a:latin typeface="Calibri" pitchFamily="34" charset="0"/>
                <a:ea typeface="Calibri" pitchFamily="34" charset="-122"/>
                <a:cs typeface="Calibri" pitchFamily="34" charset="-120"/>
              </a:rPr>
              <a:t>Latest sitrep only</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NDRRMC reports are cumulative; adding every report would double-count. The fact keeps the latest valid one.</a:t>
            </a:r>
            <a:endParaRPr lang="en-US" sz="1400" dirty="0"/>
          </a:p>
        </p:txBody>
      </p:sp>
      <p:sp>
        <p:nvSpPr>
          <p:cNvPr id="7" name="Shape 4"/>
          <p:cNvSpPr/>
          <p:nvPr/>
        </p:nvSpPr>
        <p:spPr>
          <a:xfrm>
            <a:off x="6172200" y="1968500"/>
            <a:ext cx="5207000" cy="1498600"/>
          </a:xfrm>
          <a:prstGeom prst="roundRect">
            <a:avLst>
              <a:gd name="adj" fmla="val 6780"/>
            </a:avLst>
          </a:prstGeom>
          <a:solidFill>
            <a:srgbClr val="FCFBF8"/>
          </a:solidFill>
          <a:ln w="9525">
            <a:solidFill>
              <a:srgbClr val="E2DED4"/>
            </a:solidFill>
            <a:prstDash val="solid"/>
          </a:ln>
        </p:spPr>
      </p:sp>
      <p:sp>
        <p:nvSpPr>
          <p:cNvPr id="8" name="Text 5"/>
          <p:cNvSpPr txBox="1"/>
          <p:nvPr/>
        </p:nvSpPr>
        <p:spPr>
          <a:xfrm>
            <a:off x="6375400" y="2171700"/>
            <a:ext cx="4800600" cy="1143000"/>
          </a:xfrm>
          <a:prstGeom prst="rect">
            <a:avLst/>
          </a:prstGeom>
          <a:noFill/>
          <a:ln/>
        </p:spPr>
        <p:txBody>
          <a:bodyPr wrap="square" lIns="0" tIns="0" rIns="0" bIns="0" rtlCol="0" anchor="t"/>
          <a:lstStyle/>
          <a:p>
            <a:pPr indent="0" marL="0">
              <a:spcAft>
                <a:spcPts val="1000"/>
              </a:spcAft>
              <a:buNone/>
            </a:pPr>
            <a:r>
              <a:rPr lang="en-US" sz="1600" b="1" dirty="0">
                <a:solidFill>
                  <a:srgbClr val="1B2738"/>
                </a:solidFill>
                <a:latin typeface="Calibri" pitchFamily="34" charset="0"/>
                <a:ea typeface="Calibri" pitchFamily="34" charset="-122"/>
                <a:cs typeface="Calibri" pitchFamily="34" charset="-120"/>
              </a:rPr>
              <a:t>Event in the evacuation grain</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Nika, Ofel and Pepito overlapped in Nov 2024 and filled the same centers on the same days.</a:t>
            </a:r>
            <a:endParaRPr lang="en-US" sz="1400" dirty="0"/>
          </a:p>
        </p:txBody>
      </p:sp>
      <p:sp>
        <p:nvSpPr>
          <p:cNvPr id="9" name="Shape 6"/>
          <p:cNvSpPr/>
          <p:nvPr/>
        </p:nvSpPr>
        <p:spPr>
          <a:xfrm>
            <a:off x="812800" y="3619500"/>
            <a:ext cx="5207000" cy="1498600"/>
          </a:xfrm>
          <a:prstGeom prst="roundRect">
            <a:avLst>
              <a:gd name="adj" fmla="val 6780"/>
            </a:avLst>
          </a:prstGeom>
          <a:solidFill>
            <a:srgbClr val="FCFBF8"/>
          </a:solidFill>
          <a:ln w="9525">
            <a:solidFill>
              <a:srgbClr val="E2DED4"/>
            </a:solidFill>
            <a:prstDash val="solid"/>
          </a:ln>
        </p:spPr>
      </p:sp>
      <p:sp>
        <p:nvSpPr>
          <p:cNvPr id="10" name="Text 7"/>
          <p:cNvSpPr txBox="1"/>
          <p:nvPr/>
        </p:nvSpPr>
        <p:spPr>
          <a:xfrm>
            <a:off x="1016000" y="3822700"/>
            <a:ext cx="4800600" cy="1143000"/>
          </a:xfrm>
          <a:prstGeom prst="rect">
            <a:avLst/>
          </a:prstGeom>
          <a:noFill/>
          <a:ln/>
        </p:spPr>
        <p:txBody>
          <a:bodyPr wrap="square" lIns="0" tIns="0" rIns="0" bIns="0" rtlCol="0" anchor="t"/>
          <a:lstStyle/>
          <a:p>
            <a:pPr indent="0" marL="0">
              <a:spcAft>
                <a:spcPts val="1000"/>
              </a:spcAft>
              <a:buNone/>
            </a:pPr>
            <a:r>
              <a:rPr lang="en-US" sz="1600" b="1" dirty="0">
                <a:solidFill>
                  <a:srgbClr val="1B2738"/>
                </a:solidFill>
                <a:latin typeface="Calibri" pitchFamily="34" charset="0"/>
                <a:ea typeface="Calibri" pitchFamily="34" charset="-122"/>
                <a:cs typeface="Calibri" pitchFamily="34" charset="-120"/>
              </a:rPr>
              <a:t>Occupancy is semi-additive</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Sum evacuees across centers for one day; over time use the peak or average, never the sum.</a:t>
            </a:r>
            <a:endParaRPr lang="en-US" sz="1400" dirty="0"/>
          </a:p>
        </p:txBody>
      </p:sp>
      <p:sp>
        <p:nvSpPr>
          <p:cNvPr id="11" name="Shape 8"/>
          <p:cNvSpPr/>
          <p:nvPr/>
        </p:nvSpPr>
        <p:spPr>
          <a:xfrm>
            <a:off x="6172200" y="3619500"/>
            <a:ext cx="5207000" cy="1498600"/>
          </a:xfrm>
          <a:prstGeom prst="roundRect">
            <a:avLst>
              <a:gd name="adj" fmla="val 6780"/>
            </a:avLst>
          </a:prstGeom>
          <a:solidFill>
            <a:srgbClr val="FCFBF8"/>
          </a:solidFill>
          <a:ln w="9525">
            <a:solidFill>
              <a:srgbClr val="E2DED4"/>
            </a:solidFill>
            <a:prstDash val="solid"/>
          </a:ln>
        </p:spPr>
      </p:sp>
      <p:sp>
        <p:nvSpPr>
          <p:cNvPr id="12" name="Text 9"/>
          <p:cNvSpPr txBox="1"/>
          <p:nvPr/>
        </p:nvSpPr>
        <p:spPr>
          <a:xfrm>
            <a:off x="6375400" y="3822700"/>
            <a:ext cx="4800600" cy="1143000"/>
          </a:xfrm>
          <a:prstGeom prst="rect">
            <a:avLst/>
          </a:prstGeom>
          <a:noFill/>
          <a:ln/>
        </p:spPr>
        <p:txBody>
          <a:bodyPr wrap="square" lIns="0" tIns="0" rIns="0" bIns="0" rtlCol="0" anchor="t"/>
          <a:lstStyle/>
          <a:p>
            <a:pPr indent="0" marL="0">
              <a:spcAft>
                <a:spcPts val="1000"/>
              </a:spcAft>
              <a:buNone/>
            </a:pPr>
            <a:r>
              <a:rPr lang="en-US" sz="1600" b="1" dirty="0">
                <a:solidFill>
                  <a:srgbClr val="1B2738"/>
                </a:solidFill>
                <a:latin typeface="Calibri" pitchFamily="34" charset="0"/>
                <a:ea typeface="Calibri" pitchFamily="34" charset="-122"/>
                <a:cs typeface="Calibri" pitchFamily="34" charset="-120"/>
              </a:rPr>
              <a:t>Open milestones point to −1</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An unfinished request uses a “Not yet occurred” date, so its foreign keys are never null.</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SLOWLY CHANGING DIMENSION · TYPE 2</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When Maguindanao split, history stayed intact</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10566400" cy="914400"/>
        </p:xfrm>
        <a:graphic>
          <a:graphicData uri="http://schemas.openxmlformats.org/drawingml/2006/table">
            <a:tbl>
              <a:tblPr/>
              <a:tblGrid>
                <a:gridCol w="1796288"/>
                <a:gridCol w="1584960"/>
                <a:gridCol w="2852928"/>
                <a:gridCol w="1584960"/>
                <a:gridCol w="1584960"/>
                <a:gridCol w="1162304"/>
              </a:tblGrid>
              <a:tr h="3810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psgc_code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Place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Province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Valid from</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Valid to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Current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810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1903811000</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Parang</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Maguindanao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1900-01-01</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2022-09-17</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810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1903811000</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Parang</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Maguindanao del Norte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2022-09-18</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9999-12-31</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Text 2"/>
          <p:cNvSpPr txBox="1"/>
          <p:nvPr/>
        </p:nvSpPr>
        <p:spPr>
          <a:xfrm>
            <a:off x="812800" y="3556000"/>
            <a:ext cx="3365500" cy="1270000"/>
          </a:xfrm>
          <a:prstGeom prst="rect">
            <a:avLst/>
          </a:prstGeom>
          <a:noFill/>
          <a:ln/>
        </p:spPr>
        <p:txBody>
          <a:bodyPr wrap="square" lIns="0" tIns="0" rIns="0" bIns="0" rtlCol="0" anchor="t"/>
          <a:lstStyle/>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Dated change log</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37 places moved under RA 11550, ratified by plebiscite on 17 Sep 2022.</a:t>
            </a:r>
            <a:endParaRPr lang="en-US" sz="1400" dirty="0"/>
          </a:p>
        </p:txBody>
      </p:sp>
      <p:sp>
        <p:nvSpPr>
          <p:cNvPr id="7" name="Text 3"/>
          <p:cNvSpPr txBox="1"/>
          <p:nvPr/>
        </p:nvSpPr>
        <p:spPr>
          <a:xfrm>
            <a:off x="4387850" y="3556000"/>
            <a:ext cx="3365500" cy="1270000"/>
          </a:xfrm>
          <a:prstGeom prst="rect">
            <a:avLst/>
          </a:prstGeom>
          <a:noFill/>
          <a:ln/>
        </p:spPr>
        <p:txBody>
          <a:bodyPr wrap="square" lIns="0" tIns="0" rIns="0" bIns="0" rtlCol="0" anchor="t"/>
          <a:lstStyle/>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As-of joins</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Each fact joins the version valid on its own date.</a:t>
            </a:r>
            <a:endParaRPr lang="en-US" sz="1400" dirty="0"/>
          </a:p>
        </p:txBody>
      </p:sp>
      <p:sp>
        <p:nvSpPr>
          <p:cNvPr id="8" name="Text 4"/>
          <p:cNvSpPr txBox="1"/>
          <p:nvPr/>
        </p:nvSpPr>
        <p:spPr>
          <a:xfrm>
            <a:off x="7962900" y="3556000"/>
            <a:ext cx="3365500" cy="1270000"/>
          </a:xfrm>
          <a:prstGeom prst="rect">
            <a:avLst/>
          </a:prstGeom>
          <a:noFill/>
          <a:ln/>
        </p:spPr>
        <p:txBody>
          <a:bodyPr wrap="square" lIns="0" tIns="0" rIns="0" bIns="0" rtlCol="0" anchor="t"/>
          <a:lstStyle/>
          <a:p>
            <a:pPr indent="0" marL="0">
              <a:spcAft>
                <a:spcPts val="600"/>
              </a:spcAft>
              <a:buNone/>
            </a:pPr>
            <a:r>
              <a:rPr lang="en-US" sz="1600" b="1" dirty="0">
                <a:solidFill>
                  <a:srgbClr val="1B2738"/>
                </a:solidFill>
                <a:latin typeface="Calibri" pitchFamily="34" charset="0"/>
                <a:ea typeface="Calibri" pitchFamily="34" charset="-122"/>
                <a:cs typeface="Calibri" pitchFamily="34" charset="-120"/>
              </a:rPr>
              <a:t>Tested</a:t>
            </a:r>
            <a:endParaRPr lang="en-US" sz="1400" dirty="0"/>
          </a:p>
          <a:p>
            <a:pPr indent="0" marL="0">
              <a:spcAft>
                <a:spcPts val="600"/>
              </a:spcAft>
              <a:buNone/>
            </a:pPr>
            <a:r>
              <a:rPr lang="en-US" sz="1300" dirty="0">
                <a:solidFill>
                  <a:srgbClr val="3E4A5A"/>
                </a:solidFill>
                <a:latin typeface="Calibri" pitchFamily="34" charset="0"/>
                <a:ea typeface="Calibri" pitchFamily="34" charset="-122"/>
                <a:cs typeface="Calibri" pitchFamily="34" charset="-120"/>
              </a:rPr>
              <a:t>Paeng (Oct 2022) must roll up to del Norte / del Sur; versions never overlap.</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812800" y="1270000"/>
            <a:ext cx="10566400" cy="254000"/>
          </a:xfrm>
          <a:prstGeom prst="rect">
            <a:avLst/>
          </a:prstGeom>
          <a:noFill/>
          <a:ln/>
        </p:spPr>
        <p:txBody>
          <a:bodyPr wrap="square" lIns="0" tIns="0" rIns="0" bIns="0" rtlCol="0" anchor="t"/>
          <a:lstStyle/>
          <a:p>
            <a:pPr indent="0" marL="0">
              <a:buNone/>
            </a:pPr>
            <a:r>
              <a:rPr lang="en-US" sz="1400" b="1" spc="100" kern="0" dirty="0">
                <a:solidFill>
                  <a:srgbClr val="14233A"/>
                </a:solidFill>
                <a:latin typeface="Calibri" pitchFamily="34" charset="0"/>
                <a:ea typeface="Calibri" pitchFamily="34" charset="-122"/>
                <a:cs typeface="Calibri" pitchFamily="34" charset="-120"/>
              </a:rPr>
              <a:t>DATA QUALITY, PROVEN</a:t>
            </a:r>
            <a:endParaRPr lang="en-US" sz="1400" dirty="0"/>
          </a:p>
        </p:txBody>
      </p:sp>
      <p:sp>
        <p:nvSpPr>
          <p:cNvPr id="3" name="Text 1"/>
          <p:cNvSpPr txBox="1"/>
          <p:nvPr/>
        </p:nvSpPr>
        <p:spPr>
          <a:xfrm>
            <a:off x="812800" y="1651000"/>
            <a:ext cx="10566400" cy="2032000"/>
          </a:xfrm>
          <a:prstGeom prst="rect">
            <a:avLst/>
          </a:prstGeom>
          <a:noFill/>
          <a:ln/>
        </p:spPr>
        <p:txBody>
          <a:bodyPr wrap="square" lIns="0" tIns="0" rIns="0" bIns="0" rtlCol="0" anchor="ctr"/>
          <a:lstStyle/>
          <a:p>
            <a:pPr indent="0" marL="0">
              <a:buNone/>
            </a:pPr>
            <a:r>
              <a:rPr lang="en-US" sz="15000" b="1" dirty="0">
                <a:solidFill>
                  <a:srgbClr val="14233A"/>
                </a:solidFill>
                <a:latin typeface="Cambria" pitchFamily="34" charset="0"/>
                <a:ea typeface="Cambria" pitchFamily="34" charset="-122"/>
                <a:cs typeface="Cambria" pitchFamily="34" charset="-120"/>
              </a:rPr>
              <a:t>19 / 19</a:t>
            </a:r>
            <a:endParaRPr lang="en-US" sz="15000" dirty="0"/>
          </a:p>
        </p:txBody>
      </p:sp>
      <p:sp>
        <p:nvSpPr>
          <p:cNvPr id="4" name="Text 2"/>
          <p:cNvSpPr txBox="1"/>
          <p:nvPr/>
        </p:nvSpPr>
        <p:spPr>
          <a:xfrm>
            <a:off x="812800" y="3873500"/>
            <a:ext cx="9525000" cy="952500"/>
          </a:xfrm>
          <a:prstGeom prst="rect">
            <a:avLst/>
          </a:prstGeom>
          <a:noFill/>
          <a:ln/>
        </p:spPr>
        <p:txBody>
          <a:bodyPr wrap="square" lIns="0" tIns="0" rIns="0" bIns="0" rtlCol="0" anchor="t"/>
          <a:lstStyle/>
          <a:p>
            <a:pPr indent="0" marL="0">
              <a:buNone/>
            </a:pPr>
            <a:r>
              <a:rPr lang="en-US" sz="2800" dirty="0">
                <a:solidFill>
                  <a:srgbClr val="14233A"/>
                </a:solidFill>
                <a:latin typeface="Cambria" pitchFamily="34" charset="0"/>
                <a:ea typeface="Cambria" pitchFamily="34" charset="-122"/>
                <a:cs typeface="Cambria" pitchFamily="34" charset="-120"/>
              </a:rPr>
              <a:t>planted defect types detected, each at exactly the count that was planted</a:t>
            </a:r>
            <a:endParaRPr lang="en-US" sz="2800" dirty="0"/>
          </a:p>
        </p:txBody>
      </p:sp>
      <p:sp>
        <p:nvSpPr>
          <p:cNvPr id="5" name="Text 3"/>
          <p:cNvSpPr txBox="1"/>
          <p:nvPr/>
        </p:nvSpPr>
        <p:spPr>
          <a:xfrm>
            <a:off x="812800" y="5080000"/>
            <a:ext cx="10566400" cy="381000"/>
          </a:xfrm>
          <a:prstGeom prst="rect">
            <a:avLst/>
          </a:prstGeom>
          <a:noFill/>
          <a:ln/>
        </p:spPr>
        <p:txBody>
          <a:bodyPr wrap="square" lIns="0" tIns="0" rIns="0" bIns="0" rtlCol="0" anchor="t"/>
          <a:lstStyle/>
          <a:p>
            <a:pPr indent="0" marL="0">
              <a:buNone/>
            </a:pPr>
            <a:r>
              <a:rPr lang="en-US" sz="1600" dirty="0">
                <a:solidFill>
                  <a:srgbClr val="14233A"/>
                </a:solidFill>
                <a:latin typeface="Calibri" pitchFamily="34" charset="0"/>
                <a:ea typeface="Calibri" pitchFamily="34" charset="-122"/>
                <a:cs typeface="Calibri" pitchFamily="34" charset="-120"/>
              </a:rPr>
              <a:t>9,995 defects planted · 9,995 detected · 0 rejections without a planted cause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DATA-QUALITY FRAMEWORK</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41 rules, three severities, nothing silently dropped</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10566400" cy="914400"/>
        </p:xfrm>
        <a:graphic>
          <a:graphicData uri="http://schemas.openxmlformats.org/drawingml/2006/table">
            <a:tbl>
              <a:tblPr/>
              <a:tblGrid>
                <a:gridCol w="1479296"/>
                <a:gridCol w="2324608"/>
                <a:gridCol w="1690624"/>
                <a:gridCol w="5071872"/>
              </a:tblGrid>
              <a:tr h="3810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In warehouse?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810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Info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Corrected automatically</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“Naga City” → PSGC City of Naga; “1,234” → 1234</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810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Warning</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Kept and flagged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Evacuation center over capacity; required value blank</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810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Reject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Held in quarantine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Negative cost; team arrived before it was dispatched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Text 2"/>
          <p:cNvSpPr txBox="1"/>
          <p:nvPr/>
        </p:nvSpPr>
        <p:spPr>
          <a:xfrm>
            <a:off x="812800" y="4064000"/>
            <a:ext cx="19685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98.2%</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NDRRMC rows loaded</a:t>
            </a:r>
            <a:endParaRPr lang="en-US" sz="1400" dirty="0"/>
          </a:p>
        </p:txBody>
      </p:sp>
      <p:sp>
        <p:nvSpPr>
          <p:cNvPr id="7" name="Text 3"/>
          <p:cNvSpPr txBox="1"/>
          <p:nvPr/>
        </p:nvSpPr>
        <p:spPr>
          <a:xfrm>
            <a:off x="2952750" y="4064000"/>
            <a:ext cx="19685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99.6%</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DROMIC rows loaded</a:t>
            </a:r>
            <a:endParaRPr lang="en-US" sz="1400" dirty="0"/>
          </a:p>
        </p:txBody>
      </p:sp>
      <p:sp>
        <p:nvSpPr>
          <p:cNvPr id="8" name="Text 4"/>
          <p:cNvSpPr txBox="1"/>
          <p:nvPr/>
        </p:nvSpPr>
        <p:spPr>
          <a:xfrm>
            <a:off x="5092700" y="4064000"/>
            <a:ext cx="19685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97.0%</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NGO item lines loaded</a:t>
            </a:r>
            <a:endParaRPr lang="en-US" sz="1400" dirty="0"/>
          </a:p>
        </p:txBody>
      </p:sp>
      <p:sp>
        <p:nvSpPr>
          <p:cNvPr id="9" name="Text 5"/>
          <p:cNvSpPr txBox="1"/>
          <p:nvPr/>
        </p:nvSpPr>
        <p:spPr>
          <a:xfrm>
            <a:off x="7232650" y="4064000"/>
            <a:ext cx="19685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98.8%</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LGU requests loaded</a:t>
            </a:r>
            <a:endParaRPr lang="en-US" sz="1400" dirty="0"/>
          </a:p>
        </p:txBody>
      </p:sp>
      <p:sp>
        <p:nvSpPr>
          <p:cNvPr id="10" name="Text 6"/>
          <p:cNvSpPr txBox="1"/>
          <p:nvPr/>
        </p:nvSpPr>
        <p:spPr>
          <a:xfrm>
            <a:off x="9372600" y="4064000"/>
            <a:ext cx="19685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925</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rows quarantined, with reasons</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CONFORMING PLACE NAMES</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Every misspelling matched to PSGC, or honestly left open</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6210300" cy="914400"/>
        </p:xfrm>
        <a:graphic>
          <a:graphicData uri="http://schemas.openxmlformats.org/drawingml/2006/table">
            <a:tbl>
              <a:tblPr/>
              <a:tblGrid>
                <a:gridCol w="1366266"/>
                <a:gridCol w="993648"/>
                <a:gridCol w="3850386"/>
              </a:tblGrid>
              <a:tr h="3937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r" indent="0" marL="0">
                        <a:buNone/>
                      </a:pPr>
                      <a:r>
                        <a:rPr lang="en-US" sz="1300" b="1" dirty="0">
                          <a:solidFill>
                            <a:srgbClr val="1B2738"/>
                          </a:solidFill>
                          <a:latin typeface="Calibri" pitchFamily="34" charset="0"/>
                          <a:ea typeface="Calibri" pitchFamily="34" charset="-122"/>
                          <a:cs typeface="Calibri" pitchFamily="34" charset="-120"/>
                        </a:rPr>
                        <a:t>Names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Example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937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Exact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941</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Parang → Parang</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Normalized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1,440</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NAGA CITY → City of Naga</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Fuzzy</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581</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Cityo f Legazpi → City of Legazpi</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Unmatched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Malniao: tied between Malinao and Manito</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Shape 2"/>
          <p:cNvSpPr/>
          <p:nvPr/>
        </p:nvSpPr>
        <p:spPr>
          <a:xfrm>
            <a:off x="7327900" y="1968500"/>
            <a:ext cx="4051300" cy="2159000"/>
          </a:xfrm>
          <a:prstGeom prst="roundRect">
            <a:avLst>
              <a:gd name="adj" fmla="val 4706"/>
            </a:avLst>
          </a:prstGeom>
          <a:solidFill>
            <a:srgbClr val="14233A"/>
          </a:solidFill>
          <a:ln w="9525">
            <a:solidFill>
              <a:srgbClr val="14233A"/>
            </a:solidFill>
            <a:prstDash val="solid"/>
          </a:ln>
        </p:spPr>
      </p:sp>
      <p:sp>
        <p:nvSpPr>
          <p:cNvPr id="7" name="Text 3"/>
          <p:cNvSpPr txBox="1"/>
          <p:nvPr/>
        </p:nvSpPr>
        <p:spPr>
          <a:xfrm>
            <a:off x="7581900" y="2159000"/>
            <a:ext cx="3543300" cy="1841500"/>
          </a:xfrm>
          <a:prstGeom prst="rect">
            <a:avLst/>
          </a:prstGeom>
          <a:noFill/>
          <a:ln/>
        </p:spPr>
        <p:txBody>
          <a:bodyPr wrap="square" lIns="0" tIns="0" rIns="0" bIns="0" rtlCol="0" anchor="t"/>
          <a:lstStyle/>
          <a:p>
            <a:pPr indent="0" marL="0">
              <a:buNone/>
            </a:pPr>
            <a:r>
              <a:rPr lang="en-US" sz="6000" b="1" dirty="0">
                <a:solidFill>
                  <a:srgbClr val="F6F4EF"/>
                </a:solidFill>
                <a:latin typeface="Cambria" pitchFamily="34" charset="0"/>
                <a:ea typeface="Cambria" pitchFamily="34" charset="-122"/>
                <a:cs typeface="Cambria" pitchFamily="34" charset="-120"/>
              </a:rPr>
              <a:t>0</a:t>
            </a:r>
            <a:endParaRPr lang="en-US" sz="1400" dirty="0"/>
          </a:p>
          <a:p>
            <a:pPr indent="0" marL="0">
              <a:spcAft>
                <a:spcPts val="1000"/>
              </a:spcAft>
              <a:buNone/>
            </a:pPr>
            <a:r>
              <a:rPr lang="en-US" sz="1500" dirty="0">
                <a:solidFill>
                  <a:srgbClr val="F6F4EF"/>
                </a:solidFill>
                <a:latin typeface="Calibri" pitchFamily="34" charset="0"/>
                <a:ea typeface="Calibri" pitchFamily="34" charset="-122"/>
                <a:cs typeface="Calibri" pitchFamily="34" charset="-120"/>
              </a:rPr>
              <a:t>false matches</a:t>
            </a:r>
            <a:endParaRPr lang="en-US" sz="1400" dirty="0"/>
          </a:p>
          <a:p>
            <a:pPr indent="0" marL="0">
              <a:spcAft>
                <a:spcPts val="600"/>
              </a:spcAft>
              <a:buNone/>
            </a:pPr>
            <a:r>
              <a:rPr lang="en-US" sz="1200" dirty="0">
                <a:solidFill>
                  <a:srgbClr val="C9D3DE"/>
                </a:solidFill>
                <a:latin typeface="Calibri" pitchFamily="34" charset="0"/>
                <a:ea typeface="Calibri" pitchFamily="34" charset="-122"/>
                <a:cs typeface="Calibri" pitchFamily="34" charset="-120"/>
              </a:rPr>
              <a:t>across 63,347 rows checked against ground truth hidden in LGU request IDs and evacuation-center codes</a:t>
            </a:r>
            <a:endParaRPr lang="en-US" sz="1400" dirty="0"/>
          </a:p>
        </p:txBody>
      </p:sp>
      <p:sp>
        <p:nvSpPr>
          <p:cNvPr id="8" name="Text 4"/>
          <p:cNvSpPr txBox="1"/>
          <p:nvPr/>
        </p:nvSpPr>
        <p:spPr>
          <a:xfrm>
            <a:off x="812800" y="4572000"/>
            <a:ext cx="9525000" cy="635000"/>
          </a:xfrm>
          <a:prstGeom prst="rect">
            <a:avLst/>
          </a:prstGeom>
          <a:noFill/>
          <a:ln/>
        </p:spPr>
        <p:txBody>
          <a:bodyPr wrap="square" lIns="0" tIns="0" rIns="0" bIns="0" rtlCol="0" anchor="t"/>
          <a:lstStyle/>
          <a:p>
            <a:pPr indent="0" marL="0">
              <a:buNone/>
            </a:pPr>
            <a:r>
              <a:rPr lang="en-US" sz="1400" dirty="0">
                <a:solidFill>
                  <a:srgbClr val="3E4A5A"/>
                </a:solidFill>
                <a:latin typeface="Calibri" pitchFamily="34" charset="0"/>
                <a:ea typeface="Calibri" pitchFamily="34" charset="-122"/>
                <a:cs typeface="Calibri" pitchFamily="34" charset="-120"/>
              </a:rPr>
              <a:t>Matching always stays inside the reported province. A fuzzy match must be the single closest name; ties go to a data steward instead of a guess.</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GOVERNANCE</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Four roles, each seeing only what its job needs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10566400" cy="914400"/>
        </p:xfrm>
        <a:graphic>
          <a:graphicData uri="http://schemas.openxmlformats.org/drawingml/2006/table">
            <a:tbl>
              <a:tblPr/>
              <a:tblGrid>
                <a:gridCol w="1584960"/>
                <a:gridCol w="2324608"/>
                <a:gridCol w="3698240"/>
                <a:gridCol w="2958592"/>
              </a:tblGrid>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Stakeholder</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Can read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Denied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Executive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Leadership</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Aggregated marts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Detail, staging, raw</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Analyst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Data analysts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Star schema, marts, DQ scorecards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Raw, quarantine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Regional</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Operations managers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Their own region’s rows only</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Marts, other regions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Steward</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Data engineers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Raw, staging, reference, quarantine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Warehouse, marts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Shape 2"/>
          <p:cNvSpPr/>
          <p:nvPr/>
        </p:nvSpPr>
        <p:spPr>
          <a:xfrm>
            <a:off x="812800" y="4318000"/>
            <a:ext cx="3420533" cy="952500"/>
          </a:xfrm>
          <a:prstGeom prst="roundRect">
            <a:avLst>
              <a:gd name="adj" fmla="val 8000"/>
            </a:avLst>
          </a:prstGeom>
          <a:solidFill>
            <a:srgbClr val="ECE8DF"/>
          </a:solidFill>
          <a:ln w="9525">
            <a:solidFill>
              <a:srgbClr val="ECE8DF"/>
            </a:solidFill>
            <a:prstDash val="solid"/>
          </a:ln>
        </p:spPr>
      </p:sp>
      <p:sp>
        <p:nvSpPr>
          <p:cNvPr id="7" name="Text 3"/>
          <p:cNvSpPr txBox="1"/>
          <p:nvPr/>
        </p:nvSpPr>
        <p:spPr>
          <a:xfrm>
            <a:off x="990600" y="4445000"/>
            <a:ext cx="3064933" cy="698500"/>
          </a:xfrm>
          <a:prstGeom prst="rect">
            <a:avLst/>
          </a:prstGeom>
          <a:noFill/>
          <a:ln/>
        </p:spPr>
        <p:txBody>
          <a:bodyPr wrap="square" lIns="0" tIns="0" rIns="0" bIns="0" rtlCol="0" anchor="ctr"/>
          <a:lstStyle/>
          <a:p>
            <a:pPr indent="0" marL="0">
              <a:buNone/>
            </a:pPr>
            <a:r>
              <a:rPr lang="en-US" sz="1300" b="1" dirty="0">
                <a:solidFill>
                  <a:srgbClr val="3E4A5A"/>
                </a:solidFill>
                <a:latin typeface="Calibri" pitchFamily="34" charset="0"/>
                <a:ea typeface="Calibri" pitchFamily="34" charset="-122"/>
                <a:cs typeface="Calibri" pitchFamily="34" charset="-120"/>
              </a:rPr>
              <a:t>Enforced in PostgreSQL</a:t>
            </a:r>
            <a:pPr indent="0" marL="0">
              <a:buNone/>
            </a:pPr>
            <a:r>
              <a:rPr lang="en-US" sz="1300" dirty="0">
                <a:solidFill>
                  <a:srgbClr val="3E4A5A"/>
                </a:solidFill>
                <a:latin typeface="Calibri" pitchFamily="34" charset="0"/>
                <a:ea typeface="Calibri" pitchFamily="34" charset="-122"/>
                <a:cs typeface="Calibri" pitchFamily="34" charset="-120"/>
              </a:rPr>
              <a:t>, so it holds for every client: dashboards, SQL tools, BI.</a:t>
            </a:r>
            <a:endParaRPr lang="en-US" sz="1300" dirty="0"/>
          </a:p>
        </p:txBody>
      </p:sp>
      <p:sp>
        <p:nvSpPr>
          <p:cNvPr id="8" name="Shape 4"/>
          <p:cNvSpPr/>
          <p:nvPr/>
        </p:nvSpPr>
        <p:spPr>
          <a:xfrm>
            <a:off x="4385733" y="4318000"/>
            <a:ext cx="3420533" cy="952500"/>
          </a:xfrm>
          <a:prstGeom prst="roundRect">
            <a:avLst>
              <a:gd name="adj" fmla="val 8000"/>
            </a:avLst>
          </a:prstGeom>
          <a:solidFill>
            <a:srgbClr val="ECE8DF"/>
          </a:solidFill>
          <a:ln w="9525">
            <a:solidFill>
              <a:srgbClr val="ECE8DF"/>
            </a:solidFill>
            <a:prstDash val="solid"/>
          </a:ln>
        </p:spPr>
      </p:sp>
      <p:sp>
        <p:nvSpPr>
          <p:cNvPr id="9" name="Text 5"/>
          <p:cNvSpPr txBox="1"/>
          <p:nvPr/>
        </p:nvSpPr>
        <p:spPr>
          <a:xfrm>
            <a:off x="4563533" y="4445000"/>
            <a:ext cx="3064933" cy="698500"/>
          </a:xfrm>
          <a:prstGeom prst="rect">
            <a:avLst/>
          </a:prstGeom>
          <a:noFill/>
          <a:ln/>
        </p:spPr>
        <p:txBody>
          <a:bodyPr wrap="square" lIns="0" tIns="0" rIns="0" bIns="0" rtlCol="0" anchor="ctr"/>
          <a:lstStyle/>
          <a:p>
            <a:pPr indent="0" marL="0">
              <a:buNone/>
            </a:pPr>
            <a:r>
              <a:rPr lang="en-US" sz="1300" b="1" dirty="0">
                <a:solidFill>
                  <a:srgbClr val="3E4A5A"/>
                </a:solidFill>
                <a:latin typeface="Calibri" pitchFamily="34" charset="0"/>
                <a:ea typeface="Calibri" pitchFamily="34" charset="-122"/>
                <a:cs typeface="Calibri" pitchFamily="34" charset="-120"/>
              </a:rPr>
              <a:t>Survives rebuilds:</a:t>
            </a:r>
            <a:pPr indent="0" marL="0">
              <a:buNone/>
            </a:pPr>
            <a:r>
              <a:rPr lang="en-US" sz="1300" dirty="0">
                <a:solidFill>
                  <a:srgbClr val="3E4A5A"/>
                </a:solidFill>
                <a:latin typeface="Calibri" pitchFamily="34" charset="0"/>
                <a:ea typeface="Calibri" pitchFamily="34" charset="-122"/>
                <a:cs typeface="Calibri" pitchFamily="34" charset="-120"/>
              </a:rPr>
              <a:t> grants are declared in dbt and re-applied on every build.</a:t>
            </a:r>
            <a:endParaRPr lang="en-US" sz="1300" dirty="0"/>
          </a:p>
        </p:txBody>
      </p:sp>
      <p:sp>
        <p:nvSpPr>
          <p:cNvPr id="10" name="Shape 6"/>
          <p:cNvSpPr/>
          <p:nvPr/>
        </p:nvSpPr>
        <p:spPr>
          <a:xfrm>
            <a:off x="7958667" y="4318000"/>
            <a:ext cx="3420533" cy="952500"/>
          </a:xfrm>
          <a:prstGeom prst="roundRect">
            <a:avLst>
              <a:gd name="adj" fmla="val 8000"/>
            </a:avLst>
          </a:prstGeom>
          <a:solidFill>
            <a:srgbClr val="ECE8DF"/>
          </a:solidFill>
          <a:ln w="9525">
            <a:solidFill>
              <a:srgbClr val="ECE8DF"/>
            </a:solidFill>
            <a:prstDash val="solid"/>
          </a:ln>
        </p:spPr>
      </p:sp>
      <p:sp>
        <p:nvSpPr>
          <p:cNvPr id="11" name="Text 7"/>
          <p:cNvSpPr txBox="1"/>
          <p:nvPr/>
        </p:nvSpPr>
        <p:spPr>
          <a:xfrm>
            <a:off x="8136467" y="4445000"/>
            <a:ext cx="3064933" cy="698500"/>
          </a:xfrm>
          <a:prstGeom prst="rect">
            <a:avLst/>
          </a:prstGeom>
          <a:noFill/>
          <a:ln/>
        </p:spPr>
        <p:txBody>
          <a:bodyPr wrap="square" lIns="0" tIns="0" rIns="0" bIns="0" rtlCol="0" anchor="ctr"/>
          <a:lstStyle/>
          <a:p>
            <a:pPr indent="0" marL="0">
              <a:buNone/>
            </a:pPr>
            <a:r>
              <a:rPr lang="en-US" sz="1300" b="1" dirty="0">
                <a:solidFill>
                  <a:srgbClr val="3E4A5A"/>
                </a:solidFill>
                <a:latin typeface="Calibri" pitchFamily="34" charset="0"/>
                <a:ea typeface="Calibri" pitchFamily="34" charset="-122"/>
                <a:cs typeface="Calibri" pitchFamily="34" charset="-120"/>
              </a:rPr>
              <a:t>Auditable:</a:t>
            </a:r>
            <a:pPr indent="0" marL="0">
              <a:buNone/>
            </a:pPr>
            <a:r>
              <a:rPr lang="en-US" sz="1300" dirty="0">
                <a:solidFill>
                  <a:srgbClr val="3E4A5A"/>
                </a:solidFill>
                <a:latin typeface="Calibri" pitchFamily="34" charset="0"/>
                <a:ea typeface="Calibri" pitchFamily="34" charset="-122"/>
                <a:cs typeface="Calibri" pitchFamily="34" charset="-120"/>
              </a:rPr>
              <a:t> an access-matrix view reads effective rights from the catalog.</a:t>
            </a:r>
            <a:endParaRPr lang="en-US" sz="13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ROW-LEVEL SECURITY</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Same table, same query, different rows per user</a:t>
            </a:r>
            <a:endParaRPr lang="en-US" sz="3200" dirty="0"/>
          </a:p>
        </p:txBody>
      </p:sp>
      <p:sp>
        <p:nvSpPr>
          <p:cNvPr id="5" name="Shape 2"/>
          <p:cNvSpPr/>
          <p:nvPr/>
        </p:nvSpPr>
        <p:spPr>
          <a:xfrm>
            <a:off x="812800" y="1968500"/>
            <a:ext cx="5130800" cy="2794000"/>
          </a:xfrm>
          <a:prstGeom prst="roundRect">
            <a:avLst>
              <a:gd name="adj" fmla="val 3636"/>
            </a:avLst>
          </a:prstGeom>
          <a:solidFill>
            <a:srgbClr val="14233A"/>
          </a:solidFill>
          <a:ln w="9525">
            <a:solidFill>
              <a:srgbClr val="14233A"/>
            </a:solidFill>
            <a:prstDash val="solid"/>
          </a:ln>
        </p:spPr>
      </p:sp>
      <p:sp>
        <p:nvSpPr>
          <p:cNvPr id="6" name="Text 3"/>
          <p:cNvSpPr txBox="1"/>
          <p:nvPr/>
        </p:nvSpPr>
        <p:spPr>
          <a:xfrm>
            <a:off x="1066800" y="2222500"/>
            <a:ext cx="4622800" cy="2667000"/>
          </a:xfrm>
          <a:prstGeom prst="rect">
            <a:avLst/>
          </a:prstGeom>
          <a:noFill/>
          <a:ln/>
        </p:spPr>
        <p:txBody>
          <a:bodyPr wrap="square" lIns="0" tIns="0" rIns="0" bIns="0" rtlCol="0" anchor="t"/>
          <a:lstStyle/>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create policy regional_own_region</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on dw.fact_damage_assessment</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for select to driw_regional</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using (location_key in (</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select location_key</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from dw.dim_location</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where region_code in (</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select region_code</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from governance.my_regions)));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48400" y="1968500"/>
          <a:ext cx="5130800" cy="914400"/>
        </p:xfrm>
        <a:graphic>
          <a:graphicData uri="http://schemas.openxmlformats.org/drawingml/2006/table">
            <a:tbl>
              <a:tblPr/>
              <a:tblGrid>
                <a:gridCol w="3181096"/>
                <a:gridCol w="1949704"/>
              </a:tblGrid>
              <a:tr h="3683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select count(*) as…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r" indent="0" marL="0">
                        <a:buNone/>
                      </a:pPr>
                      <a:r>
                        <a:rPr lang="en-US" sz="1300" b="1" dirty="0">
                          <a:solidFill>
                            <a:srgbClr val="1B2738"/>
                          </a:solidFill>
                          <a:latin typeface="Calibri" pitchFamily="34" charset="0"/>
                          <a:ea typeface="Calibri" pitchFamily="34" charset="-122"/>
                          <a:cs typeface="Calibri" pitchFamily="34" charset="-120"/>
                        </a:rPr>
                        <a:t>Damage rows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683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Analyst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8,806 (all)</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Bicol officer</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1,548</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Cagayan Valley officer</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1,546</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683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Regional, no region yet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8" name="Text 4"/>
          <p:cNvSpPr txBox="1"/>
          <p:nvPr/>
        </p:nvSpPr>
        <p:spPr>
          <a:xfrm>
            <a:off x="6248400" y="4064000"/>
            <a:ext cx="5130800" cy="889000"/>
          </a:xfrm>
          <a:prstGeom prst="rect">
            <a:avLst/>
          </a:prstGeom>
          <a:noFill/>
          <a:ln/>
        </p:spPr>
        <p:txBody>
          <a:bodyPr wrap="square" lIns="0" tIns="0" rIns="0" bIns="0" rtlCol="0" anchor="t"/>
          <a:lstStyle/>
          <a:p>
            <a:pPr indent="0" marL="0">
              <a:buNone/>
            </a:pPr>
            <a:r>
              <a:rPr lang="en-US" sz="1300" b="1" dirty="0">
                <a:solidFill>
                  <a:srgbClr val="3E4A5A"/>
                </a:solidFill>
                <a:latin typeface="Calibri" pitchFamily="34" charset="0"/>
                <a:ea typeface="Calibri" pitchFamily="34" charset="-122"/>
                <a:cs typeface="Calibri" pitchFamily="34" charset="-120"/>
              </a:rPr>
              <a:t>Default deny. </a:t>
            </a:r>
            <a:pPr indent="0" marL="0">
              <a:buNone/>
            </a:pPr>
            <a:r>
              <a:rPr lang="en-US" sz="1300" dirty="0">
                <a:solidFill>
                  <a:srgbClr val="3E4A5A"/>
                </a:solidFill>
                <a:latin typeface="Calibri" pitchFamily="34" charset="0"/>
                <a:ea typeface="Calibri" pitchFamily="34" charset="-122"/>
                <a:cs typeface="Calibri" pitchFamily="34" charset="-120"/>
              </a:rPr>
              <a:t>Regional users cannot read the region mapping, grant themselves a role, or change their own region.</a:t>
            </a:r>
            <a:endParaRPr lang="en-US" sz="13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OLAP · DATA MARTS</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ROLAP in PostgreSQL: every subtotal in one query</a:t>
            </a:r>
            <a:endParaRPr lang="en-US" sz="3200" dirty="0"/>
          </a:p>
        </p:txBody>
      </p:sp>
      <p:sp>
        <p:nvSpPr>
          <p:cNvPr id="5" name="Shape 2"/>
          <p:cNvSpPr/>
          <p:nvPr/>
        </p:nvSpPr>
        <p:spPr>
          <a:xfrm>
            <a:off x="812800" y="1968500"/>
            <a:ext cx="5130800" cy="3302000"/>
          </a:xfrm>
          <a:prstGeom prst="roundRect">
            <a:avLst>
              <a:gd name="adj" fmla="val 3077"/>
            </a:avLst>
          </a:prstGeom>
          <a:solidFill>
            <a:srgbClr val="14233A"/>
          </a:solidFill>
          <a:ln w="9525">
            <a:solidFill>
              <a:srgbClr val="14233A"/>
            </a:solidFill>
            <a:prstDash val="solid"/>
          </a:ln>
        </p:spPr>
      </p:sp>
      <p:sp>
        <p:nvSpPr>
          <p:cNvPr id="6" name="Text 3"/>
          <p:cNvSpPr txBox="1"/>
          <p:nvPr/>
        </p:nvSpPr>
        <p:spPr>
          <a:xfrm>
            <a:off x="1066800" y="2222500"/>
            <a:ext cx="4622800" cy="1905000"/>
          </a:xfrm>
          <a:prstGeom prst="rect">
            <a:avLst/>
          </a:prstGeom>
          <a:noFill/>
          <a:ln/>
        </p:spPr>
        <p:txBody>
          <a:bodyPr wrap="square" lIns="0" tIns="0" rIns="0" bIns="0" rtlCol="0" anchor="t"/>
          <a:lstStyle/>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select event_year, region_name,</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hazard_type, sum(cost_php)</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from dw.fact_damage_assessment</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join dw.dim_event using (event_key)</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join dw.dim_location using (location_key)</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group by </a:t>
            </a:r>
            <a:pPr indent="0" marL="0">
              <a:lnSpc>
                <a:spcPct val="120000"/>
              </a:lnSpc>
              <a:buNone/>
            </a:pPr>
            <a:r>
              <a:rPr lang="en-US" sz="1200" dirty="0">
                <a:solidFill>
                  <a:srgbClr val="F08A5D"/>
                </a:solidFill>
                <a:latin typeface="Courier New" pitchFamily="34" charset="0"/>
                <a:ea typeface="Courier New" pitchFamily="34" charset="-122"/>
                <a:cs typeface="Courier New" pitchFamily="34" charset="-120"/>
              </a:rPr>
              <a:t>cube</a:t>
            </a:r>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(event_year,</a:t>
            </a:r>
            <a:endParaRPr lang="en-US" sz="1200" dirty="0"/>
          </a:p>
          <a:p>
            <a:pPr indent="0" marL="0">
              <a:lnSpc>
                <a:spcPct val="120000"/>
              </a:lnSpc>
              <a:buNone/>
            </a:pPr>
            <a:r>
              <a:rPr lang="en-US" sz="1200" dirty="0">
                <a:solidFill>
                  <a:srgbClr val="C9D3DE"/>
                </a:solidFill>
                <a:latin typeface="Courier New" pitchFamily="34" charset="0"/>
                <a:ea typeface="Courier New" pitchFamily="34" charset="-122"/>
                <a:cs typeface="Courier New" pitchFamily="34" charset="-120"/>
              </a:rPr>
              <a:t>  region_name, hazard_type);</a:t>
            </a:r>
            <a:endParaRPr lang="en-US" sz="1200" dirty="0"/>
          </a:p>
        </p:txBody>
      </p:sp>
      <p:sp>
        <p:nvSpPr>
          <p:cNvPr id="7" name="Text 4"/>
          <p:cNvSpPr txBox="1"/>
          <p:nvPr/>
        </p:nvSpPr>
        <p:spPr>
          <a:xfrm>
            <a:off x="1066800" y="4318000"/>
            <a:ext cx="4622800" cy="698500"/>
          </a:xfrm>
          <a:prstGeom prst="rect">
            <a:avLst/>
          </a:prstGeom>
          <a:noFill/>
          <a:ln/>
        </p:spPr>
        <p:txBody>
          <a:bodyPr wrap="square" lIns="0" tIns="0" rIns="0" bIns="0" rtlCol="0" anchor="t"/>
          <a:lstStyle/>
          <a:p>
            <a:pPr indent="0" marL="0">
              <a:buNone/>
            </a:pPr>
            <a:r>
              <a:rPr lang="en-US" sz="1200" dirty="0">
                <a:solidFill>
                  <a:srgbClr val="C9D3DE"/>
                </a:solidFill>
                <a:latin typeface="Calibri" pitchFamily="34" charset="0"/>
                <a:ea typeface="Calibri" pitchFamily="34" charset="-122"/>
                <a:cs typeface="Calibri" pitchFamily="34" charset="-120"/>
              </a:rPr>
              <a:t>8 grouping levels, from year × region × hazard down to the grand total. Tested to add back up to the facts.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48400" y="1968500"/>
          <a:ext cx="5130800" cy="914400"/>
        </p:xfrm>
        <a:graphic>
          <a:graphicData uri="http://schemas.openxmlformats.org/drawingml/2006/table">
            <a:tbl>
              <a:tblPr/>
              <a:tblGrid>
                <a:gridCol w="3181096"/>
                <a:gridCol w="1949704"/>
              </a:tblGrid>
              <a:tr h="393700">
                <a:tc>
                  <a:txBody>
                    <a:bodyPr/>
                    <a:lstStyle/>
                    <a:p>
                      <a:pPr algn="l" indent="0" marL="0">
                        <a:buNone/>
                      </a:pPr>
                      <a:r>
                        <a:rPr lang="en-US" sz="1200" b="1" dirty="0">
                          <a:solidFill>
                            <a:srgbClr val="1B2738"/>
                          </a:solidFill>
                          <a:latin typeface="Calibri" pitchFamily="34" charset="0"/>
                          <a:ea typeface="Calibri" pitchFamily="34" charset="-122"/>
                          <a:cs typeface="Calibri" pitchFamily="34" charset="-120"/>
                        </a:rPr>
                        <a:t>Materialized view</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200" b="1" dirty="0">
                          <a:solidFill>
                            <a:srgbClr val="1B2738"/>
                          </a:solidFill>
                          <a:latin typeface="Calibri" pitchFamily="34" charset="0"/>
                          <a:ea typeface="Calibri" pitchFamily="34" charset="-122"/>
                          <a:cs typeface="Calibri" pitchFamily="34" charset="-120"/>
                        </a:rPr>
                        <a:t>Serves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mart_event_summary</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Executive</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mart_impact_cube (CUBE)</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Executive</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mart_evacuation_daily</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Operations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mart_response_performance (GROUPING SETS)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Operations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mart_relief_by_org_category</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Logistics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93700">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mart_province_event_impact</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200" dirty="0">
                          <a:solidFill>
                            <a:srgbClr val="1B2738"/>
                          </a:solidFill>
                          <a:latin typeface="Calibri" pitchFamily="34" charset="0"/>
                          <a:ea typeface="Calibri" pitchFamily="34" charset="-122"/>
                          <a:cs typeface="Calibri" pitchFamily="34" charset="-120"/>
                        </a:rPr>
                        <a:t>Logistics</a:t>
                      </a:r>
                      <a:endParaRPr lang="en-US" sz="12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DASHBOARDS · EXECUTIVE</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Six years of impact on one screen</a:t>
            </a:r>
            <a:endParaRPr lang="en-US" sz="3200" dirty="0"/>
          </a:p>
        </p:txBody>
      </p:sp>
      <p:sp>
        <p:nvSpPr>
          <p:cNvPr id="5" name="Shape 2"/>
          <p:cNvSpPr/>
          <p:nvPr/>
        </p:nvSpPr>
        <p:spPr>
          <a:xfrm>
            <a:off x="812800" y="6261100"/>
            <a:ext cx="6350000" cy="228600"/>
          </a:xfrm>
          <a:prstGeom prst="rect">
            <a:avLst/>
          </a:prstGeom>
          <a:solidFill>
            <a:srgbClr val="F6F4EF"/>
          </a:solidFill>
          <a:ln w="12700">
            <a:solidFill>
              <a:srgbClr val="F6F4EF"/>
            </a:solidFill>
            <a:prstDash val="solid"/>
          </a:ln>
        </p:spPr>
      </p:sp>
      <p:sp>
        <p:nvSpPr>
          <p:cNvPr id="6" name="Text 3"/>
          <p:cNvSpPr txBox="1"/>
          <p:nvPr/>
        </p:nvSpPr>
        <p:spPr>
          <a:xfrm>
            <a:off x="812800" y="6261100"/>
            <a:ext cx="6350000" cy="228600"/>
          </a:xfrm>
          <a:prstGeom prst="rect">
            <a:avLst/>
          </a:prstGeom>
          <a:noFill/>
          <a:ln/>
        </p:spPr>
        <p:txBody>
          <a:bodyPr wrap="square" lIns="0" tIns="0" rIns="0" bIns="0" rtlCol="0" anchor="t"/>
          <a:lstStyle/>
          <a:p>
            <a:pPr indent="0" marL="0">
              <a:buNone/>
            </a:pPr>
            <a:r>
              <a:rPr lang="en-US" sz="1200" dirty="0">
                <a:solidFill>
                  <a:srgbClr val="7A8594"/>
                </a:solidFill>
                <a:latin typeface="Calibri" pitchFamily="34" charset="0"/>
                <a:ea typeface="Calibri" pitchFamily="34" charset="-122"/>
                <a:cs typeface="Calibri" pitchFamily="34" charset="-120"/>
              </a:rPr>
              <a:t>DRIW · IT271 final defense · synthetic figures</a:t>
            </a:r>
            <a:endParaRPr lang="en-US" sz="1200" dirty="0"/>
          </a:p>
        </p:txBody>
      </p:sp>
      <p:sp>
        <p:nvSpPr>
          <p:cNvPr id="7" name="Shape 4"/>
          <p:cNvSpPr/>
          <p:nvPr/>
        </p:nvSpPr>
        <p:spPr>
          <a:xfrm>
            <a:off x="812800" y="1968500"/>
            <a:ext cx="5308600" cy="3911600"/>
          </a:xfrm>
          <a:prstGeom prst="roundRect">
            <a:avLst>
              <a:gd name="adj" fmla="val 2597"/>
            </a:avLst>
          </a:prstGeom>
          <a:solidFill>
            <a:srgbClr val="FCFBF8"/>
          </a:solidFill>
          <a:ln w="9525">
            <a:solidFill>
              <a:srgbClr val="E2DED4"/>
            </a:solidFill>
            <a:prstDash val="solid"/>
          </a:ln>
        </p:spPr>
      </p:sp>
      <p:pic>
        <p:nvPicPr>
          <p:cNvPr id="8" name="Image 0" descr="Executive dashboard: total damage, deaths, people affected, damage cost by year stacked by category, and the costliest events">    </p:cNvPr>
          <p:cNvPicPr>
            <a:picLocks noChangeAspect="1"/>
          </p:cNvPicPr>
          <p:nvPr/>
        </p:nvPicPr>
        <p:blipFill>
          <a:blip r:embed="rId1"/>
          <a:srcRect l="0" r="0" t="0" b="0"/>
          <a:stretch/>
        </p:blipFill>
        <p:spPr>
          <a:xfrm>
            <a:off x="812800" y="1968500"/>
            <a:ext cx="5308600" cy="3911600"/>
          </a:xfrm>
          <a:prstGeom prst="rect">
            <a:avLst/>
          </a:prstGeom>
        </p:spPr>
      </p:pic>
      <p:sp>
        <p:nvSpPr>
          <p:cNvPr id="9" name="Text 5"/>
          <p:cNvSpPr txBox="1"/>
          <p:nvPr/>
        </p:nvSpPr>
        <p:spPr>
          <a:xfrm>
            <a:off x="6426200" y="2095500"/>
            <a:ext cx="49530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₱558.3B</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damage across 31 events, 2020–2025</a:t>
            </a:r>
            <a:endParaRPr lang="en-US" sz="1400" dirty="0"/>
          </a:p>
        </p:txBody>
      </p:sp>
      <p:sp>
        <p:nvSpPr>
          <p:cNvPr id="10" name="Text 6"/>
          <p:cNvSpPr txBox="1"/>
          <p:nvPr/>
        </p:nvSpPr>
        <p:spPr>
          <a:xfrm>
            <a:off x="6426200" y="3365500"/>
            <a:ext cx="49530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₱54.1B</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Kristine (2024), the costliest event</a:t>
            </a:r>
            <a:endParaRPr lang="en-US" sz="1400" dirty="0"/>
          </a:p>
        </p:txBody>
      </p:sp>
      <p:sp>
        <p:nvSpPr>
          <p:cNvPr id="11" name="Text 7"/>
          <p:cNvSpPr txBox="1"/>
          <p:nvPr/>
        </p:nvSpPr>
        <p:spPr>
          <a:xfrm>
            <a:off x="6426200" y="4635500"/>
            <a:ext cx="4953000" cy="8509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2.6M</a:t>
            </a:r>
            <a:endParaRPr lang="en-US" sz="1400" dirty="0"/>
          </a:p>
          <a:p>
            <a:pPr indent="0" marL="0">
              <a:buNone/>
            </a:pPr>
            <a:r>
              <a:rPr lang="en-US" sz="1200" dirty="0">
                <a:solidFill>
                  <a:srgbClr val="4A5566"/>
                </a:solidFill>
                <a:latin typeface="Calibri" pitchFamily="34" charset="0"/>
                <a:ea typeface="Calibri" pitchFamily="34" charset="-122"/>
                <a:cs typeface="Calibri" pitchFamily="34" charset="-120"/>
              </a:rPr>
              <a:t>people affected in Bicol, the most of any region</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DASHBOARDS · OPERATIONS AND LOGISTICS</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Evacuation curves and the least-served provinces</a:t>
            </a:r>
            <a:endParaRPr lang="en-US" sz="3200" dirty="0"/>
          </a:p>
        </p:txBody>
      </p:sp>
      <p:sp>
        <p:nvSpPr>
          <p:cNvPr id="5" name="Shape 2"/>
          <p:cNvSpPr/>
          <p:nvPr/>
        </p:nvSpPr>
        <p:spPr>
          <a:xfrm>
            <a:off x="812800" y="6261100"/>
            <a:ext cx="6350000" cy="228600"/>
          </a:xfrm>
          <a:prstGeom prst="rect">
            <a:avLst/>
          </a:prstGeom>
          <a:solidFill>
            <a:srgbClr val="F6F4EF"/>
          </a:solidFill>
          <a:ln w="12700">
            <a:solidFill>
              <a:srgbClr val="F6F4EF"/>
            </a:solidFill>
            <a:prstDash val="solid"/>
          </a:ln>
        </p:spPr>
      </p:sp>
      <p:sp>
        <p:nvSpPr>
          <p:cNvPr id="6" name="Text 3"/>
          <p:cNvSpPr txBox="1"/>
          <p:nvPr/>
        </p:nvSpPr>
        <p:spPr>
          <a:xfrm>
            <a:off x="812800" y="6261100"/>
            <a:ext cx="6350000" cy="228600"/>
          </a:xfrm>
          <a:prstGeom prst="rect">
            <a:avLst/>
          </a:prstGeom>
          <a:noFill/>
          <a:ln/>
        </p:spPr>
        <p:txBody>
          <a:bodyPr wrap="square" lIns="0" tIns="0" rIns="0" bIns="0" rtlCol="0" anchor="t"/>
          <a:lstStyle/>
          <a:p>
            <a:pPr indent="0" marL="0">
              <a:buNone/>
            </a:pPr>
            <a:r>
              <a:rPr lang="en-US" sz="1200" dirty="0">
                <a:solidFill>
                  <a:srgbClr val="7A8594"/>
                </a:solidFill>
                <a:latin typeface="Calibri" pitchFamily="34" charset="0"/>
                <a:ea typeface="Calibri" pitchFamily="34" charset="-122"/>
                <a:cs typeface="Calibri" pitchFamily="34" charset="-120"/>
              </a:rPr>
              <a:t>DRIW · IT271 final defense · synthetic figures</a:t>
            </a:r>
            <a:endParaRPr lang="en-US" sz="1200" dirty="0"/>
          </a:p>
        </p:txBody>
      </p:sp>
      <p:sp>
        <p:nvSpPr>
          <p:cNvPr id="7" name="Shape 4"/>
          <p:cNvSpPr/>
          <p:nvPr/>
        </p:nvSpPr>
        <p:spPr>
          <a:xfrm>
            <a:off x="812800" y="1968500"/>
            <a:ext cx="5130800" cy="3111500"/>
          </a:xfrm>
          <a:prstGeom prst="roundRect">
            <a:avLst>
              <a:gd name="adj" fmla="val 3265"/>
            </a:avLst>
          </a:prstGeom>
          <a:solidFill>
            <a:srgbClr val="FCFBF8"/>
          </a:solidFill>
          <a:ln w="9525">
            <a:solidFill>
              <a:srgbClr val="E2DED4"/>
            </a:solidFill>
            <a:prstDash val="solid"/>
          </a:ln>
        </p:spPr>
      </p:sp>
      <p:pic>
        <p:nvPicPr>
          <p:cNvPr id="8" name="Image 0" descr="Operations dashboard for Typhoon Tino: people in evacuation centers per day, centers over capacity, and dispatch time by response type and priority">    </p:cNvPr>
          <p:cNvPicPr>
            <a:picLocks noChangeAspect="1"/>
          </p:cNvPicPr>
          <p:nvPr/>
        </p:nvPicPr>
        <p:blipFill>
          <a:blip r:embed="rId1"/>
          <a:srcRect l="0" r="0" t="0" b="0"/>
          <a:stretch/>
        </p:blipFill>
        <p:spPr>
          <a:xfrm>
            <a:off x="812800" y="1968500"/>
            <a:ext cx="5130800" cy="3111500"/>
          </a:xfrm>
          <a:prstGeom prst="rect">
            <a:avLst/>
          </a:prstGeom>
        </p:spPr>
      </p:pic>
      <p:sp>
        <p:nvSpPr>
          <p:cNvPr id="9" name="Text 5"/>
          <p:cNvSpPr txBox="1"/>
          <p:nvPr/>
        </p:nvSpPr>
        <p:spPr>
          <a:xfrm>
            <a:off x="812800" y="5207000"/>
            <a:ext cx="5130800" cy="635000"/>
          </a:xfrm>
          <a:prstGeom prst="rect">
            <a:avLst/>
          </a:prstGeom>
          <a:noFill/>
          <a:ln/>
        </p:spPr>
        <p:txBody>
          <a:bodyPr wrap="square" lIns="0" tIns="0" rIns="0" bIns="0" rtlCol="0" anchor="t"/>
          <a:lstStyle/>
          <a:p>
            <a:pPr indent="0" marL="0">
              <a:buNone/>
            </a:pPr>
            <a:r>
              <a:rPr lang="en-US" sz="1300" b="1" dirty="0">
                <a:solidFill>
                  <a:srgbClr val="3E4A5A"/>
                </a:solidFill>
                <a:latin typeface="Calibri" pitchFamily="34" charset="0"/>
                <a:ea typeface="Calibri" pitchFamily="34" charset="-122"/>
                <a:cs typeface="Calibri" pitchFamily="34" charset="-120"/>
              </a:rPr>
              <a:t>Operations:</a:t>
            </a:r>
            <a:pPr indent="0" marL="0">
              <a:buNone/>
            </a:pPr>
            <a:r>
              <a:rPr lang="en-US" sz="1300" dirty="0">
                <a:solidFill>
                  <a:srgbClr val="3E4A5A"/>
                </a:solidFill>
                <a:latin typeface="Calibri" pitchFamily="34" charset="0"/>
                <a:ea typeface="Calibri" pitchFamily="34" charset="-122"/>
                <a:cs typeface="Calibri" pitchFamily="34" charset="-120"/>
              </a:rPr>
              <a:t> Tino peaked at 132.5K evacuees on landfall day; relief and road-clearing requests wait longest.</a:t>
            </a:r>
            <a:endParaRPr lang="en-US" sz="1300" dirty="0"/>
          </a:p>
        </p:txBody>
      </p:sp>
      <p:sp>
        <p:nvSpPr>
          <p:cNvPr id="10" name="Shape 6"/>
          <p:cNvSpPr/>
          <p:nvPr/>
        </p:nvSpPr>
        <p:spPr>
          <a:xfrm>
            <a:off x="6248400" y="1968500"/>
            <a:ext cx="5130800" cy="3111500"/>
          </a:xfrm>
          <a:prstGeom prst="roundRect">
            <a:avLst>
              <a:gd name="adj" fmla="val 3265"/>
            </a:avLst>
          </a:prstGeom>
          <a:solidFill>
            <a:srgbClr val="FCFBF8"/>
          </a:solidFill>
          <a:ln w="9525">
            <a:solidFill>
              <a:srgbClr val="E2DED4"/>
            </a:solidFill>
            <a:prstDash val="solid"/>
          </a:ln>
        </p:spPr>
      </p:sp>
      <p:pic>
        <p:nvPicPr>
          <p:cNvPr id="11" name="Image 1" descr="Logistics dashboard: relief value by organization stacked by resource category, and the ten provinces with the least relief per affected person">    </p:cNvPr>
          <p:cNvPicPr>
            <a:picLocks noChangeAspect="1"/>
          </p:cNvPicPr>
          <p:nvPr/>
        </p:nvPicPr>
        <p:blipFill>
          <a:blip r:embed="rId2"/>
          <a:srcRect l="0" r="0" t="0" b="0"/>
          <a:stretch/>
        </p:blipFill>
        <p:spPr>
          <a:xfrm>
            <a:off x="6248400" y="1968500"/>
            <a:ext cx="5130800" cy="3111500"/>
          </a:xfrm>
          <a:prstGeom prst="rect">
            <a:avLst/>
          </a:prstGeom>
        </p:spPr>
      </p:pic>
      <p:sp>
        <p:nvSpPr>
          <p:cNvPr id="12" name="Text 7"/>
          <p:cNvSpPr txBox="1"/>
          <p:nvPr/>
        </p:nvSpPr>
        <p:spPr>
          <a:xfrm>
            <a:off x="6248400" y="5207000"/>
            <a:ext cx="5130800" cy="635000"/>
          </a:xfrm>
          <a:prstGeom prst="rect">
            <a:avLst/>
          </a:prstGeom>
          <a:noFill/>
          <a:ln/>
        </p:spPr>
        <p:txBody>
          <a:bodyPr wrap="square" lIns="0" tIns="0" rIns="0" bIns="0" rtlCol="0" anchor="t"/>
          <a:lstStyle/>
          <a:p>
            <a:pPr indent="0" marL="0">
              <a:buNone/>
            </a:pPr>
            <a:r>
              <a:rPr lang="en-US" sz="1300" b="1" dirty="0">
                <a:solidFill>
                  <a:srgbClr val="3E4A5A"/>
                </a:solidFill>
                <a:latin typeface="Calibri" pitchFamily="34" charset="0"/>
                <a:ea typeface="Calibri" pitchFamily="34" charset="-122"/>
                <a:cs typeface="Calibri" pitchFamily="34" charset="-120"/>
              </a:rPr>
              <a:t>Logistics:</a:t>
            </a:r>
            <a:pPr indent="0" marL="0">
              <a:buNone/>
            </a:pPr>
            <a:r>
              <a:rPr lang="en-US" sz="1300" dirty="0">
                <a:solidFill>
                  <a:srgbClr val="3E4A5A"/>
                </a:solidFill>
                <a:latin typeface="Calibri" pitchFamily="34" charset="0"/>
                <a:ea typeface="Calibri" pitchFamily="34" charset="-122"/>
                <a:cs typeface="Calibri" pitchFamily="34" charset="-120"/>
              </a:rPr>
              <a:t> Davao Oriental received the least relief per affected person, ₱104.</a:t>
            </a:r>
            <a:endParaRPr lang="en-US" sz="13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DATA EXCHANGE · LGUS AND AGENCIES</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Excel in, every row checked, Excel out</a:t>
            </a:r>
            <a:endParaRPr lang="en-US" sz="3200" dirty="0"/>
          </a:p>
        </p:txBody>
      </p:sp>
      <p:sp>
        <p:nvSpPr>
          <p:cNvPr id="5" name="Shape 2"/>
          <p:cNvSpPr/>
          <p:nvPr/>
        </p:nvSpPr>
        <p:spPr>
          <a:xfrm>
            <a:off x="812800" y="6261100"/>
            <a:ext cx="6350000" cy="228600"/>
          </a:xfrm>
          <a:prstGeom prst="rect">
            <a:avLst/>
          </a:prstGeom>
          <a:solidFill>
            <a:srgbClr val="F6F4EF"/>
          </a:solidFill>
          <a:ln w="12700">
            <a:solidFill>
              <a:srgbClr val="F6F4EF"/>
            </a:solidFill>
            <a:prstDash val="solid"/>
          </a:ln>
        </p:spPr>
      </p:sp>
      <p:sp>
        <p:nvSpPr>
          <p:cNvPr id="6" name="Text 3"/>
          <p:cNvSpPr txBox="1"/>
          <p:nvPr/>
        </p:nvSpPr>
        <p:spPr>
          <a:xfrm>
            <a:off x="812800" y="6261100"/>
            <a:ext cx="6350000" cy="228600"/>
          </a:xfrm>
          <a:prstGeom prst="rect">
            <a:avLst/>
          </a:prstGeom>
          <a:noFill/>
          <a:ln/>
        </p:spPr>
        <p:txBody>
          <a:bodyPr wrap="square" lIns="0" tIns="0" rIns="0" bIns="0" rtlCol="0" anchor="t"/>
          <a:lstStyle/>
          <a:p>
            <a:pPr indent="0" marL="0">
              <a:buNone/>
            </a:pPr>
            <a:r>
              <a:rPr lang="en-US" sz="1200" dirty="0">
                <a:solidFill>
                  <a:srgbClr val="7A8594"/>
                </a:solidFill>
                <a:latin typeface="Calibri" pitchFamily="34" charset="0"/>
                <a:ea typeface="Calibri" pitchFamily="34" charset="-122"/>
                <a:cs typeface="Calibri" pitchFamily="34" charset="-120"/>
              </a:rPr>
              <a:t>DRIW · IT271 final defense · Chapter 10</a:t>
            </a:r>
            <a:endParaRPr lang="en-US" sz="1200" dirty="0"/>
          </a:p>
        </p:txBody>
      </p:sp>
      <p:sp>
        <p:nvSpPr>
          <p:cNvPr id="7" name="Shape 4"/>
          <p:cNvSpPr/>
          <p:nvPr/>
        </p:nvSpPr>
        <p:spPr>
          <a:xfrm>
            <a:off x="812800" y="1905000"/>
            <a:ext cx="6324600" cy="889000"/>
          </a:xfrm>
          <a:prstGeom prst="roundRect">
            <a:avLst>
              <a:gd name="adj" fmla="val 11429"/>
            </a:avLst>
          </a:prstGeom>
          <a:solidFill>
            <a:srgbClr val="FCFBF8"/>
          </a:solidFill>
          <a:ln w="9525">
            <a:solidFill>
              <a:srgbClr val="E2DED4"/>
            </a:solidFill>
            <a:prstDash val="solid"/>
          </a:ln>
        </p:spPr>
      </p:sp>
      <p:sp>
        <p:nvSpPr>
          <p:cNvPr id="8" name="Text 5"/>
          <p:cNvSpPr txBox="1"/>
          <p:nvPr/>
        </p:nvSpPr>
        <p:spPr>
          <a:xfrm>
            <a:off x="990600" y="2032000"/>
            <a:ext cx="5969000" cy="698500"/>
          </a:xfrm>
          <a:prstGeom prst="rect">
            <a:avLst/>
          </a:prstGeom>
          <a:noFill/>
          <a:ln/>
        </p:spPr>
        <p:txBody>
          <a:bodyPr wrap="square" lIns="0" tIns="0" rIns="0" bIns="0" rtlCol="0" anchor="t"/>
          <a:lstStyle/>
          <a:p>
            <a:pPr indent="0" marL="0">
              <a:spcAft>
                <a:spcPts val="400"/>
              </a:spcAft>
              <a:buNone/>
            </a:pPr>
            <a:r>
              <a:rPr lang="en-US" sz="1400" b="1" dirty="0">
                <a:solidFill>
                  <a:srgbClr val="1B2738"/>
                </a:solidFill>
                <a:latin typeface="Calibri" pitchFamily="34" charset="0"/>
                <a:ea typeface="Calibri" pitchFamily="34" charset="-122"/>
                <a:cs typeface="Calibri" pitchFamily="34" charset="-120"/>
              </a:rPr>
              <a:t>1 · Templates</a:t>
            </a:r>
            <a:endParaRPr lang="en-US" sz="1400" dirty="0"/>
          </a:p>
          <a:p>
            <a:pPr indent="0" marL="0">
              <a:spcAft>
                <a:spcPts val="600"/>
              </a:spcAft>
              <a:buNone/>
            </a:pPr>
            <a:r>
              <a:rPr lang="en-US" sz="1200" dirty="0">
                <a:solidFill>
                  <a:srgbClr val="3E4A5A"/>
                </a:solidFill>
                <a:latin typeface="Calibri" pitchFamily="34" charset="0"/>
                <a:ea typeface="Calibri" pitchFamily="34" charset="-122"/>
                <a:cs typeface="Calibri" pitchFamily="34" charset="-120"/>
              </a:rPr>
              <a:t>One workbook per report type, with drop-downs of official PSGC places, events and item codes</a:t>
            </a:r>
            <a:endParaRPr lang="en-US" sz="1400" dirty="0"/>
          </a:p>
        </p:txBody>
      </p:sp>
      <p:sp>
        <p:nvSpPr>
          <p:cNvPr id="9" name="Shape 6"/>
          <p:cNvSpPr/>
          <p:nvPr/>
        </p:nvSpPr>
        <p:spPr>
          <a:xfrm>
            <a:off x="812800" y="2895600"/>
            <a:ext cx="6324600" cy="889000"/>
          </a:xfrm>
          <a:prstGeom prst="roundRect">
            <a:avLst>
              <a:gd name="adj" fmla="val 11429"/>
            </a:avLst>
          </a:prstGeom>
          <a:solidFill>
            <a:srgbClr val="FCFBF8"/>
          </a:solidFill>
          <a:ln w="9525">
            <a:solidFill>
              <a:srgbClr val="E2DED4"/>
            </a:solidFill>
            <a:prstDash val="solid"/>
          </a:ln>
        </p:spPr>
      </p:sp>
      <p:sp>
        <p:nvSpPr>
          <p:cNvPr id="10" name="Text 7"/>
          <p:cNvSpPr txBox="1"/>
          <p:nvPr/>
        </p:nvSpPr>
        <p:spPr>
          <a:xfrm>
            <a:off x="990600" y="3022600"/>
            <a:ext cx="5969000" cy="698500"/>
          </a:xfrm>
          <a:prstGeom prst="rect">
            <a:avLst/>
          </a:prstGeom>
          <a:noFill/>
          <a:ln/>
        </p:spPr>
        <p:txBody>
          <a:bodyPr wrap="square" lIns="0" tIns="0" rIns="0" bIns="0" rtlCol="0" anchor="t"/>
          <a:lstStyle/>
          <a:p>
            <a:pPr indent="0" marL="0">
              <a:spcAft>
                <a:spcPts val="400"/>
              </a:spcAft>
              <a:buNone/>
            </a:pPr>
            <a:r>
              <a:rPr lang="en-US" sz="1400" b="1" dirty="0">
                <a:solidFill>
                  <a:srgbClr val="1B2738"/>
                </a:solidFill>
                <a:latin typeface="Calibri" pitchFamily="34" charset="0"/>
                <a:ea typeface="Calibri" pitchFamily="34" charset="-122"/>
                <a:cs typeface="Calibri" pitchFamily="34" charset="-120"/>
              </a:rPr>
              <a:t>2 · Layout profiles</a:t>
            </a:r>
            <a:endParaRPr lang="en-US" sz="1400" dirty="0"/>
          </a:p>
          <a:p>
            <a:pPr indent="0" marL="0">
              <a:spcAft>
                <a:spcPts val="600"/>
              </a:spcAft>
              <a:buNone/>
            </a:pPr>
            <a:r>
              <a:rPr lang="en-US" sz="1200" dirty="0">
                <a:solidFill>
                  <a:srgbClr val="3E4A5A"/>
                </a:solidFill>
                <a:latin typeface="Calibri" pitchFamily="34" charset="0"/>
                <a:ea typeface="Calibri" pitchFamily="34" charset="-122"/>
                <a:cs typeface="Calibri" pitchFamily="34" charset="-120"/>
              </a:rPr>
              <a:t>An LGU keeps its own headings and codes; a small profile maps them once (Albay, Quezon City)</a:t>
            </a:r>
            <a:endParaRPr lang="en-US" sz="1400" dirty="0"/>
          </a:p>
        </p:txBody>
      </p:sp>
      <p:sp>
        <p:nvSpPr>
          <p:cNvPr id="11" name="Shape 8"/>
          <p:cNvSpPr/>
          <p:nvPr/>
        </p:nvSpPr>
        <p:spPr>
          <a:xfrm>
            <a:off x="812800" y="3886200"/>
            <a:ext cx="6324600" cy="889000"/>
          </a:xfrm>
          <a:prstGeom prst="roundRect">
            <a:avLst>
              <a:gd name="adj" fmla="val 11429"/>
            </a:avLst>
          </a:prstGeom>
          <a:solidFill>
            <a:srgbClr val="14233A"/>
          </a:solidFill>
          <a:ln w="9525">
            <a:solidFill>
              <a:srgbClr val="14233A"/>
            </a:solidFill>
            <a:prstDash val="solid"/>
          </a:ln>
        </p:spPr>
      </p:sp>
      <p:sp>
        <p:nvSpPr>
          <p:cNvPr id="12" name="Text 9"/>
          <p:cNvSpPr txBox="1"/>
          <p:nvPr/>
        </p:nvSpPr>
        <p:spPr>
          <a:xfrm>
            <a:off x="990600" y="4013200"/>
            <a:ext cx="5969000" cy="698500"/>
          </a:xfrm>
          <a:prstGeom prst="rect">
            <a:avLst/>
          </a:prstGeom>
          <a:noFill/>
          <a:ln/>
        </p:spPr>
        <p:txBody>
          <a:bodyPr wrap="square" lIns="0" tIns="0" rIns="0" bIns="0" rtlCol="0" anchor="t"/>
          <a:lstStyle/>
          <a:p>
            <a:pPr indent="0" marL="0">
              <a:spcAft>
                <a:spcPts val="400"/>
              </a:spcAft>
              <a:buNone/>
            </a:pPr>
            <a:r>
              <a:rPr lang="en-US" sz="1400" b="1" dirty="0">
                <a:solidFill>
                  <a:srgbClr val="F6F4EF"/>
                </a:solidFill>
                <a:latin typeface="Calibri" pitchFamily="34" charset="0"/>
                <a:ea typeface="Calibri" pitchFamily="34" charset="-122"/>
                <a:cs typeface="Calibri" pitchFamily="34" charset="-120"/>
              </a:rPr>
              <a:t>3 · Check, then submit</a:t>
            </a:r>
            <a:endParaRPr lang="en-US" sz="1400" dirty="0"/>
          </a:p>
          <a:p>
            <a:pPr indent="0" marL="0">
              <a:spcAft>
                <a:spcPts val="600"/>
              </a:spcAft>
              <a:buNone/>
            </a:pPr>
            <a:r>
              <a:rPr lang="en-US" sz="1200" dirty="0">
                <a:solidFill>
                  <a:srgbClr val="C9D3DE"/>
                </a:solidFill>
                <a:latin typeface="Calibri" pitchFamily="34" charset="0"/>
                <a:ea typeface="Calibri" pitchFamily="34" charset="-122"/>
                <a:cs typeface="Calibri" pitchFamily="34" charset="-120"/>
              </a:rPr>
              <a:t>The warehouse’s own 41 rules run in a sandbox; every row comes back accepted, corrected, warning or rejected, with the reason</a:t>
            </a:r>
            <a:endParaRPr lang="en-US" sz="1400" dirty="0"/>
          </a:p>
        </p:txBody>
      </p:sp>
      <p:sp>
        <p:nvSpPr>
          <p:cNvPr id="13" name="Shape 10"/>
          <p:cNvSpPr/>
          <p:nvPr/>
        </p:nvSpPr>
        <p:spPr>
          <a:xfrm>
            <a:off x="812800" y="4876800"/>
            <a:ext cx="6324600" cy="889000"/>
          </a:xfrm>
          <a:prstGeom prst="roundRect">
            <a:avLst>
              <a:gd name="adj" fmla="val 11429"/>
            </a:avLst>
          </a:prstGeom>
          <a:solidFill>
            <a:srgbClr val="FCFBF8"/>
          </a:solidFill>
          <a:ln w="9525">
            <a:solidFill>
              <a:srgbClr val="E2DED4"/>
            </a:solidFill>
            <a:prstDash val="solid"/>
          </a:ln>
        </p:spPr>
      </p:sp>
      <p:sp>
        <p:nvSpPr>
          <p:cNvPr id="14" name="Text 11"/>
          <p:cNvSpPr txBox="1"/>
          <p:nvPr/>
        </p:nvSpPr>
        <p:spPr>
          <a:xfrm>
            <a:off x="990600" y="5003800"/>
            <a:ext cx="5969000" cy="698500"/>
          </a:xfrm>
          <a:prstGeom prst="rect">
            <a:avLst/>
          </a:prstGeom>
          <a:noFill/>
          <a:ln/>
        </p:spPr>
        <p:txBody>
          <a:bodyPr wrap="square" lIns="0" tIns="0" rIns="0" bIns="0" rtlCol="0" anchor="t"/>
          <a:lstStyle/>
          <a:p>
            <a:pPr indent="0" marL="0">
              <a:spcAft>
                <a:spcPts val="400"/>
              </a:spcAft>
              <a:buNone/>
            </a:pPr>
            <a:r>
              <a:rPr lang="en-US" sz="1400" b="1" dirty="0">
                <a:solidFill>
                  <a:srgbClr val="1B2738"/>
                </a:solidFill>
                <a:latin typeface="Calibri" pitchFamily="34" charset="0"/>
                <a:ea typeface="Calibri" pitchFamily="34" charset="-122"/>
                <a:cs typeface="Calibri" pitchFamily="34" charset="-120"/>
              </a:rPr>
              <a:t>4 · Excel export</a:t>
            </a:r>
            <a:endParaRPr lang="en-US" sz="1400" dirty="0"/>
          </a:p>
          <a:p>
            <a:pPr indent="0" marL="0">
              <a:spcAft>
                <a:spcPts val="600"/>
              </a:spcAft>
              <a:buNone/>
            </a:pPr>
            <a:r>
              <a:rPr lang="en-US" sz="1200" dirty="0">
                <a:solidFill>
                  <a:srgbClr val="3E4A5A"/>
                </a:solidFill>
                <a:latin typeface="Calibri" pitchFamily="34" charset="0"/>
                <a:ea typeface="Calibri" pitchFamily="34" charset="-122"/>
                <a:cs typeface="Calibri" pitchFamily="34" charset="-120"/>
              </a:rPr>
              <a:t>All six marts, live, as one formatted workbook with a data dictionary</a:t>
            </a:r>
            <a:endParaRPr lang="en-US" sz="1400" dirty="0"/>
          </a:p>
        </p:txBody>
      </p:sp>
      <p:sp>
        <p:nvSpPr>
          <p:cNvPr id="15" name="Shape 12"/>
          <p:cNvSpPr/>
          <p:nvPr/>
        </p:nvSpPr>
        <p:spPr>
          <a:xfrm>
            <a:off x="7442200" y="1905000"/>
            <a:ext cx="3937000" cy="3860800"/>
          </a:xfrm>
          <a:prstGeom prst="roundRect">
            <a:avLst>
              <a:gd name="adj" fmla="val 2632"/>
            </a:avLst>
          </a:prstGeom>
          <a:solidFill>
            <a:srgbClr val="FCFBF8"/>
          </a:solidFill>
          <a:ln w="9525">
            <a:solidFill>
              <a:srgbClr val="E2DED4"/>
            </a:solidFill>
            <a:prstDash val="solid"/>
          </a:ln>
        </p:spPr>
      </p:sp>
      <p:pic>
        <p:nvPicPr>
          <p:cNvPr id="16" name="Image 0" descr="Check of the Albay PDRRMO evacuation report: 5 rows corrected, 2 warnings, 3 rejected, with the reason for each row">    </p:cNvPr>
          <p:cNvPicPr>
            <a:picLocks noChangeAspect="1"/>
          </p:cNvPicPr>
          <p:nvPr/>
        </p:nvPicPr>
        <p:blipFill>
          <a:blip r:embed="rId1"/>
          <a:srcRect l="0" r="0" t="0" b="0"/>
          <a:stretch/>
        </p:blipFill>
        <p:spPr>
          <a:xfrm>
            <a:off x="7442200" y="1905000"/>
            <a:ext cx="3937000" cy="3860800"/>
          </a:xfrm>
          <a:prstGeom prst="rect">
            <a:avLst/>
          </a:prstGeom>
        </p:spPr>
      </p:pic>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VALIDATION</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174 checks, rebuilt from nothing on every push</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12800" y="1968500"/>
          <a:ext cx="5130800" cy="914400"/>
        </p:xfrm>
        <a:graphic>
          <a:graphicData uri="http://schemas.openxmlformats.org/drawingml/2006/table">
            <a:tbl>
              <a:tblPr/>
              <a:tblGrid>
                <a:gridCol w="2975864"/>
                <a:gridCol w="1026160"/>
                <a:gridCol w="1128776"/>
              </a:tblGrid>
              <a:tr h="342900">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Suite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r" indent="0" marL="0">
                        <a:buNone/>
                      </a:pPr>
                      <a:r>
                        <a:rPr lang="en-US" sz="1300" b="1" dirty="0">
                          <a:solidFill>
                            <a:srgbClr val="1B2738"/>
                          </a:solidFill>
                          <a:latin typeface="Calibri" pitchFamily="34" charset="0"/>
                          <a:ea typeface="Calibri" pitchFamily="34" charset="-122"/>
                          <a:cs typeface="Calibri" pitchFamily="34" charset="-120"/>
                        </a:rPr>
                        <a:t>Checks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c>
                  <a:txBody>
                    <a:bodyPr/>
                    <a:lstStyle/>
                    <a:p>
                      <a:pPr algn="l" indent="0" marL="0">
                        <a:buNone/>
                      </a:pPr>
                      <a:r>
                        <a:rPr lang="en-US" sz="1300" b="1" dirty="0">
                          <a:solidFill>
                            <a:srgbClr val="1B2738"/>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ECE8DF"/>
                    </a:solidFill>
                  </a:tcPr>
                </a:tc>
              </a:tr>
              <a:tr h="3429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dbt models and data tests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99</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429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End-to-end, fresh database</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429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Access control, per persona</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429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Data exchange (upload, check, export)</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r h="342900">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PHP API</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r" indent="0" marL="0">
                        <a:buNone/>
                      </a:pPr>
                      <a:r>
                        <a:rPr lang="en-US" sz="1300" dirty="0">
                          <a:solidFill>
                            <a:srgbClr val="1B2738"/>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c>
                  <a:txBody>
                    <a:bodyPr/>
                    <a:lstStyle/>
                    <a:p>
                      <a:pPr algn="l" indent="0" marL="0">
                        <a:buNone/>
                      </a:pPr>
                      <a:r>
                        <a:rPr lang="en-US" sz="1300" dirty="0">
                          <a:solidFill>
                            <a:srgbClr val="1B2738"/>
                          </a:solidFill>
                          <a:latin typeface="Calibri" pitchFamily="34" charset="0"/>
                          <a:ea typeface="Calibri" pitchFamily="34" charset="-122"/>
                          <a:cs typeface="Calibri" pitchFamily="34" charset="-120"/>
                        </a:rPr>
                        <a:t>All pass</a:t>
                      </a:r>
                      <a:endParaRPr lang="en-US" sz="1300" dirty="0">
                        <a:latin typeface="Calibri" charset="0"/>
                        <a:ea typeface="Calibri" charset="0"/>
                        <a:cs typeface="Calibri" charset="0"/>
                      </a:endParaRPr>
                    </a:p>
                  </a:txBody>
                  <a:tcPr marL="101600" marR="101600" marT="50800" marB="50800" anchor="ctr">
                    <a:lnL w="9525" cap="flat" cmpd="sng" algn="ctr">
                      <a:solidFill>
                        <a:srgbClr val="E2DED4"/>
                      </a:solidFill>
                      <a:prstDash val="solid"/>
                      <a:round/>
                      <a:headEnd type="none" w="med" len="med"/>
                      <a:tailEnd type="none" w="med" len="med"/>
                    </a:lnL>
                    <a:lnR w="9525" cap="flat" cmpd="sng" algn="ctr">
                      <a:solidFill>
                        <a:srgbClr val="E2DED4"/>
                      </a:solidFill>
                      <a:prstDash val="solid"/>
                      <a:round/>
                      <a:headEnd type="none" w="med" len="med"/>
                      <a:tailEnd type="none" w="med" len="med"/>
                    </a:lnR>
                    <a:lnT w="9525" cap="flat" cmpd="sng" algn="ctr">
                      <a:solidFill>
                        <a:srgbClr val="E2DED4"/>
                      </a:solidFill>
                      <a:prstDash val="solid"/>
                      <a:round/>
                      <a:headEnd type="none" w="med" len="med"/>
                      <a:tailEnd type="none" w="med" len="med"/>
                    </a:lnT>
                    <a:lnB w="9525" cap="flat" cmpd="sng" algn="ctr">
                      <a:solidFill>
                        <a:srgbClr val="E2DED4"/>
                      </a:solidFill>
                      <a:prstDash val="solid"/>
                      <a:round/>
                      <a:headEnd type="none" w="med" len="med"/>
                      <a:tailEnd type="none" w="med" len="med"/>
                    </a:lnB>
                    <a:solidFill>
                      <a:srgbClr val="FCFBF8"/>
                    </a:solidFill>
                  </a:tcPr>
                </a:tc>
              </a:tr>
            </a:tbl>
          </a:graphicData>
        </a:graphic>
      </p:graphicFrame>
      <p:sp>
        <p:nvSpPr>
          <p:cNvPr id="6" name="Text 2"/>
          <p:cNvSpPr txBox="1"/>
          <p:nvPr/>
        </p:nvSpPr>
        <p:spPr>
          <a:xfrm>
            <a:off x="812800" y="4191000"/>
            <a:ext cx="5130800" cy="762000"/>
          </a:xfrm>
          <a:prstGeom prst="rect">
            <a:avLst/>
          </a:prstGeom>
          <a:noFill/>
          <a:ln/>
        </p:spPr>
        <p:txBody>
          <a:bodyPr wrap="square" lIns="0" tIns="0" rIns="0" bIns="0" rtlCol="0" anchor="t"/>
          <a:lstStyle/>
          <a:p>
            <a:pPr indent="0" marL="0">
              <a:buNone/>
            </a:pPr>
            <a:r>
              <a:rPr lang="en-US" sz="1300" dirty="0">
                <a:solidFill>
                  <a:srgbClr val="3E4A5A"/>
                </a:solidFill>
                <a:latin typeface="Calibri" pitchFamily="34" charset="0"/>
                <a:ea typeface="Calibri" pitchFamily="34" charset="-122"/>
                <a:cs typeface="Calibri" pitchFamily="34" charset="-120"/>
              </a:rPr>
              <a:t>GitHub Actions builds a new warehouse on PostgreSQL 17 and runs everything, plus the dashboard build, on each push.</a:t>
            </a:r>
            <a:endParaRPr lang="en-US" sz="1300" dirty="0"/>
          </a:p>
        </p:txBody>
      </p:sp>
      <p:sp>
        <p:nvSpPr>
          <p:cNvPr id="7" name="Shape 3"/>
          <p:cNvSpPr/>
          <p:nvPr/>
        </p:nvSpPr>
        <p:spPr>
          <a:xfrm>
            <a:off x="6248400" y="1968500"/>
            <a:ext cx="5130800" cy="2667000"/>
          </a:xfrm>
          <a:prstGeom prst="roundRect">
            <a:avLst>
              <a:gd name="adj" fmla="val 3810"/>
            </a:avLst>
          </a:prstGeom>
          <a:solidFill>
            <a:srgbClr val="FCFBF8"/>
          </a:solidFill>
          <a:ln w="9525">
            <a:solidFill>
              <a:srgbClr val="E2DED4"/>
            </a:solidFill>
            <a:prstDash val="solid"/>
          </a:ln>
        </p:spPr>
      </p:sp>
      <p:sp>
        <p:nvSpPr>
          <p:cNvPr id="8" name="Text 4"/>
          <p:cNvSpPr txBox="1"/>
          <p:nvPr/>
        </p:nvSpPr>
        <p:spPr>
          <a:xfrm>
            <a:off x="6502400" y="2190750"/>
            <a:ext cx="4622800" cy="279400"/>
          </a:xfrm>
          <a:prstGeom prst="rect">
            <a:avLst/>
          </a:prstGeom>
          <a:noFill/>
          <a:ln/>
        </p:spPr>
        <p:txBody>
          <a:bodyPr wrap="square" lIns="0" tIns="0" rIns="0" bIns="0" rtlCol="0" anchor="t"/>
          <a:lstStyle/>
          <a:p>
            <a:pPr indent="0" marL="0">
              <a:buNone/>
            </a:pPr>
            <a:r>
              <a:rPr lang="en-US" sz="1600" b="1" dirty="0">
                <a:solidFill>
                  <a:srgbClr val="1B2738"/>
                </a:solidFill>
                <a:latin typeface="Calibri" pitchFamily="34" charset="0"/>
                <a:ea typeface="Calibri" pitchFamily="34" charset="-122"/>
                <a:cs typeface="Calibri" pitchFamily="34" charset="-120"/>
              </a:rPr>
              <a:t>Bugs the tests caught</a:t>
            </a:r>
            <a:endParaRPr lang="en-US" sz="1600" dirty="0"/>
          </a:p>
        </p:txBody>
      </p:sp>
      <p:sp>
        <p:nvSpPr>
          <p:cNvPr id="9" name="Text 5"/>
          <p:cNvSpPr txBox="1"/>
          <p:nvPr/>
        </p:nvSpPr>
        <p:spPr>
          <a:xfrm>
            <a:off x="6502400" y="2571750"/>
            <a:ext cx="4622800" cy="26670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1,244 monsoon rows wrongly rejected: parsed the wrong parentheses</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Regional users saw zero rows: a function saw its owner, not the caller</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One impossible date in an LGU file stopped the whole load</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Logistics counted distributions twice: 9,782, not 5,529</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“101% family coverage” double-counted repeat aid</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812800" y="812800"/>
            <a:ext cx="10566400" cy="228600"/>
          </a:xfrm>
          <a:prstGeom prst="rect">
            <a:avLst/>
          </a:prstGeom>
          <a:noFill/>
          <a:ln/>
        </p:spPr>
        <p:txBody>
          <a:bodyPr wrap="square" lIns="0" tIns="0" rIns="0" bIns="0" rtlCol="0" anchor="t"/>
          <a:lstStyle/>
          <a:p>
            <a:pPr indent="0" marL="0">
              <a:buNone/>
            </a:pPr>
            <a:r>
              <a:rPr lang="en-US" sz="1200" b="1" spc="100" kern="0" dirty="0">
                <a:solidFill>
                  <a:srgbClr val="B9471A"/>
                </a:solidFill>
                <a:latin typeface="Calibri" pitchFamily="34" charset="0"/>
                <a:ea typeface="Calibri" pitchFamily="34" charset="-122"/>
                <a:cs typeface="Calibri" pitchFamily="34" charset="-120"/>
              </a:rPr>
              <a:t>LIMITATIONS AND NEXT STEPS</a:t>
            </a:r>
            <a:endParaRPr lang="en-US" sz="1200" dirty="0"/>
          </a:p>
        </p:txBody>
      </p:sp>
      <p:sp>
        <p:nvSpPr>
          <p:cNvPr id="3" name="Text 1"/>
          <p:cNvSpPr txBox="1"/>
          <p:nvPr/>
        </p:nvSpPr>
        <p:spPr>
          <a:xfrm>
            <a:off x="812800" y="1092200"/>
            <a:ext cx="10566400" cy="571500"/>
          </a:xfrm>
          <a:prstGeom prst="rect">
            <a:avLst/>
          </a:prstGeom>
          <a:noFill/>
          <a:ln/>
        </p:spPr>
        <p:txBody>
          <a:bodyPr wrap="square" lIns="0" tIns="0" rIns="0" bIns="0" rtlCol="0" anchor="t"/>
          <a:lstStyle/>
          <a:p>
            <a:pPr indent="0" marL="0">
              <a:buNone/>
            </a:pPr>
            <a:r>
              <a:rPr lang="en-US" sz="3200" b="1" dirty="0">
                <a:solidFill>
                  <a:srgbClr val="1B2738"/>
                </a:solidFill>
                <a:latin typeface="Cambria" pitchFamily="34" charset="0"/>
                <a:ea typeface="Cambria" pitchFamily="34" charset="-122"/>
                <a:cs typeface="Cambria" pitchFamily="34" charset="-120"/>
              </a:rPr>
              <a:t>What this does not claim, and what comes next</a:t>
            </a:r>
            <a:endParaRPr lang="en-US" sz="3200" dirty="0"/>
          </a:p>
        </p:txBody>
      </p:sp>
      <p:sp>
        <p:nvSpPr>
          <p:cNvPr id="5" name="Shape 2"/>
          <p:cNvSpPr/>
          <p:nvPr/>
        </p:nvSpPr>
        <p:spPr>
          <a:xfrm>
            <a:off x="812800" y="1968500"/>
            <a:ext cx="5130800" cy="2794000"/>
          </a:xfrm>
          <a:prstGeom prst="roundRect">
            <a:avLst>
              <a:gd name="adj" fmla="val 3636"/>
            </a:avLst>
          </a:prstGeom>
          <a:solidFill>
            <a:srgbClr val="FCFBF8"/>
          </a:solidFill>
          <a:ln w="9525">
            <a:solidFill>
              <a:srgbClr val="E2DED4"/>
            </a:solidFill>
            <a:prstDash val="solid"/>
          </a:ln>
        </p:spPr>
      </p:sp>
      <p:sp>
        <p:nvSpPr>
          <p:cNvPr id="6" name="Text 3"/>
          <p:cNvSpPr txBox="1"/>
          <p:nvPr/>
        </p:nvSpPr>
        <p:spPr>
          <a:xfrm>
            <a:off x="1066800" y="2190750"/>
            <a:ext cx="4622800" cy="279400"/>
          </a:xfrm>
          <a:prstGeom prst="rect">
            <a:avLst/>
          </a:prstGeom>
          <a:noFill/>
          <a:ln/>
        </p:spPr>
        <p:txBody>
          <a:bodyPr wrap="square" lIns="0" tIns="0" rIns="0" bIns="0" rtlCol="0" anchor="t"/>
          <a:lstStyle/>
          <a:p>
            <a:pPr indent="0" marL="0">
              <a:buNone/>
            </a:pPr>
            <a:r>
              <a:rPr lang="en-US" sz="1600" b="1" dirty="0">
                <a:solidFill>
                  <a:srgbClr val="B9471A"/>
                </a:solidFill>
                <a:latin typeface="Calibri" pitchFamily="34" charset="0"/>
                <a:ea typeface="Calibri" pitchFamily="34" charset="-122"/>
                <a:cs typeface="Calibri" pitchFamily="34" charset="-120"/>
              </a:rPr>
              <a:t>Limitations</a:t>
            </a:r>
            <a:endParaRPr lang="en-US" sz="1600" dirty="0"/>
          </a:p>
        </p:txBody>
      </p:sp>
      <p:sp>
        <p:nvSpPr>
          <p:cNvPr id="7" name="Text 4"/>
          <p:cNvSpPr txBox="1"/>
          <p:nvPr/>
        </p:nvSpPr>
        <p:spPr>
          <a:xfrm>
            <a:off x="1066800" y="2571750"/>
            <a:ext cx="4622800" cy="26670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Operational figures are synthetic; calibrated to look plausible, not to match NDRRMC totals</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City population is estimated from barangay counts</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7 ambiguous place names wait for a data steward</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Uploads only from the server itself until the site has sign-in</a:t>
            </a:r>
            <a:endParaRPr lang="en-US" sz="1400" dirty="0"/>
          </a:p>
        </p:txBody>
      </p:sp>
      <p:sp>
        <p:nvSpPr>
          <p:cNvPr id="8" name="Shape 5"/>
          <p:cNvSpPr/>
          <p:nvPr/>
        </p:nvSpPr>
        <p:spPr>
          <a:xfrm>
            <a:off x="6248400" y="1968500"/>
            <a:ext cx="5130800" cy="2794000"/>
          </a:xfrm>
          <a:prstGeom prst="roundRect">
            <a:avLst>
              <a:gd name="adj" fmla="val 3636"/>
            </a:avLst>
          </a:prstGeom>
          <a:solidFill>
            <a:srgbClr val="FCFBF8"/>
          </a:solidFill>
          <a:ln w="9525">
            <a:solidFill>
              <a:srgbClr val="E2DED4"/>
            </a:solidFill>
            <a:prstDash val="solid"/>
          </a:ln>
        </p:spPr>
      </p:sp>
      <p:sp>
        <p:nvSpPr>
          <p:cNvPr id="9" name="Text 6"/>
          <p:cNvSpPr txBox="1"/>
          <p:nvPr/>
        </p:nvSpPr>
        <p:spPr>
          <a:xfrm>
            <a:off x="6502400" y="2190750"/>
            <a:ext cx="4622800" cy="279400"/>
          </a:xfrm>
          <a:prstGeom prst="rect">
            <a:avLst/>
          </a:prstGeom>
          <a:noFill/>
          <a:ln/>
        </p:spPr>
        <p:txBody>
          <a:bodyPr wrap="square" lIns="0" tIns="0" rIns="0" bIns="0" rtlCol="0" anchor="t"/>
          <a:lstStyle/>
          <a:p>
            <a:pPr indent="0" marL="0">
              <a:buNone/>
            </a:pPr>
            <a:r>
              <a:rPr lang="en-US" sz="1600" b="1" dirty="0">
                <a:solidFill>
                  <a:srgbClr val="1F5FA8"/>
                </a:solidFill>
                <a:latin typeface="Calibri" pitchFamily="34" charset="0"/>
                <a:ea typeface="Calibri" pitchFamily="34" charset="-122"/>
                <a:cs typeface="Calibri" pitchFamily="34" charset="-120"/>
              </a:rPr>
              <a:t>Next steps</a:t>
            </a:r>
            <a:endParaRPr lang="en-US" sz="1600" dirty="0"/>
          </a:p>
        </p:txBody>
      </p:sp>
      <p:sp>
        <p:nvSpPr>
          <p:cNvPr id="10" name="Text 7"/>
          <p:cNvSpPr txBox="1"/>
          <p:nvPr/>
        </p:nvSpPr>
        <p:spPr>
          <a:xfrm>
            <a:off x="6502400" y="2571750"/>
            <a:ext cx="4622800" cy="2667000"/>
          </a:xfrm>
          <a:prstGeom prst="rect">
            <a:avLst/>
          </a:prstGeom>
          <a:noFill/>
          <a:ln/>
        </p:spPr>
        <p:txBody>
          <a:bodyPr wrap="square" lIns="0" tIns="0" rIns="0" bIns="0" rtlCol="0" anchor="t"/>
          <a:lstStyle/>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Sign-in mapped to roles: LGUs upload from anywhere, see only their region</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Submission tracking: which LGUs reported for each event, which are late</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Parse real public DROMIC and NDRRMC reports into the same raw layer</a:t>
            </a:r>
            <a:endParaRPr lang="en-US" sz="1400" dirty="0"/>
          </a:p>
          <a:p>
            <a:pPr marL="228600" indent="-228600">
              <a:spcAft>
                <a:spcPts val="800"/>
              </a:spcAft>
              <a:buSzPct val="100000"/>
              <a:buChar char="•"/>
            </a:pPr>
            <a:r>
              <a:rPr lang="en-US" sz="1300" dirty="0">
                <a:solidFill>
                  <a:srgbClr val="3E4A5A"/>
                </a:solidFill>
                <a:latin typeface="Calibri" pitchFamily="34" charset="0"/>
                <a:ea typeface="Calibri" pitchFamily="34" charset="-122"/>
                <a:cs typeface="Calibri" pitchFamily="34" charset="-120"/>
              </a:rPr>
              <a:t>Daily loads now; near-real-time and forecasting later</a:t>
            </a:r>
            <a:endParaRPr lang="en-US" sz="1400" dirty="0"/>
          </a:p>
        </p:txBody>
      </p:sp>
      <p:sp>
        <p:nvSpPr>
          <p:cNvPr id="25" name="Slide Number Placeholder 0"/>
          <p:cNvSpPr>
            <a:spLocks noGrp="1"/>
          </p:cNvSpPr>
          <p:nvPr>
            <p:ph type="sldNum" sz="quarter" idx="4294967295"/>
          </p:nvPr>
        </p:nvSpPr>
        <p:spPr>
          <a:xfrm>
            <a:off x="10744200" y="6261100"/>
            <a:ext cx="635000" cy="228600"/>
          </a:xfrm>
          <a:prstGeom prst="rect">
            <a:avLst/>
          </a:prstGeom>
          <a:extLst>
            <a:ext uri="{C572A759-6A51-4108-AA02-DFA0A04FC94B}">
              <ma14:wrappingTextBoxFlag xmlns:ma14="http://schemas.microsoft.com/office/mac/drawingml/2011/main" val="0"/>
            </a:ext>
          </a:extLst>
        </p:spPr>
        <p:txBody>
          <a:bodyPr/>
          <a:lstStyle>
            <a:lvl1pPr>
              <a:defRPr sz="1200">
                <a:solidFill>
                  <a:srgbClr val="7A8594"/>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7747000" y="1143000"/>
            <a:ext cx="4572000" cy="4572000"/>
          </a:xfrm>
          <a:prstGeom prst="ellipse">
            <a:avLst/>
          </a:prstGeom>
          <a:ln w="12700">
            <a:solidFill>
              <a:srgbClr val="2C4466"/>
            </a:solidFill>
            <a:prstDash val="solid"/>
          </a:ln>
        </p:spPr>
      </p:sp>
      <p:sp>
        <p:nvSpPr>
          <p:cNvPr id="3" name="Shape 1"/>
          <p:cNvSpPr/>
          <p:nvPr/>
        </p:nvSpPr>
        <p:spPr>
          <a:xfrm>
            <a:off x="8255000" y="1651000"/>
            <a:ext cx="3556000" cy="3556000"/>
          </a:xfrm>
          <a:prstGeom prst="ellipse">
            <a:avLst/>
          </a:prstGeom>
          <a:ln w="12700">
            <a:solidFill>
              <a:srgbClr val="2C4466"/>
            </a:solidFill>
            <a:prstDash val="solid"/>
          </a:ln>
        </p:spPr>
      </p:sp>
      <p:sp>
        <p:nvSpPr>
          <p:cNvPr id="4" name="Shape 2"/>
          <p:cNvSpPr/>
          <p:nvPr/>
        </p:nvSpPr>
        <p:spPr>
          <a:xfrm>
            <a:off x="8763000" y="2159000"/>
            <a:ext cx="2540000" cy="2540000"/>
          </a:xfrm>
          <a:prstGeom prst="ellipse">
            <a:avLst/>
          </a:prstGeom>
          <a:ln w="12700">
            <a:solidFill>
              <a:srgbClr val="35527A"/>
            </a:solidFill>
            <a:prstDash val="solid"/>
          </a:ln>
        </p:spPr>
      </p:sp>
      <p:sp>
        <p:nvSpPr>
          <p:cNvPr id="5" name="Shape 3"/>
          <p:cNvSpPr/>
          <p:nvPr/>
        </p:nvSpPr>
        <p:spPr>
          <a:xfrm>
            <a:off x="9271000" y="2667000"/>
            <a:ext cx="1524000" cy="1524000"/>
          </a:xfrm>
          <a:prstGeom prst="ellipse">
            <a:avLst/>
          </a:prstGeom>
          <a:ln w="12700">
            <a:solidFill>
              <a:srgbClr val="3E5F8C"/>
            </a:solidFill>
            <a:prstDash val="solid"/>
          </a:ln>
        </p:spPr>
      </p:sp>
      <p:sp>
        <p:nvSpPr>
          <p:cNvPr id="6" name="Shape 4"/>
          <p:cNvSpPr/>
          <p:nvPr/>
        </p:nvSpPr>
        <p:spPr>
          <a:xfrm>
            <a:off x="9753600" y="3149600"/>
            <a:ext cx="558800" cy="558800"/>
          </a:xfrm>
          <a:prstGeom prst="ellipse">
            <a:avLst/>
          </a:prstGeom>
          <a:solidFill>
            <a:srgbClr val="E0612A"/>
          </a:solidFill>
          <a:ln w="12700">
            <a:solidFill>
              <a:srgbClr val="E0612A"/>
            </a:solidFill>
            <a:prstDash val="solid"/>
          </a:ln>
        </p:spPr>
      </p:sp>
      <p:sp>
        <p:nvSpPr>
          <p:cNvPr id="7" name="Text 5"/>
          <p:cNvSpPr txBox="1"/>
          <p:nvPr/>
        </p:nvSpPr>
        <p:spPr>
          <a:xfrm>
            <a:off x="812800" y="812800"/>
            <a:ext cx="8255000" cy="254000"/>
          </a:xfrm>
          <a:prstGeom prst="rect">
            <a:avLst/>
          </a:prstGeom>
          <a:noFill/>
          <a:ln/>
        </p:spPr>
        <p:txBody>
          <a:bodyPr wrap="square" lIns="0" tIns="0" rIns="0" bIns="0" rtlCol="0" anchor="t"/>
          <a:lstStyle/>
          <a:p>
            <a:pPr indent="0" marL="0">
              <a:buNone/>
            </a:pPr>
            <a:r>
              <a:rPr lang="en-US" sz="1400" b="1" spc="100" kern="0" dirty="0">
                <a:solidFill>
                  <a:srgbClr val="F08A5D"/>
                </a:solidFill>
                <a:latin typeface="Calibri" pitchFamily="34" charset="0"/>
                <a:ea typeface="Calibri" pitchFamily="34" charset="-122"/>
                <a:cs typeface="Calibri" pitchFamily="34" charset="-120"/>
              </a:rPr>
              <a:t>THANK YOU</a:t>
            </a:r>
            <a:endParaRPr lang="en-US" sz="1400" dirty="0"/>
          </a:p>
        </p:txBody>
      </p:sp>
      <p:sp>
        <p:nvSpPr>
          <p:cNvPr id="8" name="Text 6"/>
          <p:cNvSpPr txBox="1"/>
          <p:nvPr/>
        </p:nvSpPr>
        <p:spPr>
          <a:xfrm>
            <a:off x="812800" y="1905000"/>
            <a:ext cx="7874000" cy="1651000"/>
          </a:xfrm>
          <a:prstGeom prst="rect">
            <a:avLst/>
          </a:prstGeom>
          <a:noFill/>
          <a:ln/>
        </p:spPr>
        <p:txBody>
          <a:bodyPr wrap="square" lIns="0" tIns="0" rIns="0" bIns="0" rtlCol="0" anchor="b"/>
          <a:lstStyle/>
          <a:p>
            <a:pPr indent="0" marL="0">
              <a:buNone/>
            </a:pPr>
            <a:r>
              <a:rPr lang="en-US" sz="5600" b="1" dirty="0">
                <a:solidFill>
                  <a:srgbClr val="F6F4EF"/>
                </a:solidFill>
                <a:latin typeface="Cambria" pitchFamily="34" charset="0"/>
                <a:ea typeface="Cambria" pitchFamily="34" charset="-122"/>
                <a:cs typeface="Cambria" pitchFamily="34" charset="-120"/>
              </a:rPr>
              <a:t>Questions?</a:t>
            </a:r>
            <a:endParaRPr lang="en-US" sz="5600" dirty="0"/>
          </a:p>
        </p:txBody>
      </p:sp>
      <p:sp>
        <p:nvSpPr>
          <p:cNvPr id="9" name="Text 7"/>
          <p:cNvSpPr txBox="1"/>
          <p:nvPr/>
        </p:nvSpPr>
        <p:spPr>
          <a:xfrm>
            <a:off x="812800" y="3746500"/>
            <a:ext cx="7874000" cy="762000"/>
          </a:xfrm>
          <a:prstGeom prst="rect">
            <a:avLst/>
          </a:prstGeom>
          <a:noFill/>
          <a:ln/>
        </p:spPr>
        <p:txBody>
          <a:bodyPr wrap="square" lIns="0" tIns="0" rIns="0" bIns="0" rtlCol="0" anchor="t"/>
          <a:lstStyle/>
          <a:p>
            <a:pPr indent="0" marL="0">
              <a:buNone/>
            </a:pPr>
            <a:r>
              <a:rPr lang="en-US" sz="1800" dirty="0">
                <a:solidFill>
                  <a:srgbClr val="C9D3DE"/>
                </a:solidFill>
                <a:latin typeface="Calibri" pitchFamily="34" charset="0"/>
                <a:ea typeface="Calibri" pitchFamily="34" charset="-122"/>
                <a:cs typeface="Calibri" pitchFamily="34" charset="-120"/>
              </a:rPr>
              <a:t>85,841 rows in · 19 of 19 defect types caught · 41 rules · 4 roles enforced · 174 checks passing</a:t>
            </a:r>
            <a:endParaRPr lang="en-US" sz="1800" dirty="0"/>
          </a:p>
        </p:txBody>
      </p:sp>
      <p:sp>
        <p:nvSpPr>
          <p:cNvPr id="10" name="Text 8"/>
          <p:cNvSpPr txBox="1"/>
          <p:nvPr/>
        </p:nvSpPr>
        <p:spPr>
          <a:xfrm>
            <a:off x="812800" y="5461000"/>
            <a:ext cx="7874000" cy="571500"/>
          </a:xfrm>
          <a:prstGeom prst="rect">
            <a:avLst/>
          </a:prstGeom>
          <a:noFill/>
          <a:ln/>
        </p:spPr>
        <p:txBody>
          <a:bodyPr wrap="square" lIns="0" tIns="0" rIns="0" bIns="0" rtlCol="0" anchor="t"/>
          <a:lstStyle/>
          <a:p>
            <a:pPr indent="0" marL="0">
              <a:buNone/>
            </a:pPr>
            <a:r>
              <a:rPr lang="en-US" sz="1600" b="1" dirty="0">
                <a:solidFill>
                  <a:srgbClr val="F6F4EF"/>
                </a:solidFill>
                <a:latin typeface="Calibri" pitchFamily="34" charset="0"/>
                <a:ea typeface="Calibri" pitchFamily="34" charset="-122"/>
                <a:cs typeface="Calibri" pitchFamily="34" charset="-120"/>
              </a:rPr>
              <a:t>Ivan Christian Salinas</a:t>
            </a:r>
            <a:endParaRPr lang="en-US" sz="1400" dirty="0"/>
          </a:p>
          <a:p>
            <a:pPr indent="0" marL="0">
              <a:buNone/>
            </a:pPr>
            <a:r>
              <a:rPr lang="en-US" sz="1400" dirty="0">
                <a:solidFill>
                  <a:srgbClr val="C9D3DE"/>
                </a:solidFill>
                <a:latin typeface="Calibri" pitchFamily="34" charset="0"/>
                <a:ea typeface="Calibri" pitchFamily="34" charset="-122"/>
                <a:cs typeface="Calibri" pitchFamily="34" charset="-120"/>
              </a:rPr>
              <a:t>github.com/sardinexszc/NEUSTIT271_EDW_Project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DRIW Final Defense</dc:title>
  <dc:subject>PptxGenJS Presentation</dc:subject>
  <dc:creator>Ivan Christian Salinas</dc:creator>
  <cp:lastModifiedBy>Ivan Christian Salinas</cp:lastModifiedBy>
  <cp:revision>1</cp:revision>
  <dcterms:created xsi:type="dcterms:W3CDTF">2026-10-27T02:59:59Z</dcterms:created>
  <dcterms:modified xsi:type="dcterms:W3CDTF">2026-10-27T02:59:59Z</dcterms:modified>
</cp:coreProperties>
</file>